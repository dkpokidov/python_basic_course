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341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87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646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71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35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96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18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47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76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695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457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1019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102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139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434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040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368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2116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АЛГОРИТМ: </a:t>
            </a:r>
            <a:br>
              <a:rPr lang="ru-RU" dirty="0" smtClean="0"/>
            </a:br>
            <a:r>
              <a:rPr lang="ru-RU" dirty="0" smtClean="0"/>
              <a:t>первое приближение</a:t>
            </a:r>
            <a:endParaRPr lang="ru-RU" dirty="0"/>
          </a:p>
        </p:txBody>
      </p:sp>
      <p:sp>
        <p:nvSpPr>
          <p:cNvPr id="4" name="Подзаголовок 2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Лекция 1. </a:t>
            </a:r>
          </a:p>
          <a:p>
            <a:r>
              <a:rPr lang="ru-RU" dirty="0" smtClean="0"/>
              <a:t>Введение </a:t>
            </a:r>
            <a:r>
              <a:rPr lang="ru-RU" dirty="0"/>
              <a:t>в </a:t>
            </a:r>
            <a:r>
              <a:rPr lang="ru-RU" dirty="0" err="1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3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Выноска-облако 8"/>
          <p:cNvSpPr/>
          <p:nvPr/>
        </p:nvSpPr>
        <p:spPr>
          <a:xfrm>
            <a:off x="551371" y="3778369"/>
            <a:ext cx="11378242" cy="2769079"/>
          </a:xfrm>
          <a:prstGeom prst="cloudCallout">
            <a:avLst>
              <a:gd name="adj1" fmla="val 32009"/>
              <a:gd name="adj2" fmla="val -53077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Выноска-облако 7"/>
          <p:cNvSpPr/>
          <p:nvPr/>
        </p:nvSpPr>
        <p:spPr>
          <a:xfrm>
            <a:off x="457200" y="163902"/>
            <a:ext cx="11378242" cy="2769079"/>
          </a:xfrm>
          <a:prstGeom prst="cloudCallout">
            <a:avLst>
              <a:gd name="adj1" fmla="val -40090"/>
              <a:gd name="adj2" fmla="val 48170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Куб 1"/>
          <p:cNvSpPr/>
          <p:nvPr/>
        </p:nvSpPr>
        <p:spPr>
          <a:xfrm>
            <a:off x="3980371" y="646981"/>
            <a:ext cx="4520242" cy="1457864"/>
          </a:xfrm>
          <a:prstGeom prst="cube">
            <a:avLst>
              <a:gd name="adj" fmla="val 14941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b="1" dirty="0" smtClean="0">
                <a:solidFill>
                  <a:schemeClr val="bg2"/>
                </a:solidFill>
              </a:rPr>
              <a:t>Информационная</a:t>
            </a:r>
            <a:br>
              <a:rPr lang="ru-RU" sz="2400" b="1" dirty="0" smtClean="0">
                <a:solidFill>
                  <a:schemeClr val="bg2"/>
                </a:solidFill>
              </a:rPr>
            </a:br>
            <a:r>
              <a:rPr lang="ru-RU" sz="2400" b="1" dirty="0" smtClean="0">
                <a:solidFill>
                  <a:schemeClr val="bg2"/>
                </a:solidFill>
              </a:rPr>
              <a:t>модель</a:t>
            </a:r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3" name="Стрелка вправо 2"/>
          <p:cNvSpPr/>
          <p:nvPr/>
        </p:nvSpPr>
        <p:spPr>
          <a:xfrm>
            <a:off x="1957477" y="646981"/>
            <a:ext cx="1915064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1" dirty="0" smtClean="0">
                <a:solidFill>
                  <a:schemeClr val="bg2"/>
                </a:solidFill>
              </a:rPr>
              <a:t>Входные данные</a:t>
            </a:r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4" name="Стрелка вправо 3"/>
          <p:cNvSpPr/>
          <p:nvPr/>
        </p:nvSpPr>
        <p:spPr>
          <a:xfrm>
            <a:off x="8716273" y="646981"/>
            <a:ext cx="1915064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1" dirty="0" smtClean="0">
                <a:solidFill>
                  <a:schemeClr val="bg2"/>
                </a:solidFill>
              </a:rPr>
              <a:t>Выходные данные</a:t>
            </a:r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5" name="Куб 4"/>
          <p:cNvSpPr/>
          <p:nvPr/>
        </p:nvSpPr>
        <p:spPr>
          <a:xfrm>
            <a:off x="3872541" y="4433977"/>
            <a:ext cx="4520242" cy="1457864"/>
          </a:xfrm>
          <a:prstGeom prst="cube">
            <a:avLst>
              <a:gd name="adj" fmla="val 14941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b="1" dirty="0" smtClean="0">
                <a:solidFill>
                  <a:schemeClr val="bg2"/>
                </a:solidFill>
              </a:rPr>
              <a:t>Способ получения выходных данных из входных</a:t>
            </a:r>
            <a:endParaRPr lang="ru-RU" sz="2400" b="1" dirty="0">
              <a:solidFill>
                <a:schemeClr val="bg2"/>
              </a:solidFill>
            </a:endParaRPr>
          </a:p>
        </p:txBody>
      </p:sp>
      <p:sp>
        <p:nvSpPr>
          <p:cNvPr id="6" name="Стрелка вправо 5"/>
          <p:cNvSpPr/>
          <p:nvPr/>
        </p:nvSpPr>
        <p:spPr>
          <a:xfrm>
            <a:off x="1849647" y="4433977"/>
            <a:ext cx="1915064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1" dirty="0" smtClean="0">
                <a:solidFill>
                  <a:schemeClr val="bg2"/>
                </a:solidFill>
              </a:rPr>
              <a:t>Входные данные</a:t>
            </a:r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7" name="Стрелка вправо 6"/>
          <p:cNvSpPr/>
          <p:nvPr/>
        </p:nvSpPr>
        <p:spPr>
          <a:xfrm>
            <a:off x="8608443" y="4433977"/>
            <a:ext cx="1915064" cy="1457864"/>
          </a:xfrm>
          <a:prstGeom prst="rightArrow">
            <a:avLst>
              <a:gd name="adj1" fmla="val 7366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1" dirty="0" smtClean="0">
                <a:solidFill>
                  <a:schemeClr val="bg2"/>
                </a:solidFill>
              </a:rPr>
              <a:t>Выходные данные</a:t>
            </a:r>
            <a:endParaRPr lang="ru-RU" sz="2000" b="1" dirty="0">
              <a:solidFill>
                <a:schemeClr val="bg2"/>
              </a:solidFill>
            </a:endParaRPr>
          </a:p>
        </p:txBody>
      </p:sp>
      <p:sp>
        <p:nvSpPr>
          <p:cNvPr id="10" name="Улыбающееся лицо 9"/>
          <p:cNvSpPr/>
          <p:nvPr/>
        </p:nvSpPr>
        <p:spPr>
          <a:xfrm>
            <a:off x="363029" y="2897127"/>
            <a:ext cx="1275990" cy="1079650"/>
          </a:xfrm>
          <a:prstGeom prst="smileyFac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3370" y="2494381"/>
            <a:ext cx="1756243" cy="125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59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5" grpId="0" animBg="1"/>
      <p:bldP spid="6" grpId="0" animBg="1"/>
      <p:bldP spid="7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64937" y="3058551"/>
            <a:ext cx="35586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АЛГОРИТМ</a:t>
            </a:r>
            <a:endParaRPr lang="ru-RU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70218" y="246569"/>
            <a:ext cx="518103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АЛГОРИТМ</a:t>
            </a:r>
            <a:endParaRPr lang="ru-RU" sz="80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307278" y="1246062"/>
            <a:ext cx="467897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72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АЛГОРИТМ</a:t>
            </a:r>
            <a:endParaRPr lang="ru-RU" sz="72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151252" y="3810771"/>
            <a:ext cx="318247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8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АЛГОРИТМ</a:t>
            </a:r>
            <a:endParaRPr lang="ru-RU" sz="48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098619" y="4502488"/>
            <a:ext cx="292907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АЛГОРИТМ</a:t>
            </a:r>
            <a:endParaRPr lang="ru-RU" sz="4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560735" y="2182168"/>
            <a:ext cx="430284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АЛГОРИТМ</a:t>
            </a:r>
            <a:endParaRPr lang="ru-RU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742489" y="5172191"/>
            <a:ext cx="268041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АЛГОРИТМ</a:t>
            </a:r>
            <a:endParaRPr lang="ru-RU" sz="40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478459" y="5792536"/>
            <a:ext cx="243342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АЛГОРИТМ</a:t>
            </a:r>
            <a:endParaRPr lang="ru-RU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9695170" y="6318947"/>
            <a:ext cx="168276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АЛГОРИТМ</a:t>
            </a:r>
            <a:endParaRPr lang="ru-RU" sz="2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1" name="Скругленная прямоугольная выноска 10"/>
          <p:cNvSpPr/>
          <p:nvPr/>
        </p:nvSpPr>
        <p:spPr>
          <a:xfrm>
            <a:off x="7944929" y="405441"/>
            <a:ext cx="3666226" cy="1885674"/>
          </a:xfrm>
          <a:prstGeom prst="wedgeRoundRectCallout">
            <a:avLst>
              <a:gd name="adj1" fmla="val -95604"/>
              <a:gd name="adj2" fmla="val -2670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4">
                    <a:lumMod val="50000"/>
                  </a:schemeClr>
                </a:solidFill>
              </a:rPr>
              <a:t>Описание последовательности действий для достижения цели</a:t>
            </a:r>
            <a:endParaRPr lang="ru-RU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Скругленная прямоугольная выноска 11"/>
          <p:cNvSpPr/>
          <p:nvPr/>
        </p:nvSpPr>
        <p:spPr>
          <a:xfrm>
            <a:off x="970218" y="4686586"/>
            <a:ext cx="3666226" cy="1885674"/>
          </a:xfrm>
          <a:prstGeom prst="wedgeRoundRectCallout">
            <a:avLst>
              <a:gd name="adj1" fmla="val 182278"/>
              <a:gd name="adj2" fmla="val 5015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4">
                    <a:lumMod val="50000"/>
                  </a:schemeClr>
                </a:solidFill>
              </a:rPr>
              <a:t>Описание способа получения выходных данных из входных</a:t>
            </a:r>
            <a:endParaRPr lang="ru-RU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Выноска-облако 12"/>
          <p:cNvSpPr/>
          <p:nvPr/>
        </p:nvSpPr>
        <p:spPr>
          <a:xfrm>
            <a:off x="8813321" y="2614380"/>
            <a:ext cx="2927230" cy="1449238"/>
          </a:xfrm>
          <a:prstGeom prst="cloudCallout">
            <a:avLst>
              <a:gd name="adj1" fmla="val 10855"/>
              <a:gd name="adj2" fmla="val -79167"/>
            </a:avLst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4">
                    <a:lumMod val="50000"/>
                  </a:schemeClr>
                </a:solidFill>
              </a:rPr>
              <a:t>В широком смысле</a:t>
            </a:r>
            <a:endParaRPr lang="ru-RU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" name="Выноска-облако 13"/>
          <p:cNvSpPr/>
          <p:nvPr/>
        </p:nvSpPr>
        <p:spPr>
          <a:xfrm>
            <a:off x="274129" y="3118194"/>
            <a:ext cx="3601502" cy="1449238"/>
          </a:xfrm>
          <a:prstGeom prst="cloudCallout">
            <a:avLst>
              <a:gd name="adj1" fmla="val 24294"/>
              <a:gd name="adj2" fmla="val 77380"/>
            </a:avLst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4">
                    <a:lumMod val="50000"/>
                  </a:schemeClr>
                </a:solidFill>
              </a:rPr>
              <a:t>С точки зрения программиста</a:t>
            </a:r>
            <a:endParaRPr lang="ru-RU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65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15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65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4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9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0393" y="905774"/>
            <a:ext cx="617651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200" dirty="0" smtClean="0"/>
              <a:t>Свойства алгоритмов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200" dirty="0" smtClean="0"/>
              <a:t>Способы записи алгоритмов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200" dirty="0" smtClean="0"/>
              <a:t>Исполнитель алгоритма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81292" y="4157931"/>
            <a:ext cx="617651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Примеры алгоритмов в различных сферах жизни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Упражнения на разработку алгоритма</a:t>
            </a:r>
          </a:p>
        </p:txBody>
      </p:sp>
      <p:sp>
        <p:nvSpPr>
          <p:cNvPr id="4" name="Выноска-облако 3"/>
          <p:cNvSpPr/>
          <p:nvPr/>
        </p:nvSpPr>
        <p:spPr>
          <a:xfrm>
            <a:off x="8356121" y="905774"/>
            <a:ext cx="2927230" cy="1833287"/>
          </a:xfrm>
          <a:prstGeom prst="cloudCallout">
            <a:avLst>
              <a:gd name="adj1" fmla="val -109675"/>
              <a:gd name="adj2" fmla="val 14285"/>
            </a:avLst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4">
                    <a:lumMod val="50000"/>
                  </a:schemeClr>
                </a:solidFill>
              </a:rPr>
              <a:t>Какие бывают?</a:t>
            </a:r>
            <a:endParaRPr lang="ru-RU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Выноска-облако 4"/>
          <p:cNvSpPr/>
          <p:nvPr/>
        </p:nvSpPr>
        <p:spPr>
          <a:xfrm>
            <a:off x="1167442" y="4505446"/>
            <a:ext cx="2927230" cy="1367072"/>
          </a:xfrm>
          <a:prstGeom prst="cloudCallout">
            <a:avLst>
              <a:gd name="adj1" fmla="val 107516"/>
              <a:gd name="adj2" fmla="val -9713"/>
            </a:avLst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accent4">
                    <a:lumMod val="50000"/>
                  </a:schemeClr>
                </a:solidFill>
              </a:rPr>
              <a:t>А сейчас - </a:t>
            </a:r>
            <a:endParaRPr lang="ru-RU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21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0008" y="405442"/>
            <a:ext cx="2872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ПРИМЕР 1</a:t>
            </a:r>
            <a:endParaRPr lang="ru-RU" sz="24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984" y="948905"/>
            <a:ext cx="4290328" cy="3372209"/>
          </a:xfrm>
          <a:prstGeom prst="rect">
            <a:avLst/>
          </a:prstGeom>
        </p:spPr>
      </p:pic>
      <p:sp>
        <p:nvSpPr>
          <p:cNvPr id="4" name="Выноска-облако 3"/>
          <p:cNvSpPr/>
          <p:nvPr/>
        </p:nvSpPr>
        <p:spPr>
          <a:xfrm>
            <a:off x="6098875" y="636274"/>
            <a:ext cx="3856008" cy="1589341"/>
          </a:xfrm>
          <a:prstGeom prst="cloudCallout">
            <a:avLst>
              <a:gd name="adj1" fmla="val -70274"/>
              <a:gd name="adj2" fmla="val 2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Сначала нужно подготовить всё необходимое: …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Выноска-облако 4"/>
          <p:cNvSpPr/>
          <p:nvPr/>
        </p:nvSpPr>
        <p:spPr>
          <a:xfrm>
            <a:off x="7418716" y="2525459"/>
            <a:ext cx="1509623" cy="700820"/>
          </a:xfrm>
          <a:prstGeom prst="cloudCallout">
            <a:avLst>
              <a:gd name="adj1" fmla="val -70274"/>
              <a:gd name="adj2" fmla="val 2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…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Выноска-облако 5"/>
          <p:cNvSpPr/>
          <p:nvPr/>
        </p:nvSpPr>
        <p:spPr>
          <a:xfrm>
            <a:off x="9122434" y="2068259"/>
            <a:ext cx="1664898" cy="769832"/>
          </a:xfrm>
          <a:prstGeom prst="cloudCallout">
            <a:avLst>
              <a:gd name="adj1" fmla="val -70274"/>
              <a:gd name="adj2" fmla="val 2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…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Выноска-облако 6"/>
          <p:cNvSpPr/>
          <p:nvPr/>
        </p:nvSpPr>
        <p:spPr>
          <a:xfrm>
            <a:off x="5943599" y="3267331"/>
            <a:ext cx="1509623" cy="700820"/>
          </a:xfrm>
          <a:prstGeom prst="cloudCallout">
            <a:avLst>
              <a:gd name="adj1" fmla="val -70274"/>
              <a:gd name="adj2" fmla="val 2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…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Выноска-облако 7"/>
          <p:cNvSpPr/>
          <p:nvPr/>
        </p:nvSpPr>
        <p:spPr>
          <a:xfrm>
            <a:off x="6167886" y="4151691"/>
            <a:ext cx="1733910" cy="864722"/>
          </a:xfrm>
          <a:prstGeom prst="cloudCallout">
            <a:avLst>
              <a:gd name="adj1" fmla="val -70274"/>
              <a:gd name="adj2" fmla="val 2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…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Выноска-облако 8"/>
          <p:cNvSpPr/>
          <p:nvPr/>
        </p:nvSpPr>
        <p:spPr>
          <a:xfrm>
            <a:off x="2311879" y="4811458"/>
            <a:ext cx="3631720" cy="1753243"/>
          </a:xfrm>
          <a:prstGeom prst="cloudCallout">
            <a:avLst>
              <a:gd name="adj1" fmla="val -70274"/>
              <a:gd name="adj2" fmla="val 2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Выкладываем в мисочку, поливаем маслицем. Готово!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634" y="4270076"/>
            <a:ext cx="2850401" cy="201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7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0008" y="405442"/>
            <a:ext cx="2872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ПРИМЕР 2</a:t>
            </a:r>
            <a:endParaRPr lang="ru-RU" sz="2400" b="1" dirty="0"/>
          </a:p>
        </p:txBody>
      </p:sp>
      <p:sp>
        <p:nvSpPr>
          <p:cNvPr id="5" name="Выноска-облако 4"/>
          <p:cNvSpPr/>
          <p:nvPr/>
        </p:nvSpPr>
        <p:spPr>
          <a:xfrm>
            <a:off x="7134041" y="2549620"/>
            <a:ext cx="1630395" cy="879285"/>
          </a:xfrm>
          <a:prstGeom prst="cloudCallout">
            <a:avLst>
              <a:gd name="adj1" fmla="val 79652"/>
              <a:gd name="adj2" fmla="val 93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…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Выноска-облако 5"/>
          <p:cNvSpPr/>
          <p:nvPr/>
        </p:nvSpPr>
        <p:spPr>
          <a:xfrm>
            <a:off x="8562744" y="867107"/>
            <a:ext cx="2785302" cy="1953731"/>
          </a:xfrm>
          <a:prstGeom prst="cloudCallout">
            <a:avLst>
              <a:gd name="adj1" fmla="val 32276"/>
              <a:gd name="adj2" fmla="val 928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Иди по ходу движения до конца дома…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Выноска-облако 6"/>
          <p:cNvSpPr/>
          <p:nvPr/>
        </p:nvSpPr>
        <p:spPr>
          <a:xfrm>
            <a:off x="5831455" y="3347722"/>
            <a:ext cx="1509623" cy="700820"/>
          </a:xfrm>
          <a:prstGeom prst="cloudCallout">
            <a:avLst>
              <a:gd name="adj1" fmla="val 90297"/>
              <a:gd name="adj2" fmla="val 736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…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Выноска-облако 7"/>
          <p:cNvSpPr/>
          <p:nvPr/>
        </p:nvSpPr>
        <p:spPr>
          <a:xfrm>
            <a:off x="4735901" y="4021255"/>
            <a:ext cx="1733910" cy="864722"/>
          </a:xfrm>
          <a:prstGeom prst="cloudCallout">
            <a:avLst>
              <a:gd name="adj1" fmla="val 78980"/>
              <a:gd name="adj2" fmla="val 471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…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Выноска-облако 8"/>
          <p:cNvSpPr/>
          <p:nvPr/>
        </p:nvSpPr>
        <p:spPr>
          <a:xfrm>
            <a:off x="1820173" y="4809075"/>
            <a:ext cx="3631720" cy="1753243"/>
          </a:xfrm>
          <a:prstGeom prst="cloudCallout">
            <a:avLst>
              <a:gd name="adj1" fmla="val 73669"/>
              <a:gd name="adj2" fmla="val 219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И тот подъезд, перед которым большая лужа – мой!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351" y="1122827"/>
            <a:ext cx="2778203" cy="3430528"/>
          </a:xfrm>
          <a:prstGeom prst="rect">
            <a:avLst/>
          </a:prstGeom>
        </p:spPr>
      </p:pic>
      <p:sp>
        <p:nvSpPr>
          <p:cNvPr id="4" name="Выноска-облако 3"/>
          <p:cNvSpPr/>
          <p:nvPr/>
        </p:nvSpPr>
        <p:spPr>
          <a:xfrm>
            <a:off x="4326145" y="997848"/>
            <a:ext cx="3856008" cy="1589341"/>
          </a:xfrm>
          <a:prstGeom prst="cloudCallout">
            <a:avLst>
              <a:gd name="adj1" fmla="val -70274"/>
              <a:gd name="adj2" fmla="val 2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accent5">
                    <a:lumMod val="50000"/>
                  </a:schemeClr>
                </a:solidFill>
              </a:rPr>
              <a:t>- Ну вот я вышла из маршрутки, дальше куда?</a:t>
            </a:r>
            <a:endParaRPr lang="ru-RU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272" y="4057106"/>
            <a:ext cx="291465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0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0008" y="405442"/>
            <a:ext cx="2872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ПРИМЕР 3</a:t>
            </a:r>
            <a:endParaRPr lang="ru-RU" sz="24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11" y="1015827"/>
            <a:ext cx="4979644" cy="368932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452" y="2655180"/>
            <a:ext cx="6542636" cy="390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49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931674" y="2738785"/>
            <a:ext cx="638485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АЛГОРИТМЫ НА ВЫБОР:</a:t>
            </a:r>
            <a:endParaRPr lang="ru-RU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06106" y="493812"/>
            <a:ext cx="2691441" cy="142335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accent5">
                    <a:lumMod val="50000"/>
                  </a:schemeClr>
                </a:solidFill>
              </a:rPr>
              <a:t>Алгоритм варки макарон</a:t>
            </a:r>
            <a:endParaRPr lang="ru-RU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770408" y="1162359"/>
            <a:ext cx="3674853" cy="142335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accent5">
                    <a:lumMod val="50000"/>
                  </a:schemeClr>
                </a:solidFill>
              </a:rPr>
              <a:t>Алгоритм перевода числа из десятичной системы в двоичную</a:t>
            </a:r>
            <a:endParaRPr lang="ru-RU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40483" y="787110"/>
            <a:ext cx="2691441" cy="142335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accent5">
                    <a:lumMod val="50000"/>
                  </a:schemeClr>
                </a:solidFill>
              </a:rPr>
              <a:t>Алгоритм застёгивания куртки</a:t>
            </a:r>
            <a:endParaRPr lang="ru-RU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91706" y="2738785"/>
            <a:ext cx="2691441" cy="2040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accent5">
                    <a:lumMod val="50000"/>
                  </a:schemeClr>
                </a:solidFill>
              </a:rPr>
              <a:t>Алгоритм складывания рубашки в чемодан</a:t>
            </a:r>
            <a:endParaRPr lang="ru-RU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804249" y="3616574"/>
            <a:ext cx="2993366" cy="245642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accent5">
                    <a:lumMod val="50000"/>
                  </a:schemeClr>
                </a:solidFill>
              </a:rPr>
              <a:t>Алгоритм изготовления бумажного самолётика</a:t>
            </a:r>
            <a:endParaRPr lang="ru-RU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798279" y="3980990"/>
            <a:ext cx="3674853" cy="142335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chemeClr val="accent5">
                    <a:lumMod val="50000"/>
                  </a:schemeClr>
                </a:solidFill>
              </a:rPr>
              <a:t>Алгоритм округления числа до целого</a:t>
            </a:r>
            <a:endParaRPr lang="ru-RU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29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0"/>
                            </p:stCondLst>
                            <p:childTnLst>
                              <p:par>
                                <p:cTn id="3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0"/>
                            </p:stCondLst>
                            <p:childTnLst>
                              <p:par>
                                <p:cTn id="4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134</TotalTime>
  <Words>177</Words>
  <Application>Microsoft Office PowerPoint</Application>
  <PresentationFormat>Широкоэкранный</PresentationFormat>
  <Paragraphs>51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Tw Cen MT</vt:lpstr>
      <vt:lpstr>Контур</vt:lpstr>
      <vt:lpstr>АЛГОРИТМ:  первое приближение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FST SPbSPU ISMI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АЛГОРИТМ:  первое приближение</dc:title>
  <dc:creator>LocalAdmin</dc:creator>
  <cp:lastModifiedBy>Dmitriy</cp:lastModifiedBy>
  <cp:revision>16</cp:revision>
  <dcterms:created xsi:type="dcterms:W3CDTF">2017-07-22T04:17:54Z</dcterms:created>
  <dcterms:modified xsi:type="dcterms:W3CDTF">2025-09-04T18:09:40Z</dcterms:modified>
</cp:coreProperties>
</file>