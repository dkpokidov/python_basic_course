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5" r:id="rId4"/>
    <p:sldId id="266" r:id="rId5"/>
    <p:sldId id="267" r:id="rId6"/>
    <p:sldId id="269" r:id="rId7"/>
    <p:sldId id="270" r:id="rId8"/>
    <p:sldId id="271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6A90"/>
    <a:srgbClr val="2A017B"/>
    <a:srgbClr val="060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8063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5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554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4649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6983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461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2026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9803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9091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208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4593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6A74D-00E2-4053-844B-0BA1E7F4399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09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33939" y="1678954"/>
            <a:ext cx="9144000" cy="2387600"/>
          </a:xfrm>
        </p:spPr>
        <p:txBody>
          <a:bodyPr>
            <a:noAutofit/>
          </a:bodyPr>
          <a:lstStyle/>
          <a:p>
            <a:r>
              <a:rPr lang="ru-RU" b="1" dirty="0" smtClean="0"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  <a:t>Структура и экосистема </a:t>
            </a:r>
            <a:r>
              <a:rPr lang="en-US" b="1" dirty="0" smtClean="0"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  <a:t>Python</a:t>
            </a:r>
            <a:endParaRPr lang="ru-RU" b="1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5529" y="241405"/>
            <a:ext cx="2684820" cy="980683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FB99A32-B210-4CD8-AD6C-EB89632A3F30}"/>
              </a:ext>
            </a:extLst>
          </p:cNvPr>
          <p:cNvSpPr/>
          <p:nvPr/>
        </p:nvSpPr>
        <p:spPr>
          <a:xfrm>
            <a:off x="4406205" y="4179765"/>
            <a:ext cx="3399467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ln w="0"/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  <a:cs typeface="Arial" panose="020B0604020202020204" pitchFamily="34" charset="0"/>
              </a:rPr>
              <a:t>что окружает язык?</a:t>
            </a:r>
            <a:endParaRPr lang="en-US" sz="2400" dirty="0">
              <a:ln w="0"/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815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Объект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2" r="8403"/>
          <a:stretch/>
        </p:blipFill>
        <p:spPr>
          <a:xfrm>
            <a:off x="890671" y="2168436"/>
            <a:ext cx="5466825" cy="4005942"/>
          </a:xfrm>
          <a:prstGeom prst="rect">
            <a:avLst/>
          </a:prstGeom>
        </p:spPr>
      </p:pic>
      <p:sp>
        <p:nvSpPr>
          <p:cNvPr id="11" name="Заголовок 1"/>
          <p:cNvSpPr txBox="1">
            <a:spLocks/>
          </p:cNvSpPr>
          <p:nvPr/>
        </p:nvSpPr>
        <p:spPr>
          <a:xfrm>
            <a:off x="890671" y="559731"/>
            <a:ext cx="7347737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800" b="1" dirty="0" smtClean="0">
                <a:solidFill>
                  <a:srgbClr val="2A017B"/>
                </a:solidFill>
              </a:rPr>
              <a:t>Что такое язык программирования?</a:t>
            </a:r>
            <a:endParaRPr lang="ru-RU" sz="4800" dirty="0">
              <a:solidFill>
                <a:srgbClr val="2A017B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66560" y="2168436"/>
            <a:ext cx="4894217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Сила Python — не в самом языке, а в огромном сообществе и инфраструктуре, которые его окружают</a:t>
            </a:r>
            <a:r>
              <a:rPr lang="ru-RU" dirty="0" smtClean="0"/>
              <a:t>.</a:t>
            </a:r>
          </a:p>
          <a:p>
            <a:endParaRPr lang="ru-RU" sz="2000" dirty="0"/>
          </a:p>
          <a:p>
            <a:r>
              <a:rPr lang="ru-RU" b="1" dirty="0"/>
              <a:t>Что мы </a:t>
            </a:r>
            <a:r>
              <a:rPr lang="ru-RU" b="1" dirty="0" smtClean="0"/>
              <a:t>рассмотрим</a:t>
            </a:r>
            <a:r>
              <a:rPr lang="en-US" b="1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Стандартная библиотека ("Батарейки в комплекте")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Менеджер пакетов </a:t>
            </a:r>
            <a:r>
              <a:rPr lang="ru-RU" dirty="0" err="1"/>
              <a:t>pip</a:t>
            </a:r>
            <a:r>
              <a:rPr lang="ru-RU" dirty="0"/>
              <a:t> и </a:t>
            </a:r>
            <a:r>
              <a:rPr lang="ru-RU" dirty="0" err="1"/>
              <a:t>репозиторий</a:t>
            </a:r>
            <a:r>
              <a:rPr lang="ru-RU" dirty="0"/>
              <a:t> </a:t>
            </a:r>
            <a:r>
              <a:rPr lang="ru-RU" dirty="0" err="1"/>
              <a:t>PyPI</a:t>
            </a:r>
            <a:r>
              <a:rPr lang="ru-RU" dirty="0"/>
              <a:t> (главный "магазин приложений")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Виртуальные окружения (</a:t>
            </a:r>
            <a:r>
              <a:rPr lang="ru-RU" dirty="0" err="1"/>
              <a:t>venv</a:t>
            </a:r>
            <a:r>
              <a:rPr lang="ru-RU" dirty="0"/>
              <a:t>) (краеугольный камень профессиональной разработки)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Сторонние библиотеки (примеры из разных сфер)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116624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Объект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  <a:prstGeom prst="rect">
            <a:avLst/>
          </a:prstGeom>
        </p:spPr>
      </p:pic>
      <p:sp>
        <p:nvSpPr>
          <p:cNvPr id="11" name="Заголовок 1"/>
          <p:cNvSpPr txBox="1">
            <a:spLocks/>
          </p:cNvSpPr>
          <p:nvPr/>
        </p:nvSpPr>
        <p:spPr>
          <a:xfrm>
            <a:off x="890671" y="559732"/>
            <a:ext cx="7347737" cy="82493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800" b="1" dirty="0">
                <a:solidFill>
                  <a:srgbClr val="2A017B"/>
                </a:solidFill>
              </a:rPr>
              <a:t>Стандартная библиотека</a:t>
            </a:r>
            <a:endParaRPr lang="ru-RU" sz="4800" dirty="0">
              <a:solidFill>
                <a:srgbClr val="2A017B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53346" y="2020387"/>
            <a:ext cx="49638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Что это? </a:t>
            </a:r>
            <a:endParaRPr lang="en-US" b="1" dirty="0" smtClean="0"/>
          </a:p>
          <a:p>
            <a:r>
              <a:rPr lang="ru-RU" dirty="0" smtClean="0"/>
              <a:t>Огромная коллекция модулей и пакетов, которые поставляются вместе с интерпретатором Python. Не нужно ничего дополнительно устанавливать.</a:t>
            </a:r>
            <a:endParaRPr lang="en-US" dirty="0" smtClean="0"/>
          </a:p>
          <a:p>
            <a:r>
              <a:rPr lang="ru-RU" b="1" dirty="0" smtClean="0"/>
              <a:t>Философия</a:t>
            </a:r>
            <a:endParaRPr lang="en-US" b="1" dirty="0" smtClean="0"/>
          </a:p>
          <a:p>
            <a:r>
              <a:rPr lang="ru-RU" dirty="0" smtClean="0"/>
              <a:t>Предоставить </a:t>
            </a:r>
            <a:r>
              <a:rPr lang="ru-RU" dirty="0"/>
              <a:t>готовые решения для большинства стандартных задач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6" name="Прямоугольник: скругленные углы 7">
            <a:extLst>
              <a:ext uri="{FF2B5EF4-FFF2-40B4-BE49-F238E27FC236}">
                <a16:creationId xmlns:a16="http://schemas.microsoft.com/office/drawing/2014/main" id="{1079268A-5E98-4DF3-8F65-D0E675B0C961}"/>
              </a:ext>
            </a:extLst>
          </p:cNvPr>
          <p:cNvSpPr/>
          <p:nvPr/>
        </p:nvSpPr>
        <p:spPr>
          <a:xfrm>
            <a:off x="6653346" y="4451654"/>
            <a:ext cx="4323649" cy="1950720"/>
          </a:xfrm>
          <a:prstGeom prst="roundRect">
            <a:avLst/>
          </a:prstGeom>
          <a:solidFill>
            <a:srgbClr val="036A9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b="1" dirty="0"/>
              <a:t>Правило хорошего </a:t>
            </a:r>
            <a:r>
              <a:rPr lang="ru-RU" sz="2000" b="1" dirty="0" smtClean="0"/>
              <a:t>тона</a:t>
            </a:r>
            <a:r>
              <a:rPr lang="en-US" sz="2000" b="1" dirty="0" smtClean="0"/>
              <a:t>!</a:t>
            </a:r>
          </a:p>
          <a:p>
            <a:r>
              <a:rPr lang="ru-RU" dirty="0" smtClean="0"/>
              <a:t>Прежде </a:t>
            </a:r>
            <a:r>
              <a:rPr lang="ru-RU" dirty="0"/>
              <a:t>чем писать код с нуля или искать стороннюю библиотеку — проверь, нет ли решения в стандартной </a:t>
            </a:r>
            <a:r>
              <a:rPr lang="ru-RU" dirty="0" smtClean="0"/>
              <a:t>библиотеке</a:t>
            </a:r>
            <a:r>
              <a:rPr lang="en-US" dirty="0"/>
              <a:t>.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75" b="99001" l="0" r="97313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1422" y="2107476"/>
            <a:ext cx="5456829" cy="434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082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Объект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  <a:prstGeom prst="rect">
            <a:avLst/>
          </a:prstGeom>
        </p:spPr>
      </p:pic>
      <p:sp>
        <p:nvSpPr>
          <p:cNvPr id="11" name="Заголовок 1"/>
          <p:cNvSpPr txBox="1">
            <a:spLocks/>
          </p:cNvSpPr>
          <p:nvPr/>
        </p:nvSpPr>
        <p:spPr>
          <a:xfrm>
            <a:off x="890671" y="559732"/>
            <a:ext cx="7347737" cy="13377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800" b="1" dirty="0">
                <a:solidFill>
                  <a:srgbClr val="2A017B"/>
                </a:solidFill>
              </a:rPr>
              <a:t>Примеры модулей стандартной библиотеки</a:t>
            </a:r>
            <a:endParaRPr lang="ru-RU" sz="4800" dirty="0">
              <a:solidFill>
                <a:srgbClr val="2A017B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75267" y="2299060"/>
            <a:ext cx="498925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Работа с данными:</a:t>
            </a:r>
          </a:p>
          <a:p>
            <a:r>
              <a:rPr lang="ru-RU" i="1" dirty="0" err="1"/>
              <a:t>math</a:t>
            </a:r>
            <a:r>
              <a:rPr lang="ru-RU" dirty="0"/>
              <a:t> — математические функции</a:t>
            </a:r>
          </a:p>
          <a:p>
            <a:r>
              <a:rPr lang="ru-RU" i="1" dirty="0" err="1"/>
              <a:t>random</a:t>
            </a:r>
            <a:r>
              <a:rPr lang="ru-RU" dirty="0"/>
              <a:t> — генерация случайных чисел</a:t>
            </a:r>
          </a:p>
          <a:p>
            <a:r>
              <a:rPr lang="en-US" i="1" dirty="0" smtClean="0"/>
              <a:t>pandas</a:t>
            </a:r>
            <a:r>
              <a:rPr lang="ru-RU" dirty="0" smtClean="0"/>
              <a:t> </a:t>
            </a:r>
            <a:r>
              <a:rPr lang="ru-RU" dirty="0"/>
              <a:t>— работа </a:t>
            </a:r>
            <a:r>
              <a:rPr lang="ru-RU" dirty="0" smtClean="0"/>
              <a:t>со структурированными </a:t>
            </a:r>
          </a:p>
          <a:p>
            <a:r>
              <a:rPr lang="ru-RU" dirty="0" smtClean="0"/>
              <a:t>данными</a:t>
            </a:r>
          </a:p>
          <a:p>
            <a:endParaRPr lang="ru-RU" dirty="0"/>
          </a:p>
          <a:p>
            <a:r>
              <a:rPr lang="ru-RU" b="1" dirty="0"/>
              <a:t>Системное администрирование</a:t>
            </a:r>
            <a:r>
              <a:rPr lang="ru-RU" dirty="0"/>
              <a:t>:</a:t>
            </a:r>
          </a:p>
          <a:p>
            <a:r>
              <a:rPr lang="ru-RU" i="1" dirty="0" err="1"/>
              <a:t>os</a:t>
            </a:r>
            <a:r>
              <a:rPr lang="ru-RU" dirty="0"/>
              <a:t> — взаимодействие с операционной системой</a:t>
            </a:r>
          </a:p>
          <a:p>
            <a:r>
              <a:rPr lang="ru-RU" i="1" dirty="0" err="1"/>
              <a:t>sys</a:t>
            </a:r>
            <a:r>
              <a:rPr lang="ru-RU" dirty="0"/>
              <a:t> — доступ к параметрам интерпретатора</a:t>
            </a:r>
          </a:p>
          <a:p>
            <a:r>
              <a:rPr lang="ru-RU" i="1" dirty="0" err="1"/>
              <a:t>datetime</a:t>
            </a:r>
            <a:r>
              <a:rPr lang="ru-RU" dirty="0"/>
              <a:t> — работа с датой и временем</a:t>
            </a:r>
          </a:p>
          <a:p>
            <a:endParaRPr lang="ru-RU" dirty="0" smtClean="0"/>
          </a:p>
          <a:p>
            <a:r>
              <a:rPr lang="ru-RU" b="1" dirty="0"/>
              <a:t>Сетевые возможности:</a:t>
            </a:r>
          </a:p>
          <a:p>
            <a:r>
              <a:rPr lang="ru-RU" i="1" dirty="0" err="1"/>
              <a:t>urllib.reques</a:t>
            </a:r>
            <a:r>
              <a:rPr lang="ru-RU" dirty="0" err="1"/>
              <a:t>t</a:t>
            </a:r>
            <a:r>
              <a:rPr lang="ru-RU" dirty="0"/>
              <a:t> — простые HTTP-запросы</a:t>
            </a:r>
          </a:p>
          <a:p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82" y="2670266"/>
            <a:ext cx="5071383" cy="285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144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Объект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  <a:prstGeom prst="rect">
            <a:avLst/>
          </a:prstGeom>
        </p:spPr>
      </p:pic>
      <p:sp>
        <p:nvSpPr>
          <p:cNvPr id="11" name="Заголовок 1"/>
          <p:cNvSpPr txBox="1">
            <a:spLocks/>
          </p:cNvSpPr>
          <p:nvPr/>
        </p:nvSpPr>
        <p:spPr>
          <a:xfrm>
            <a:off x="772068" y="553657"/>
            <a:ext cx="7347737" cy="13377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800" b="1" dirty="0" err="1">
                <a:solidFill>
                  <a:srgbClr val="2A017B"/>
                </a:solidFill>
              </a:rPr>
              <a:t>PyPI</a:t>
            </a:r>
            <a:r>
              <a:rPr lang="ru-RU" sz="4800" b="1" dirty="0">
                <a:solidFill>
                  <a:srgbClr val="2A017B"/>
                </a:solidFill>
              </a:rPr>
              <a:t> и </a:t>
            </a:r>
            <a:r>
              <a:rPr lang="ru-RU" sz="4800" b="1" dirty="0" err="1">
                <a:solidFill>
                  <a:srgbClr val="2A017B"/>
                </a:solidFill>
              </a:rPr>
              <a:t>pip</a:t>
            </a:r>
            <a:r>
              <a:rPr lang="ru-RU" sz="4800" b="1" dirty="0">
                <a:solidFill>
                  <a:srgbClr val="2A017B"/>
                </a:solidFill>
              </a:rPr>
              <a:t> — "Магазин приложений" для Python</a:t>
            </a:r>
            <a:endParaRPr lang="ru-RU" sz="4800" dirty="0">
              <a:solidFill>
                <a:srgbClr val="2A017B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10398" y="2290351"/>
            <a:ext cx="481584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PyPI</a:t>
            </a:r>
            <a:r>
              <a:rPr lang="ru-RU" b="1" dirty="0"/>
              <a:t> </a:t>
            </a:r>
            <a:r>
              <a:rPr lang="ru-RU" dirty="0"/>
              <a:t>(</a:t>
            </a:r>
            <a:r>
              <a:rPr lang="ru-RU" dirty="0">
                <a:hlinkClick r:id="rId3"/>
              </a:rPr>
              <a:t>Python </a:t>
            </a:r>
            <a:r>
              <a:rPr lang="ru-RU" dirty="0" err="1">
                <a:hlinkClick r:id="rId3"/>
              </a:rPr>
              <a:t>Package</a:t>
            </a:r>
            <a:r>
              <a:rPr lang="ru-RU" dirty="0">
                <a:hlinkClick r:id="rId3"/>
              </a:rPr>
              <a:t> </a:t>
            </a:r>
            <a:r>
              <a:rPr lang="ru-RU" dirty="0" err="1">
                <a:hlinkClick r:id="rId3"/>
              </a:rPr>
              <a:t>Index</a:t>
            </a:r>
            <a:r>
              <a:rPr lang="ru-RU" dirty="0" smtClean="0"/>
              <a:t>)</a:t>
            </a:r>
            <a:endParaRPr lang="en-US" dirty="0" smtClean="0"/>
          </a:p>
          <a:p>
            <a:r>
              <a:rPr lang="ru-RU" dirty="0" smtClean="0"/>
              <a:t>Огромный </a:t>
            </a:r>
            <a:r>
              <a:rPr lang="ru-RU" dirty="0"/>
              <a:t>онлайн-</a:t>
            </a:r>
            <a:r>
              <a:rPr lang="ru-RU" dirty="0" err="1"/>
              <a:t>репозиторий</a:t>
            </a:r>
            <a:r>
              <a:rPr lang="ru-RU" dirty="0"/>
              <a:t> стороннего программного обеспечения для Python. Это главный каталог, где разработчики со всего мира публикуют свои библиотеки</a:t>
            </a:r>
            <a:r>
              <a:rPr lang="ru-RU" dirty="0" smtClean="0"/>
              <a:t>.</a:t>
            </a:r>
            <a:endParaRPr lang="en-US" dirty="0" smtClean="0"/>
          </a:p>
          <a:p>
            <a:endParaRPr lang="ru-RU" dirty="0"/>
          </a:p>
          <a:p>
            <a:r>
              <a:rPr lang="ru-RU" b="1" dirty="0" err="1"/>
              <a:t>pip</a:t>
            </a:r>
            <a:r>
              <a:rPr lang="ru-RU" b="1" dirty="0"/>
              <a:t> (</a:t>
            </a:r>
            <a:r>
              <a:rPr lang="ru-RU" b="1" dirty="0" err="1"/>
              <a:t>Pip</a:t>
            </a:r>
            <a:r>
              <a:rPr lang="ru-RU" b="1" dirty="0"/>
              <a:t> </a:t>
            </a:r>
            <a:r>
              <a:rPr lang="ru-RU" b="1" dirty="0" err="1"/>
              <a:t>Installs</a:t>
            </a:r>
            <a:r>
              <a:rPr lang="ru-RU" b="1" dirty="0"/>
              <a:t> </a:t>
            </a:r>
            <a:r>
              <a:rPr lang="ru-RU" b="1" dirty="0" err="1" smtClean="0"/>
              <a:t>Packages</a:t>
            </a:r>
            <a:r>
              <a:rPr lang="ru-RU" b="1" dirty="0" smtClean="0"/>
              <a:t>)</a:t>
            </a:r>
            <a:endParaRPr lang="en-US" b="1" dirty="0" smtClean="0"/>
          </a:p>
          <a:p>
            <a:r>
              <a:rPr lang="ru-RU" dirty="0" smtClean="0"/>
              <a:t>Консольная </a:t>
            </a:r>
            <a:r>
              <a:rPr lang="ru-RU" dirty="0"/>
              <a:t>утилита (менеджер пакетов), которая умеет</a:t>
            </a:r>
            <a:r>
              <a:rPr lang="ru-RU" dirty="0" smtClean="0"/>
              <a:t>: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Устанавливать пакеты из</a:t>
            </a:r>
            <a:r>
              <a:rPr lang="en-US" dirty="0"/>
              <a:t> </a:t>
            </a:r>
            <a:r>
              <a:rPr lang="en-US" dirty="0" err="1" smtClean="0"/>
              <a:t>PyPI</a:t>
            </a:r>
            <a:r>
              <a:rPr lang="en-US" dirty="0" smtClean="0"/>
              <a:t>: pip install requests</a:t>
            </a:r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Удалять пакеты: </a:t>
            </a:r>
            <a:r>
              <a:rPr lang="en-US" dirty="0" smtClean="0"/>
              <a:t>pip uninstall requests</a:t>
            </a:r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Показывать </a:t>
            </a:r>
            <a:r>
              <a:rPr lang="ru-RU" dirty="0"/>
              <a:t>список установленного: </a:t>
            </a:r>
            <a:r>
              <a:rPr lang="ru-RU" dirty="0" err="1"/>
              <a:t>pip</a:t>
            </a:r>
            <a:r>
              <a:rPr lang="ru-RU" dirty="0"/>
              <a:t> </a:t>
            </a:r>
            <a:r>
              <a:rPr lang="ru-RU" dirty="0" err="1"/>
              <a:t>list</a:t>
            </a:r>
            <a:endParaRPr lang="ru-RU" dirty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068" y="2486307"/>
            <a:ext cx="5847009" cy="328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117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Объект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  <a:prstGeom prst="rect">
            <a:avLst/>
          </a:prstGeom>
        </p:spPr>
      </p:pic>
      <p:sp>
        <p:nvSpPr>
          <p:cNvPr id="11" name="Заголовок 1"/>
          <p:cNvSpPr txBox="1">
            <a:spLocks/>
          </p:cNvSpPr>
          <p:nvPr/>
        </p:nvSpPr>
        <p:spPr>
          <a:xfrm>
            <a:off x="772068" y="408689"/>
            <a:ext cx="8180343" cy="20397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800" b="1" dirty="0">
                <a:solidFill>
                  <a:srgbClr val="2A017B"/>
                </a:solidFill>
              </a:rPr>
              <a:t>Великолепная семерка: популярные сторонние библиотеки</a:t>
            </a:r>
            <a:endParaRPr lang="ru-RU" sz="4800" dirty="0">
              <a:solidFill>
                <a:srgbClr val="2A017B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564776" y="2512793"/>
            <a:ext cx="617362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Веб-разработка:</a:t>
            </a:r>
          </a:p>
          <a:p>
            <a:r>
              <a:rPr lang="ru-RU" i="1" dirty="0" err="1"/>
              <a:t>Django</a:t>
            </a:r>
            <a:r>
              <a:rPr lang="ru-RU" dirty="0"/>
              <a:t> — полнофункциональный </a:t>
            </a:r>
            <a:r>
              <a:rPr lang="ru-RU" dirty="0" err="1"/>
              <a:t>фреймворк</a:t>
            </a:r>
            <a:r>
              <a:rPr lang="ru-RU" dirty="0"/>
              <a:t> для создания веб-приложений</a:t>
            </a:r>
          </a:p>
          <a:p>
            <a:r>
              <a:rPr lang="ru-RU" i="1" dirty="0" err="1"/>
              <a:t>Flask</a:t>
            </a:r>
            <a:r>
              <a:rPr lang="ru-RU" i="1" dirty="0"/>
              <a:t> </a:t>
            </a:r>
            <a:r>
              <a:rPr lang="ru-RU" dirty="0"/>
              <a:t>—  </a:t>
            </a:r>
            <a:r>
              <a:rPr lang="ru-RU" dirty="0" err="1"/>
              <a:t>микрофреймворк</a:t>
            </a:r>
            <a:r>
              <a:rPr lang="ru-RU" dirty="0"/>
              <a:t>, </a:t>
            </a:r>
            <a:r>
              <a:rPr lang="ru-RU" dirty="0" smtClean="0"/>
              <a:t>предлагает </a:t>
            </a:r>
            <a:r>
              <a:rPr lang="ru-RU" dirty="0"/>
              <a:t>минимальный набор </a:t>
            </a:r>
            <a:r>
              <a:rPr lang="ru-RU" dirty="0" smtClean="0"/>
              <a:t>инструментов</a:t>
            </a:r>
          </a:p>
          <a:p>
            <a:endParaRPr lang="ru-RU" b="1" dirty="0" smtClean="0"/>
          </a:p>
          <a:p>
            <a:r>
              <a:rPr lang="ru-RU" b="1" dirty="0" err="1" smtClean="0"/>
              <a:t>Data</a:t>
            </a:r>
            <a:r>
              <a:rPr lang="ru-RU" b="1" dirty="0" smtClean="0"/>
              <a:t> </a:t>
            </a:r>
            <a:r>
              <a:rPr lang="ru-RU" b="1" dirty="0" err="1"/>
              <a:t>Science</a:t>
            </a:r>
            <a:r>
              <a:rPr lang="ru-RU" b="1" dirty="0"/>
              <a:t> &amp; AI:</a:t>
            </a:r>
          </a:p>
          <a:p>
            <a:r>
              <a:rPr lang="ru-RU" i="1" dirty="0" err="1"/>
              <a:t>NumPy</a:t>
            </a:r>
            <a:r>
              <a:rPr lang="ru-RU" dirty="0"/>
              <a:t> — работа с многомерными массивами (основа всего)</a:t>
            </a:r>
          </a:p>
          <a:p>
            <a:r>
              <a:rPr lang="ru-RU" i="1" dirty="0" err="1"/>
              <a:t>Pandas</a:t>
            </a:r>
            <a:r>
              <a:rPr lang="ru-RU" i="1" dirty="0"/>
              <a:t> </a:t>
            </a:r>
            <a:r>
              <a:rPr lang="ru-RU" dirty="0"/>
              <a:t>— анализ и обработка табличных данных</a:t>
            </a:r>
          </a:p>
          <a:p>
            <a:r>
              <a:rPr lang="ru-RU" i="1" dirty="0" err="1"/>
              <a:t>Matplotlib</a:t>
            </a:r>
            <a:r>
              <a:rPr lang="ru-RU" dirty="0"/>
              <a:t> — построение графиков и визуализация</a:t>
            </a:r>
          </a:p>
          <a:p>
            <a:endParaRPr lang="ru-RU" dirty="0" smtClean="0"/>
          </a:p>
          <a:p>
            <a:r>
              <a:rPr lang="ru-RU" b="1" dirty="0" smtClean="0"/>
              <a:t>Прочее</a:t>
            </a:r>
            <a:r>
              <a:rPr lang="ru-RU" dirty="0"/>
              <a:t>:</a:t>
            </a:r>
          </a:p>
          <a:p>
            <a:r>
              <a:rPr lang="ru-RU" i="1" dirty="0" err="1"/>
              <a:t>Requests</a:t>
            </a:r>
            <a:r>
              <a:rPr lang="ru-RU" dirty="0"/>
              <a:t> — </a:t>
            </a:r>
            <a:r>
              <a:rPr lang="ru-RU" dirty="0" smtClean="0"/>
              <a:t>удобные </a:t>
            </a:r>
            <a:r>
              <a:rPr lang="ru-RU" dirty="0"/>
              <a:t>запросы к </a:t>
            </a:r>
            <a:r>
              <a:rPr lang="ru-RU" dirty="0" smtClean="0"/>
              <a:t>сайтам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75" b="98042" l="9889" r="89988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3028" y="2407929"/>
            <a:ext cx="4122149" cy="390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374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Объект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  <a:prstGeom prst="rect">
            <a:avLst/>
          </a:prstGeom>
        </p:spPr>
      </p:pic>
      <p:sp>
        <p:nvSpPr>
          <p:cNvPr id="11" name="Заголовок 1"/>
          <p:cNvSpPr txBox="1">
            <a:spLocks/>
          </p:cNvSpPr>
          <p:nvPr/>
        </p:nvSpPr>
        <p:spPr>
          <a:xfrm>
            <a:off x="772068" y="408689"/>
            <a:ext cx="8180343" cy="20397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800" b="1" dirty="0">
                <a:solidFill>
                  <a:srgbClr val="2A017B"/>
                </a:solidFill>
              </a:rPr>
              <a:t>Зачем нужны </a:t>
            </a:r>
            <a:r>
              <a:rPr lang="ru-RU" sz="4800" b="1" dirty="0" smtClean="0">
                <a:solidFill>
                  <a:srgbClr val="2A017B"/>
                </a:solidFill>
              </a:rPr>
              <a:t>виртуальные </a:t>
            </a:r>
            <a:r>
              <a:rPr lang="ru-RU" sz="4800" b="1" dirty="0">
                <a:solidFill>
                  <a:srgbClr val="2A017B"/>
                </a:solidFill>
              </a:rPr>
              <a:t>окружения (</a:t>
            </a:r>
            <a:r>
              <a:rPr lang="ru-RU" sz="4800" b="1" dirty="0" err="1">
                <a:solidFill>
                  <a:srgbClr val="2A017B"/>
                </a:solidFill>
              </a:rPr>
              <a:t>venv</a:t>
            </a:r>
            <a:r>
              <a:rPr lang="ru-RU" sz="4800" b="1" dirty="0">
                <a:solidFill>
                  <a:srgbClr val="2A017B"/>
                </a:solidFill>
              </a:rPr>
              <a:t>)?</a:t>
            </a:r>
            <a:endParaRPr lang="ru-RU" sz="4800" dirty="0">
              <a:solidFill>
                <a:srgbClr val="2A017B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51699" y="2440961"/>
            <a:ext cx="547769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Проблема</a:t>
            </a:r>
          </a:p>
          <a:p>
            <a:r>
              <a:rPr lang="ru-RU" dirty="0" smtClean="0"/>
              <a:t>Вы </a:t>
            </a:r>
            <a:r>
              <a:rPr lang="ru-RU" dirty="0"/>
              <a:t>работаете над двумя проектами. Проекту №1 нужна библиотека </a:t>
            </a:r>
            <a:r>
              <a:rPr lang="ru-RU" dirty="0" err="1"/>
              <a:t>requests</a:t>
            </a:r>
            <a:r>
              <a:rPr lang="ru-RU" dirty="0"/>
              <a:t> версии 2.25, а Проекту №2 — версия 3.0. Глобальная установка через </a:t>
            </a:r>
            <a:r>
              <a:rPr lang="ru-RU" dirty="0" err="1"/>
              <a:t>pip</a:t>
            </a:r>
            <a:r>
              <a:rPr lang="ru-RU" dirty="0"/>
              <a:t> разрешит только одну версию для всех проектов. Конфликт</a:t>
            </a:r>
            <a:r>
              <a:rPr lang="ru-RU" dirty="0" smtClean="0"/>
              <a:t>!</a:t>
            </a:r>
          </a:p>
          <a:p>
            <a:endParaRPr lang="ru-RU" b="1" dirty="0" smtClean="0"/>
          </a:p>
          <a:p>
            <a:r>
              <a:rPr lang="ru-RU" b="1" dirty="0" smtClean="0"/>
              <a:t>Решение</a:t>
            </a:r>
          </a:p>
          <a:p>
            <a:r>
              <a:rPr lang="ru-RU" dirty="0"/>
              <a:t>Виртуальное окружение — это изолированная среда для каждого проекта со своими зависимостями и своими версиями пакетов</a:t>
            </a:r>
            <a:r>
              <a:rPr lang="ru-RU" dirty="0" smtClean="0"/>
              <a:t>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87" y="2338451"/>
            <a:ext cx="4014651" cy="335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921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Объект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  <a:prstGeom prst="rect">
            <a:avLst/>
          </a:prstGeom>
        </p:spPr>
      </p:pic>
      <p:sp>
        <p:nvSpPr>
          <p:cNvPr id="11" name="Заголовок 1"/>
          <p:cNvSpPr txBox="1">
            <a:spLocks/>
          </p:cNvSpPr>
          <p:nvPr/>
        </p:nvSpPr>
        <p:spPr>
          <a:xfrm>
            <a:off x="772068" y="408689"/>
            <a:ext cx="8180343" cy="20397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800" b="1" dirty="0">
                <a:solidFill>
                  <a:srgbClr val="2A017B"/>
                </a:solidFill>
              </a:rPr>
              <a:t>Зачем нужны </a:t>
            </a:r>
            <a:r>
              <a:rPr lang="ru-RU" sz="4800" b="1" dirty="0" smtClean="0">
                <a:solidFill>
                  <a:srgbClr val="2A017B"/>
                </a:solidFill>
              </a:rPr>
              <a:t>виртуальные </a:t>
            </a:r>
            <a:r>
              <a:rPr lang="ru-RU" sz="4800" b="1" dirty="0">
                <a:solidFill>
                  <a:srgbClr val="2A017B"/>
                </a:solidFill>
              </a:rPr>
              <a:t>окружения (</a:t>
            </a:r>
            <a:r>
              <a:rPr lang="ru-RU" sz="4800" b="1" dirty="0" err="1">
                <a:solidFill>
                  <a:srgbClr val="2A017B"/>
                </a:solidFill>
              </a:rPr>
              <a:t>venv</a:t>
            </a:r>
            <a:r>
              <a:rPr lang="ru-RU" sz="4800" b="1" dirty="0">
                <a:solidFill>
                  <a:srgbClr val="2A017B"/>
                </a:solidFill>
              </a:rPr>
              <a:t>)?</a:t>
            </a:r>
            <a:endParaRPr lang="ru-RU" sz="4800" dirty="0">
              <a:solidFill>
                <a:srgbClr val="2A017B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51699" y="2440961"/>
            <a:ext cx="547769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Проблема</a:t>
            </a:r>
          </a:p>
          <a:p>
            <a:r>
              <a:rPr lang="ru-RU" dirty="0" smtClean="0"/>
              <a:t>Вы </a:t>
            </a:r>
            <a:r>
              <a:rPr lang="ru-RU" dirty="0"/>
              <a:t>работаете над двумя проектами. Проекту №1 нужна библиотека </a:t>
            </a:r>
            <a:r>
              <a:rPr lang="ru-RU" dirty="0" err="1"/>
              <a:t>requests</a:t>
            </a:r>
            <a:r>
              <a:rPr lang="ru-RU" dirty="0"/>
              <a:t> версии 2.25, а Проекту №2 — версия 3.0. Глобальная установка через </a:t>
            </a:r>
            <a:r>
              <a:rPr lang="ru-RU" dirty="0" err="1"/>
              <a:t>pip</a:t>
            </a:r>
            <a:r>
              <a:rPr lang="ru-RU" dirty="0"/>
              <a:t> разрешит только одну версию для всех проектов. Конфликт</a:t>
            </a:r>
            <a:r>
              <a:rPr lang="ru-RU" dirty="0" smtClean="0"/>
              <a:t>!</a:t>
            </a:r>
          </a:p>
          <a:p>
            <a:endParaRPr lang="ru-RU" b="1" dirty="0" smtClean="0"/>
          </a:p>
          <a:p>
            <a:r>
              <a:rPr lang="ru-RU" b="1" dirty="0" smtClean="0"/>
              <a:t>Решение</a:t>
            </a:r>
          </a:p>
          <a:p>
            <a:r>
              <a:rPr lang="ru-RU" dirty="0"/>
              <a:t>Виртуальное окружение — это изолированная среда для каждого проекта со своими зависимостями и своими версиями пакетов</a:t>
            </a:r>
            <a:r>
              <a:rPr lang="ru-RU" dirty="0" smtClean="0"/>
              <a:t>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87" y="2338451"/>
            <a:ext cx="4014651" cy="335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441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1468755" y="856446"/>
            <a:ext cx="1847766" cy="73213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800" b="1" dirty="0" smtClean="0">
                <a:solidFill>
                  <a:srgbClr val="2A017B"/>
                </a:solidFill>
              </a:rPr>
              <a:t>Итоги</a:t>
            </a:r>
            <a:endParaRPr lang="ru-RU" sz="4800" dirty="0">
              <a:solidFill>
                <a:srgbClr val="2A017B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63956" y="1779687"/>
            <a:ext cx="886831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Стандартная библиотека — ваш первый и главный помощник.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 err="1"/>
              <a:t>PyPI</a:t>
            </a:r>
            <a:r>
              <a:rPr lang="ru-RU" sz="2400" dirty="0"/>
              <a:t> + </a:t>
            </a:r>
            <a:r>
              <a:rPr lang="ru-RU" sz="2400" dirty="0" err="1"/>
              <a:t>pip</a:t>
            </a:r>
            <a:r>
              <a:rPr lang="ru-RU" sz="2400" dirty="0"/>
              <a:t> — бескрайний источник готовых решений и мощный инструмент для их установки.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Виртуальные окружения (</a:t>
            </a:r>
            <a:r>
              <a:rPr lang="ru-RU" sz="2400" dirty="0" err="1"/>
              <a:t>venv</a:t>
            </a:r>
            <a:r>
              <a:rPr lang="ru-RU" sz="2400" dirty="0"/>
              <a:t>) — обязательный инструмент для изоляции зависимостей и поддержания порядка.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Вместе они образуют мощную и зрелую экосистему, которая делает Python таким популярным.</a:t>
            </a:r>
          </a:p>
        </p:txBody>
      </p:sp>
    </p:spTree>
    <p:extLst>
      <p:ext uri="{BB962C8B-B14F-4D97-AF65-F5344CB8AC3E}">
        <p14:creationId xmlns:p14="http://schemas.microsoft.com/office/powerpoint/2010/main" val="3892868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422</Words>
  <Application>Microsoft Office PowerPoint</Application>
  <PresentationFormat>Широкоэкранный</PresentationFormat>
  <Paragraphs>69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Golos Text</vt:lpstr>
      <vt:lpstr>Тема Office</vt:lpstr>
      <vt:lpstr>Структура и экосистема Python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Информация и информационные процессы</dc:title>
  <dc:creator>Dmitriy</dc:creator>
  <cp:lastModifiedBy>Dmitriy</cp:lastModifiedBy>
  <cp:revision>18</cp:revision>
  <dcterms:created xsi:type="dcterms:W3CDTF">2025-09-04T18:56:29Z</dcterms:created>
  <dcterms:modified xsi:type="dcterms:W3CDTF">2025-09-15T12:49:09Z</dcterms:modified>
</cp:coreProperties>
</file>