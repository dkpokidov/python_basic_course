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30"/>
  </p:notesMasterIdLst>
  <p:sldIdLst>
    <p:sldId id="257" r:id="rId2"/>
    <p:sldId id="259" r:id="rId3"/>
    <p:sldId id="263" r:id="rId4"/>
    <p:sldId id="264" r:id="rId5"/>
    <p:sldId id="262" r:id="rId6"/>
    <p:sldId id="256" r:id="rId7"/>
    <p:sldId id="269" r:id="rId8"/>
    <p:sldId id="271" r:id="rId9"/>
    <p:sldId id="292" r:id="rId10"/>
    <p:sldId id="294" r:id="rId11"/>
    <p:sldId id="272" r:id="rId12"/>
    <p:sldId id="270" r:id="rId13"/>
    <p:sldId id="258" r:id="rId14"/>
    <p:sldId id="291" r:id="rId15"/>
    <p:sldId id="290" r:id="rId16"/>
    <p:sldId id="273" r:id="rId17"/>
    <p:sldId id="274" r:id="rId18"/>
    <p:sldId id="293" r:id="rId19"/>
    <p:sldId id="275" r:id="rId20"/>
    <p:sldId id="276" r:id="rId21"/>
    <p:sldId id="268" r:id="rId22"/>
    <p:sldId id="277" r:id="rId23"/>
    <p:sldId id="279" r:id="rId24"/>
    <p:sldId id="278" r:id="rId25"/>
    <p:sldId id="283" r:id="rId26"/>
    <p:sldId id="282" r:id="rId27"/>
    <p:sldId id="286" r:id="rId28"/>
    <p:sldId id="285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76" autoAdjust="0"/>
    <p:restoredTop sz="76513" autoAdjust="0"/>
  </p:normalViewPr>
  <p:slideViewPr>
    <p:cSldViewPr snapToGrid="0">
      <p:cViewPr varScale="1">
        <p:scale>
          <a:sx n="67" d="100"/>
          <a:sy n="67" d="100"/>
        </p:scale>
        <p:origin x="106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26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241B74-7BD9-4109-8C32-6ED00F189C16}" type="datetimeFigureOut">
              <a:rPr lang="ru-RU" smtClean="0"/>
              <a:t>09.09.2025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98FA59-8143-47C3-B2DA-C4BDE15DEFF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19447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 Печатает значения в поток или в </a:t>
            </a:r>
            <a:r>
              <a:rPr lang="ru-RU" dirty="0" err="1"/>
              <a:t>sys.stdout</a:t>
            </a:r>
            <a:r>
              <a:rPr lang="ru-RU" dirty="0"/>
              <a:t> по умолчанию.</a:t>
            </a:r>
          </a:p>
          <a:p>
            <a:r>
              <a:rPr lang="ru-RU" dirty="0"/>
              <a:t>     Необязательные ключевые аргументы:</a:t>
            </a:r>
          </a:p>
          <a:p>
            <a:r>
              <a:rPr lang="ru-RU" dirty="0"/>
              <a:t>     file: </a:t>
            </a:r>
            <a:r>
              <a:rPr lang="ru-RU" dirty="0" err="1"/>
              <a:t>файлоподобный</a:t>
            </a:r>
            <a:r>
              <a:rPr lang="ru-RU" dirty="0"/>
              <a:t> объект (поток); по умолчанию используется текущий </a:t>
            </a:r>
            <a:r>
              <a:rPr lang="ru-RU" dirty="0" err="1"/>
              <a:t>sys.stdout</a:t>
            </a:r>
            <a:r>
              <a:rPr lang="ru-RU" dirty="0"/>
              <a:t>.</a:t>
            </a:r>
          </a:p>
          <a:p>
            <a:r>
              <a:rPr lang="ru-RU" dirty="0"/>
              <a:t>     </a:t>
            </a:r>
            <a:r>
              <a:rPr lang="ru-RU" dirty="0" err="1"/>
              <a:t>sep</a:t>
            </a:r>
            <a:r>
              <a:rPr lang="ru-RU" dirty="0"/>
              <a:t>: строка вставляется между значениями, по умолчанию пробел.</a:t>
            </a:r>
          </a:p>
          <a:p>
            <a:r>
              <a:rPr lang="ru-RU" dirty="0"/>
              <a:t>     </a:t>
            </a:r>
            <a:r>
              <a:rPr lang="ru-RU" dirty="0" err="1"/>
              <a:t>end</a:t>
            </a:r>
            <a:r>
              <a:rPr lang="ru-RU" dirty="0"/>
              <a:t>: строка, добавленная после последнего значения, по умолчанию перевод строки.</a:t>
            </a:r>
          </a:p>
          <a:p>
            <a:r>
              <a:rPr lang="ru-RU" dirty="0"/>
              <a:t>     </a:t>
            </a:r>
            <a:r>
              <a:rPr lang="ru-RU" dirty="0" err="1"/>
              <a:t>flush</a:t>
            </a:r>
            <a:r>
              <a:rPr lang="ru-RU" dirty="0"/>
              <a:t>: принудительно очищать поток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98FA59-8143-47C3-B2DA-C4BDE15DEFFA}" type="slidenum">
              <a:rPr lang="ru-RU" smtClean="0"/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95331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44964-E338-4B34-846D-87877CA2475C}" type="datetimeFigureOut">
              <a:rPr lang="ru-RU" smtClean="0"/>
              <a:t>09.09.2025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7B276-16A0-4DE7-9FF5-DCB5CC48CFFF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43681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44964-E338-4B34-846D-87877CA2475C}" type="datetimeFigureOut">
              <a:rPr lang="ru-RU" smtClean="0"/>
              <a:t>09.09.2025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7B276-16A0-4DE7-9FF5-DCB5CC48CFF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78537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44964-E338-4B34-846D-87877CA2475C}" type="datetimeFigureOut">
              <a:rPr lang="ru-RU" smtClean="0"/>
              <a:t>09.09.2025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7B276-16A0-4DE7-9FF5-DCB5CC48CFFF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11518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44964-E338-4B34-846D-87877CA2475C}" type="datetimeFigureOut">
              <a:rPr lang="ru-RU" smtClean="0"/>
              <a:t>09.09.2025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7B276-16A0-4DE7-9FF5-DCB5CC48CFF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20842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44964-E338-4B34-846D-87877CA2475C}" type="datetimeFigureOut">
              <a:rPr lang="ru-RU" smtClean="0"/>
              <a:t>09.09.2025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7B276-16A0-4DE7-9FF5-DCB5CC48CFF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84788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44964-E338-4B34-846D-87877CA2475C}" type="datetimeFigureOut">
              <a:rPr lang="ru-RU" smtClean="0"/>
              <a:t>09.09.2025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7B276-16A0-4DE7-9FF5-DCB5CC48CFF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3632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44964-E338-4B34-846D-87877CA2475C}" type="datetimeFigureOut">
              <a:rPr lang="ru-RU" smtClean="0"/>
              <a:t>09.09.2025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7B276-16A0-4DE7-9FF5-DCB5CC48CFF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85479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EC744964-E338-4B34-846D-87877CA2475C}" type="datetimeFigureOut">
              <a:rPr lang="ru-RU" smtClean="0"/>
              <a:t>09.09.2025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7B276-16A0-4DE7-9FF5-DCB5CC48CFF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5809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44964-E338-4B34-846D-87877CA2475C}" type="datetimeFigureOut">
              <a:rPr lang="ru-RU" smtClean="0"/>
              <a:t>09.09.2025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7B276-16A0-4DE7-9FF5-DCB5CC48CFF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58830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44964-E338-4B34-846D-87877CA2475C}" type="datetimeFigureOut">
              <a:rPr lang="ru-RU" smtClean="0"/>
              <a:t>09.09.2025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7B276-16A0-4DE7-9FF5-DCB5CC48CFF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36229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44964-E338-4B34-846D-87877CA2475C}" type="datetimeFigureOut">
              <a:rPr lang="ru-RU" smtClean="0"/>
              <a:t>09.09.2025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7B276-16A0-4DE7-9FF5-DCB5CC48CFF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65480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EC744964-E338-4B34-846D-87877CA2475C}" type="datetimeFigureOut">
              <a:rPr lang="ru-RU" smtClean="0"/>
              <a:t>09.09.2025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1F7B276-16A0-4DE7-9FF5-DCB5CC48CFFF}" type="slidenum">
              <a:rPr lang="ru-RU" smtClean="0"/>
              <a:t>‹#›</a:t>
            </a:fld>
            <a:endParaRPr lang="ru-RU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927537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gif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664234" y="431321"/>
            <a:ext cx="8264106" cy="1682151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b="1" dirty="0"/>
              <a:t>Программа</a:t>
            </a:r>
            <a:r>
              <a:rPr lang="ru-RU" sz="2800" dirty="0"/>
              <a:t> – </a:t>
            </a:r>
            <a:br>
              <a:rPr lang="ru-RU" sz="2800" dirty="0"/>
            </a:br>
            <a:r>
              <a:rPr lang="ru-RU" sz="2800" dirty="0"/>
              <a:t>- алгоритм для исполнителя-компьютера, описанный на доступном ему языке.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876" y="2687363"/>
            <a:ext cx="4607943" cy="3591139"/>
          </a:xfrm>
          <a:prstGeom prst="rect">
            <a:avLst/>
          </a:prstGeom>
          <a:effectLst>
            <a:softEdge rad="127000"/>
          </a:effectLst>
        </p:spPr>
      </p:pic>
      <p:sp>
        <p:nvSpPr>
          <p:cNvPr id="4" name="Овальная выноска 3"/>
          <p:cNvSpPr/>
          <p:nvPr/>
        </p:nvSpPr>
        <p:spPr>
          <a:xfrm>
            <a:off x="6469811" y="2510288"/>
            <a:ext cx="4019909" cy="1587260"/>
          </a:xfrm>
          <a:prstGeom prst="wedgeEllipseCallout">
            <a:avLst>
              <a:gd name="adj1" fmla="val -115651"/>
              <a:gd name="adj2" fmla="val 16865"/>
            </a:avLst>
          </a:prstGeom>
          <a:ln w="28575"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000" dirty="0"/>
              <a:t>- …и вычитай меньшее из большего, пока не сравняются!</a:t>
            </a:r>
          </a:p>
        </p:txBody>
      </p:sp>
      <p:sp>
        <p:nvSpPr>
          <p:cNvPr id="6" name="Овальная выноска 5"/>
          <p:cNvSpPr/>
          <p:nvPr/>
        </p:nvSpPr>
        <p:spPr>
          <a:xfrm>
            <a:off x="5490713" y="5171165"/>
            <a:ext cx="1958196" cy="1003704"/>
          </a:xfrm>
          <a:prstGeom prst="wedgeEllipseCallout">
            <a:avLst>
              <a:gd name="adj1" fmla="val -146859"/>
              <a:gd name="adj2" fmla="val -188936"/>
            </a:avLst>
          </a:prstGeom>
          <a:ln w="28575"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000" dirty="0"/>
              <a:t>- Ну ты и тормоз, комп!</a:t>
            </a:r>
          </a:p>
        </p:txBody>
      </p:sp>
      <p:sp>
        <p:nvSpPr>
          <p:cNvPr id="5" name="Овальная выноска 4"/>
          <p:cNvSpPr/>
          <p:nvPr/>
        </p:nvSpPr>
        <p:spPr>
          <a:xfrm>
            <a:off x="4753154" y="4262832"/>
            <a:ext cx="5547504" cy="685809"/>
          </a:xfrm>
          <a:prstGeom prst="wedgeEllipseCallout">
            <a:avLst>
              <a:gd name="adj1" fmla="val -68079"/>
              <a:gd name="adj2" fmla="val -131934"/>
            </a:avLst>
          </a:prstGeom>
          <a:ln w="28575"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000" dirty="0"/>
              <a:t>- Ну что, завис, что ли?</a:t>
            </a:r>
          </a:p>
        </p:txBody>
      </p:sp>
    </p:spTree>
    <p:extLst>
      <p:ext uri="{BB962C8B-B14F-4D97-AF65-F5344CB8AC3E}">
        <p14:creationId xmlns:p14="http://schemas.microsoft.com/office/powerpoint/2010/main" val="3396920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4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300"/>
                            </p:stCondLst>
                            <p:childTnLst>
                              <p:par>
                                <p:cTn id="1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5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697" y="758495"/>
            <a:ext cx="2009775" cy="2390775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5095" y="4038156"/>
            <a:ext cx="3245239" cy="2158216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78B50718-D311-466A-BE04-85FC83BB56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3388" y="1825295"/>
            <a:ext cx="3057525" cy="264795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4" name="Овальная выноска 3"/>
          <p:cNvSpPr/>
          <p:nvPr/>
        </p:nvSpPr>
        <p:spPr>
          <a:xfrm>
            <a:off x="3175813" y="262473"/>
            <a:ext cx="3749885" cy="1561381"/>
          </a:xfrm>
          <a:prstGeom prst="wedgeEllipseCallout">
            <a:avLst>
              <a:gd name="adj1" fmla="val -70514"/>
              <a:gd name="adj2" fmla="val 55768"/>
            </a:avLst>
          </a:prstGeom>
          <a:solidFill>
            <a:srgbClr val="FFC000"/>
          </a:solidFill>
          <a:ln w="28575"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000" dirty="0"/>
              <a:t>- Определить, что больше </a:t>
            </a:r>
            <a:r>
              <a:rPr lang="en-US" sz="2000" dirty="0"/>
              <a:t>n1 </a:t>
            </a:r>
            <a:r>
              <a:rPr lang="ru-RU" sz="2000" dirty="0"/>
              <a:t>или </a:t>
            </a:r>
            <a:r>
              <a:rPr lang="en-US" sz="2000" dirty="0"/>
              <a:t>n2</a:t>
            </a:r>
            <a:endParaRPr lang="ru-RU" sz="2000" dirty="0"/>
          </a:p>
        </p:txBody>
      </p:sp>
      <p:sp>
        <p:nvSpPr>
          <p:cNvPr id="5" name="Овальная выноска 4"/>
          <p:cNvSpPr/>
          <p:nvPr/>
        </p:nvSpPr>
        <p:spPr>
          <a:xfrm>
            <a:off x="3341028" y="4476127"/>
            <a:ext cx="3749885" cy="1561381"/>
          </a:xfrm>
          <a:prstGeom prst="wedgeEllipseCallout">
            <a:avLst>
              <a:gd name="adj1" fmla="val 88217"/>
              <a:gd name="adj2" fmla="val 10464"/>
            </a:avLst>
          </a:prstGeom>
          <a:solidFill>
            <a:srgbClr val="FFC000"/>
          </a:solidFill>
          <a:ln w="28575"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000" dirty="0"/>
              <a:t>10011100</a:t>
            </a:r>
          </a:p>
          <a:p>
            <a:pPr algn="ctr"/>
            <a:r>
              <a:rPr lang="ru-RU" sz="2000" dirty="0"/>
              <a:t>00100111</a:t>
            </a:r>
          </a:p>
          <a:p>
            <a:pPr algn="ctr"/>
            <a:r>
              <a:rPr lang="ru-RU" sz="2000" dirty="0"/>
              <a:t>11000001</a:t>
            </a:r>
          </a:p>
        </p:txBody>
      </p:sp>
    </p:spTree>
    <p:extLst>
      <p:ext uri="{BB962C8B-B14F-4D97-AF65-F5344CB8AC3E}">
        <p14:creationId xmlns:p14="http://schemas.microsoft.com/office/powerpoint/2010/main" val="4146562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50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" dur="250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" dur="250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250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7" presetClass="emph" presetSubtype="0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" dur="250" autoRev="1" fill="remove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4" dur="250" autoRev="1" fill="remove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" dur="250" autoRev="1" fill="remove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250" autoRev="1" fill="remove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1171575" y="168275"/>
            <a:ext cx="9782175" cy="742950"/>
          </a:xfrm>
          <a:prstGeom prst="rect">
            <a:avLst/>
          </a:prstGeom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200" dirty="0"/>
              <a:t>Языки программирования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1209675" y="1063625"/>
            <a:ext cx="4743450" cy="742950"/>
          </a:xfrm>
          <a:prstGeom prst="rect">
            <a:avLst/>
          </a:prstGeom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200" dirty="0"/>
              <a:t>Компилируемые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6124575" y="1063625"/>
            <a:ext cx="4829175" cy="742950"/>
          </a:xfrm>
          <a:prstGeom prst="rect">
            <a:avLst/>
          </a:prstGeom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200" dirty="0"/>
              <a:t>Интерпретируемые</a:t>
            </a:r>
          </a:p>
        </p:txBody>
      </p:sp>
      <p:sp>
        <p:nvSpPr>
          <p:cNvPr id="6" name="Блок-схема: сохраненные данные 5"/>
          <p:cNvSpPr/>
          <p:nvPr/>
        </p:nvSpPr>
        <p:spPr>
          <a:xfrm>
            <a:off x="790575" y="2282824"/>
            <a:ext cx="2457450" cy="1314449"/>
          </a:xfrm>
          <a:prstGeom prst="flowChartOnlineStorage">
            <a:avLst/>
          </a:prstGeom>
          <a:noFill/>
          <a:ln w="285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000" dirty="0">
                <a:solidFill>
                  <a:schemeClr val="accent5"/>
                </a:solidFill>
              </a:rPr>
              <a:t>Исходный текст</a:t>
            </a:r>
            <a:br>
              <a:rPr lang="ru-RU" sz="2000" dirty="0">
                <a:solidFill>
                  <a:schemeClr val="accent5"/>
                </a:solidFill>
              </a:rPr>
            </a:br>
            <a:r>
              <a:rPr lang="ru-RU" sz="2000" dirty="0">
                <a:solidFill>
                  <a:schemeClr val="accent5"/>
                </a:solidFill>
              </a:rPr>
              <a:t>*</a:t>
            </a:r>
            <a:r>
              <a:rPr lang="en-US" sz="2000" dirty="0">
                <a:solidFill>
                  <a:schemeClr val="accent5"/>
                </a:solidFill>
              </a:rPr>
              <a:t>.</a:t>
            </a:r>
            <a:r>
              <a:rPr lang="en-US" sz="2000" dirty="0" err="1">
                <a:solidFill>
                  <a:schemeClr val="accent5"/>
                </a:solidFill>
              </a:rPr>
              <a:t>sb</a:t>
            </a:r>
            <a:endParaRPr lang="ru-RU" sz="2000" dirty="0">
              <a:solidFill>
                <a:schemeClr val="accent5"/>
              </a:solidFill>
            </a:endParaRPr>
          </a:p>
        </p:txBody>
      </p:sp>
      <p:sp>
        <p:nvSpPr>
          <p:cNvPr id="7" name="Блок-схема: типовой процесс 6"/>
          <p:cNvSpPr/>
          <p:nvPr/>
        </p:nvSpPr>
        <p:spPr>
          <a:xfrm>
            <a:off x="3581400" y="2273299"/>
            <a:ext cx="2371725" cy="1323974"/>
          </a:xfrm>
          <a:prstGeom prst="flowChartPredefinedProcess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accent5"/>
                </a:solidFill>
              </a:rPr>
              <a:t>КОМПИЛЯТОР</a:t>
            </a:r>
          </a:p>
        </p:txBody>
      </p:sp>
      <p:sp>
        <p:nvSpPr>
          <p:cNvPr id="8" name="Блок-схема: сохраненные данные 7"/>
          <p:cNvSpPr/>
          <p:nvPr/>
        </p:nvSpPr>
        <p:spPr>
          <a:xfrm>
            <a:off x="3033712" y="4073522"/>
            <a:ext cx="2733675" cy="1162051"/>
          </a:xfrm>
          <a:prstGeom prst="flowChartOnlineStorage">
            <a:avLst/>
          </a:prstGeom>
          <a:noFill/>
          <a:ln w="285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000" dirty="0">
                <a:solidFill>
                  <a:schemeClr val="accent5"/>
                </a:solidFill>
              </a:rPr>
              <a:t>Исполняемый файл</a:t>
            </a:r>
            <a:br>
              <a:rPr lang="ru-RU" sz="2000" dirty="0">
                <a:solidFill>
                  <a:schemeClr val="accent5"/>
                </a:solidFill>
              </a:rPr>
            </a:br>
            <a:r>
              <a:rPr lang="ru-RU" sz="2000" dirty="0">
                <a:solidFill>
                  <a:schemeClr val="accent5"/>
                </a:solidFill>
              </a:rPr>
              <a:t>*</a:t>
            </a:r>
            <a:r>
              <a:rPr lang="en-US" sz="2000" dirty="0">
                <a:solidFill>
                  <a:schemeClr val="accent5"/>
                </a:solidFill>
              </a:rPr>
              <a:t>.exe</a:t>
            </a:r>
            <a:endParaRPr lang="ru-RU" sz="2000" dirty="0">
              <a:solidFill>
                <a:schemeClr val="accent5"/>
              </a:solidFill>
            </a:endParaRPr>
          </a:p>
        </p:txBody>
      </p:sp>
      <p:sp>
        <p:nvSpPr>
          <p:cNvPr id="9" name="Блок-схема: данные 8"/>
          <p:cNvSpPr/>
          <p:nvPr/>
        </p:nvSpPr>
        <p:spPr>
          <a:xfrm>
            <a:off x="438150" y="4264019"/>
            <a:ext cx="1924050" cy="685800"/>
          </a:xfrm>
          <a:prstGeom prst="flowChartInputOutput">
            <a:avLst/>
          </a:prstGeom>
          <a:noFill/>
          <a:ln w="285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accent5"/>
                </a:solidFill>
              </a:rPr>
              <a:t>Данные</a:t>
            </a:r>
          </a:p>
        </p:txBody>
      </p:sp>
      <p:sp>
        <p:nvSpPr>
          <p:cNvPr id="10" name="Блок-схема: данные 9"/>
          <p:cNvSpPr/>
          <p:nvPr/>
        </p:nvSpPr>
        <p:spPr>
          <a:xfrm>
            <a:off x="3248025" y="5521320"/>
            <a:ext cx="2238375" cy="685800"/>
          </a:xfrm>
          <a:prstGeom prst="flowChartInputOutput">
            <a:avLst/>
          </a:prstGeom>
          <a:noFill/>
          <a:ln w="285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accent5"/>
                </a:solidFill>
              </a:rPr>
              <a:t>Результат</a:t>
            </a:r>
          </a:p>
        </p:txBody>
      </p:sp>
      <p:sp>
        <p:nvSpPr>
          <p:cNvPr id="11" name="Блок-схема: сохраненные данные 10"/>
          <p:cNvSpPr/>
          <p:nvPr/>
        </p:nvSpPr>
        <p:spPr>
          <a:xfrm>
            <a:off x="7239000" y="2292348"/>
            <a:ext cx="3714750" cy="1314449"/>
          </a:xfrm>
          <a:prstGeom prst="flowChartOnlineStorage">
            <a:avLst/>
          </a:prstGeom>
          <a:noFill/>
          <a:ln w="285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accent5"/>
                </a:solidFill>
              </a:rPr>
              <a:t>Исходный текст</a:t>
            </a:r>
            <a:br>
              <a:rPr lang="ru-RU" sz="2000" dirty="0">
                <a:solidFill>
                  <a:schemeClr val="accent5"/>
                </a:solidFill>
              </a:rPr>
            </a:br>
            <a:r>
              <a:rPr lang="ru-RU" sz="2000" dirty="0">
                <a:solidFill>
                  <a:schemeClr val="accent5"/>
                </a:solidFill>
              </a:rPr>
              <a:t>в </a:t>
            </a:r>
            <a:r>
              <a:rPr lang="en-US" sz="2000" dirty="0">
                <a:solidFill>
                  <a:schemeClr val="accent5"/>
                </a:solidFill>
              </a:rPr>
              <a:t>IDLE </a:t>
            </a:r>
            <a:r>
              <a:rPr lang="ru-RU" sz="2000" dirty="0">
                <a:solidFill>
                  <a:schemeClr val="accent5"/>
                </a:solidFill>
              </a:rPr>
              <a:t>или </a:t>
            </a:r>
            <a:br>
              <a:rPr lang="ru-RU" sz="2000" dirty="0">
                <a:solidFill>
                  <a:schemeClr val="accent5"/>
                </a:solidFill>
              </a:rPr>
            </a:br>
            <a:r>
              <a:rPr lang="ru-RU" sz="2000" dirty="0">
                <a:solidFill>
                  <a:schemeClr val="accent5"/>
                </a:solidFill>
              </a:rPr>
              <a:t>файл *</a:t>
            </a:r>
            <a:r>
              <a:rPr lang="en-US" sz="2000" dirty="0">
                <a:solidFill>
                  <a:schemeClr val="accent5"/>
                </a:solidFill>
              </a:rPr>
              <a:t>.</a:t>
            </a:r>
            <a:r>
              <a:rPr lang="en-US" sz="2000" dirty="0" err="1">
                <a:solidFill>
                  <a:schemeClr val="accent5"/>
                </a:solidFill>
              </a:rPr>
              <a:t>py</a:t>
            </a:r>
            <a:endParaRPr lang="ru-RU" sz="2000" dirty="0">
              <a:solidFill>
                <a:schemeClr val="accent5"/>
              </a:solidFill>
            </a:endParaRPr>
          </a:p>
        </p:txBody>
      </p:sp>
      <p:sp>
        <p:nvSpPr>
          <p:cNvPr id="12" name="Блок-схема: типовой процесс 11"/>
          <p:cNvSpPr/>
          <p:nvPr/>
        </p:nvSpPr>
        <p:spPr>
          <a:xfrm>
            <a:off x="7753350" y="3821110"/>
            <a:ext cx="2905125" cy="1323974"/>
          </a:xfrm>
          <a:prstGeom prst="flowChartPredefinedProcess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accent5"/>
                </a:solidFill>
              </a:rPr>
              <a:t>ИНТЕРПРЕТАТОР</a:t>
            </a:r>
          </a:p>
        </p:txBody>
      </p:sp>
      <p:sp>
        <p:nvSpPr>
          <p:cNvPr id="13" name="Блок-схема: данные 12"/>
          <p:cNvSpPr/>
          <p:nvPr/>
        </p:nvSpPr>
        <p:spPr>
          <a:xfrm>
            <a:off x="6615112" y="5521320"/>
            <a:ext cx="1924050" cy="685800"/>
          </a:xfrm>
          <a:prstGeom prst="flowChartInputOutput">
            <a:avLst/>
          </a:prstGeom>
          <a:noFill/>
          <a:ln w="285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accent5"/>
                </a:solidFill>
              </a:rPr>
              <a:t>Данные</a:t>
            </a:r>
          </a:p>
        </p:txBody>
      </p:sp>
      <p:sp>
        <p:nvSpPr>
          <p:cNvPr id="14" name="Блок-схема: данные 13"/>
          <p:cNvSpPr/>
          <p:nvPr/>
        </p:nvSpPr>
        <p:spPr>
          <a:xfrm>
            <a:off x="9620250" y="5521320"/>
            <a:ext cx="2238375" cy="685800"/>
          </a:xfrm>
          <a:prstGeom prst="flowChartInputOutput">
            <a:avLst/>
          </a:prstGeom>
          <a:noFill/>
          <a:ln w="285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accent5"/>
                </a:solidFill>
              </a:rPr>
              <a:t>Результат</a:t>
            </a:r>
          </a:p>
        </p:txBody>
      </p:sp>
      <p:sp>
        <p:nvSpPr>
          <p:cNvPr id="15" name="Стрелка вправо 14"/>
          <p:cNvSpPr/>
          <p:nvPr/>
        </p:nvSpPr>
        <p:spPr>
          <a:xfrm>
            <a:off x="2647950" y="2806700"/>
            <a:ext cx="1143000" cy="2286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Стрелка вправо 15"/>
          <p:cNvSpPr/>
          <p:nvPr/>
        </p:nvSpPr>
        <p:spPr>
          <a:xfrm>
            <a:off x="2019300" y="4492619"/>
            <a:ext cx="1228725" cy="2381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Стрелка вправо 16"/>
          <p:cNvSpPr/>
          <p:nvPr/>
        </p:nvSpPr>
        <p:spPr>
          <a:xfrm rot="5400000">
            <a:off x="4662488" y="3616317"/>
            <a:ext cx="1143000" cy="2286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Стрелка вправо 17"/>
          <p:cNvSpPr/>
          <p:nvPr/>
        </p:nvSpPr>
        <p:spPr>
          <a:xfrm rot="5400000">
            <a:off x="4264816" y="5209377"/>
            <a:ext cx="762003" cy="24288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Стрелка вправо 18"/>
          <p:cNvSpPr/>
          <p:nvPr/>
        </p:nvSpPr>
        <p:spPr>
          <a:xfrm rot="5400000">
            <a:off x="8946354" y="3704432"/>
            <a:ext cx="762003" cy="24288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Стрелка вправо 19"/>
          <p:cNvSpPr/>
          <p:nvPr/>
        </p:nvSpPr>
        <p:spPr>
          <a:xfrm rot="19361442">
            <a:off x="7843798" y="5207833"/>
            <a:ext cx="1143000" cy="2286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Стрелка вправо 20"/>
          <p:cNvSpPr/>
          <p:nvPr/>
        </p:nvSpPr>
        <p:spPr>
          <a:xfrm rot="2226820">
            <a:off x="9725776" y="5271508"/>
            <a:ext cx="1143000" cy="2286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2865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кругленная прямоугольная выноска 2"/>
          <p:cNvSpPr/>
          <p:nvPr/>
        </p:nvSpPr>
        <p:spPr>
          <a:xfrm>
            <a:off x="485775" y="3229588"/>
            <a:ext cx="5064676" cy="2980712"/>
          </a:xfrm>
          <a:prstGeom prst="round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- Исполняемый файл выполняет только операции с данными. А интерпретатор помимо этих действий выполняет распознавание команд языка. Интерпретируемые программы медленнее </a:t>
            </a:r>
            <a:r>
              <a:rPr lang="ru-RU" sz="2400" dirty="0">
                <a:solidFill>
                  <a:schemeClr val="tx1"/>
                </a:solidFill>
                <a:latin typeface="Comic Sans MS" panose="030F0702030302020204" pitchFamily="66" charset="0"/>
                <a:sym typeface="Wingdings" panose="05000000000000000000" pitchFamily="2" charset="2"/>
              </a:rPr>
              <a:t>.</a:t>
            </a:r>
            <a:endParaRPr lang="ru-RU" sz="2400" dirty="0">
              <a:solidFill>
                <a:schemeClr val="tx1"/>
              </a:solidFill>
              <a:latin typeface="Comic Sans MS" panose="030F0702030302020204" pitchFamily="66" charset="0"/>
            </a:endParaRPr>
          </a:p>
        </p:txBody>
      </p:sp>
      <p:sp>
        <p:nvSpPr>
          <p:cNvPr id="10" name="Овальная выноска 5">
            <a:extLst>
              <a:ext uri="{FF2B5EF4-FFF2-40B4-BE49-F238E27FC236}">
                <a16:creationId xmlns:a16="http://schemas.microsoft.com/office/drawing/2014/main" id="{F64D4AB8-2CE2-4160-8BB1-F6042D26B51F}"/>
              </a:ext>
            </a:extLst>
          </p:cNvPr>
          <p:cNvSpPr/>
          <p:nvPr/>
        </p:nvSpPr>
        <p:spPr>
          <a:xfrm>
            <a:off x="6641551" y="3229587"/>
            <a:ext cx="5232949" cy="2605832"/>
          </a:xfrm>
          <a:prstGeom prst="round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Запустить программу можно только на компьютере, где установлен </a:t>
            </a:r>
            <a:r>
              <a:rPr lang="en-US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Python</a:t>
            </a:r>
            <a:r>
              <a:rPr lang="ru-RU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. </a:t>
            </a:r>
          </a:p>
          <a:p>
            <a:r>
              <a:rPr lang="ru-RU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Если его нет – можно разве что читать программу в Блокноте.</a:t>
            </a:r>
          </a:p>
        </p:txBody>
      </p:sp>
      <p:sp>
        <p:nvSpPr>
          <p:cNvPr id="11" name="Облачко с текстом: прямоугольное со скругленными углами 10">
            <a:extLst>
              <a:ext uri="{FF2B5EF4-FFF2-40B4-BE49-F238E27FC236}">
                <a16:creationId xmlns:a16="http://schemas.microsoft.com/office/drawing/2014/main" id="{12DA5F51-E375-4B92-9F3F-695D64E7F3FA}"/>
              </a:ext>
            </a:extLst>
          </p:cNvPr>
          <p:cNvSpPr/>
          <p:nvPr/>
        </p:nvSpPr>
        <p:spPr>
          <a:xfrm>
            <a:off x="383905" y="236347"/>
            <a:ext cx="4048395" cy="1605154"/>
          </a:xfrm>
          <a:prstGeom prst="wedgeRoundRectCallout">
            <a:avLst>
              <a:gd name="adj1" fmla="val -25026"/>
              <a:gd name="adj2" fmla="val 111058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>
                <a:solidFill>
                  <a:schemeClr val="bg1"/>
                </a:solidFill>
                <a:latin typeface="Comic Sans MS" panose="030F0702030302020204" pitchFamily="66" charset="0"/>
              </a:rPr>
              <a:t>Какая программа работает быстрее – скомпилированная или интерпретируемая?</a:t>
            </a:r>
          </a:p>
        </p:txBody>
      </p:sp>
      <p:sp>
        <p:nvSpPr>
          <p:cNvPr id="12" name="Облачко с текстом: прямоугольное со скругленными углами 11">
            <a:extLst>
              <a:ext uri="{FF2B5EF4-FFF2-40B4-BE49-F238E27FC236}">
                <a16:creationId xmlns:a16="http://schemas.microsoft.com/office/drawing/2014/main" id="{CE38684F-E608-4B2F-BB37-80E69A57FD12}"/>
              </a:ext>
            </a:extLst>
          </p:cNvPr>
          <p:cNvSpPr/>
          <p:nvPr/>
        </p:nvSpPr>
        <p:spPr>
          <a:xfrm>
            <a:off x="6477001" y="236346"/>
            <a:ext cx="5008422" cy="1605155"/>
          </a:xfrm>
          <a:prstGeom prst="wedgeRoundRectCallout">
            <a:avLst>
              <a:gd name="adj1" fmla="val -19975"/>
              <a:gd name="adj2" fmla="val 139752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>
                <a:solidFill>
                  <a:schemeClr val="bg1"/>
                </a:solidFill>
                <a:latin typeface="Comic Sans MS" panose="030F0702030302020204" pitchFamily="66" charset="0"/>
              </a:rPr>
              <a:t>А как сделать программу на </a:t>
            </a:r>
            <a:r>
              <a:rPr lang="en-US" sz="2400" dirty="0">
                <a:solidFill>
                  <a:schemeClr val="bg1"/>
                </a:solidFill>
                <a:latin typeface="Comic Sans MS" panose="030F0702030302020204" pitchFamily="66" charset="0"/>
              </a:rPr>
              <a:t>Python </a:t>
            </a:r>
            <a:r>
              <a:rPr lang="ru-RU" sz="2400" dirty="0">
                <a:solidFill>
                  <a:schemeClr val="bg1"/>
                </a:solidFill>
                <a:latin typeface="Comic Sans MS" panose="030F0702030302020204" pitchFamily="66" charset="0"/>
              </a:rPr>
              <a:t>файлом? И как её потом запустить?</a:t>
            </a:r>
          </a:p>
          <a:p>
            <a:pPr algn="ctr"/>
            <a:endParaRPr lang="ru-RU" sz="2400" dirty="0">
              <a:solidFill>
                <a:schemeClr val="bg1"/>
              </a:solidFill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138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0" grpId="0"/>
      <p:bldP spid="11" grpId="0" animBg="1"/>
      <p:bldP spid="1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01" y="72605"/>
            <a:ext cx="6046804" cy="6647371"/>
          </a:xfrm>
          <a:prstGeom prst="rect">
            <a:avLst/>
          </a:prstGeom>
        </p:spPr>
      </p:pic>
      <p:sp>
        <p:nvSpPr>
          <p:cNvPr id="3" name="Выноска-облако 2"/>
          <p:cNvSpPr/>
          <p:nvPr/>
        </p:nvSpPr>
        <p:spPr>
          <a:xfrm>
            <a:off x="2855343" y="4925682"/>
            <a:ext cx="4106174" cy="1682151"/>
          </a:xfrm>
          <a:prstGeom prst="cloudCallout">
            <a:avLst>
              <a:gd name="adj1" fmla="val -56489"/>
              <a:gd name="adj2" fmla="val 43214"/>
            </a:avLst>
          </a:prstGeom>
          <a:ln w="28575"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dk1"/>
                </a:solidFill>
              </a:rPr>
              <a:t>- Почему языков программирования так много?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7065" y="215660"/>
            <a:ext cx="2587105" cy="3473479"/>
          </a:xfrm>
          <a:prstGeom prst="rect">
            <a:avLst/>
          </a:prstGeom>
        </p:spPr>
      </p:pic>
      <p:sp>
        <p:nvSpPr>
          <p:cNvPr id="5" name="Выноска-облако 4"/>
          <p:cNvSpPr/>
          <p:nvPr/>
        </p:nvSpPr>
        <p:spPr>
          <a:xfrm>
            <a:off x="4967419" y="1748645"/>
            <a:ext cx="4106174" cy="2146181"/>
          </a:xfrm>
          <a:prstGeom prst="cloudCallout">
            <a:avLst>
              <a:gd name="adj1" fmla="val 65360"/>
              <a:gd name="adj2" fmla="val -33709"/>
            </a:avLst>
          </a:prstGeom>
          <a:ln w="28575"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dk1"/>
                </a:solidFill>
              </a:rPr>
              <a:t>- Вас это удивляет? А почему так много марок автомобилей или видов йогуртов?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9100655" y="3781688"/>
            <a:ext cx="2892054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err="1"/>
              <a:t>Эдсгер</a:t>
            </a:r>
            <a:r>
              <a:rPr lang="ru-RU" b="1" dirty="0"/>
              <a:t> </a:t>
            </a:r>
            <a:r>
              <a:rPr lang="ru-RU" b="1" dirty="0" err="1"/>
              <a:t>Вибе</a:t>
            </a:r>
            <a:r>
              <a:rPr lang="ru-RU" b="1" dirty="0"/>
              <a:t> </a:t>
            </a:r>
            <a:r>
              <a:rPr lang="ru-RU" b="1" dirty="0" err="1"/>
              <a:t>Дейкстра</a:t>
            </a:r>
            <a:r>
              <a:rPr lang="ru-RU" b="1" dirty="0"/>
              <a:t>, автор концепции структурного программирования и некоторых классических алгоритмов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2883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979CFB-0F45-464D-9FE2-1818DB81B4C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Взаимодействие с </a:t>
            </a:r>
            <a:r>
              <a:rPr lang="en-US" dirty="0"/>
              <a:t>Python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D66A765-D214-4B2E-BAB4-303E087B8F7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38023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74ACC869-FC10-455E-A917-E10696A11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Интерактивный режим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FBF3C5F-35FB-4F24-8231-2C823C6639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9359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ADF06F6-CB9C-4DE5-AB72-44F89ECF5F43}"/>
              </a:ext>
            </a:extLst>
          </p:cNvPr>
          <p:cNvSpPr txBox="1"/>
          <p:nvPr/>
        </p:nvSpPr>
        <p:spPr>
          <a:xfrm>
            <a:off x="884791" y="1012723"/>
            <a:ext cx="9281652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>
                <a:solidFill>
                  <a:srgbClr val="7030A0"/>
                </a:solidFill>
              </a:rPr>
              <a:t>&gt;&gt;&gt;</a:t>
            </a:r>
            <a:r>
              <a:rPr lang="ru-RU" sz="3200" dirty="0"/>
              <a:t> 3</a:t>
            </a:r>
            <a:r>
              <a:rPr lang="en-US" sz="3200" dirty="0"/>
              <a:t> </a:t>
            </a:r>
            <a:r>
              <a:rPr lang="ru-RU" sz="3200" dirty="0"/>
              <a:t>+</a:t>
            </a:r>
            <a:r>
              <a:rPr lang="en-US" sz="3200" dirty="0"/>
              <a:t> </a:t>
            </a:r>
            <a:r>
              <a:rPr lang="ru-RU" sz="3200" dirty="0"/>
              <a:t>2</a:t>
            </a:r>
          </a:p>
          <a:p>
            <a:r>
              <a:rPr lang="ru-RU" sz="3200" dirty="0">
                <a:solidFill>
                  <a:schemeClr val="bg2">
                    <a:lumMod val="50000"/>
                  </a:schemeClr>
                </a:solidFill>
              </a:rPr>
              <a:t>5</a:t>
            </a:r>
          </a:p>
          <a:p>
            <a:r>
              <a:rPr lang="ru-RU" sz="3200" dirty="0">
                <a:solidFill>
                  <a:srgbClr val="7030A0"/>
                </a:solidFill>
              </a:rPr>
              <a:t>&gt;&gt;&gt;</a:t>
            </a:r>
            <a:r>
              <a:rPr lang="ru-RU" sz="3200" dirty="0"/>
              <a:t> 12</a:t>
            </a:r>
            <a:r>
              <a:rPr lang="en-US" sz="3200" dirty="0"/>
              <a:t> </a:t>
            </a:r>
            <a:r>
              <a:rPr lang="ru-RU" sz="3200" dirty="0"/>
              <a:t>+</a:t>
            </a:r>
            <a:r>
              <a:rPr lang="en-US" sz="3200" dirty="0"/>
              <a:t> </a:t>
            </a:r>
            <a:r>
              <a:rPr lang="ru-RU" sz="3200" dirty="0"/>
              <a:t>3</a:t>
            </a:r>
            <a:r>
              <a:rPr lang="en-US" sz="3200" dirty="0"/>
              <a:t> </a:t>
            </a:r>
            <a:r>
              <a:rPr lang="ru-RU" sz="3200" dirty="0"/>
              <a:t>*</a:t>
            </a:r>
            <a:r>
              <a:rPr lang="en-US" sz="3200" dirty="0"/>
              <a:t> </a:t>
            </a:r>
            <a:r>
              <a:rPr lang="ru-RU" sz="3200" dirty="0"/>
              <a:t>8</a:t>
            </a:r>
          </a:p>
          <a:p>
            <a:r>
              <a:rPr lang="ru-RU" sz="3200" dirty="0">
                <a:solidFill>
                  <a:schemeClr val="bg2">
                    <a:lumMod val="50000"/>
                  </a:schemeClr>
                </a:solidFill>
              </a:rPr>
              <a:t>36</a:t>
            </a:r>
          </a:p>
          <a:p>
            <a:r>
              <a:rPr lang="ru-RU" sz="3200" dirty="0">
                <a:solidFill>
                  <a:srgbClr val="7030A0"/>
                </a:solidFill>
              </a:rPr>
              <a:t>&gt;&gt;&gt;</a:t>
            </a:r>
            <a:r>
              <a:rPr lang="ru-RU" sz="3200" dirty="0"/>
              <a:t> (12</a:t>
            </a:r>
            <a:r>
              <a:rPr lang="en-US" sz="3200" dirty="0"/>
              <a:t> </a:t>
            </a:r>
            <a:r>
              <a:rPr lang="ru-RU" sz="3200" dirty="0"/>
              <a:t>+</a:t>
            </a:r>
            <a:r>
              <a:rPr lang="en-US" sz="3200" dirty="0"/>
              <a:t> </a:t>
            </a:r>
            <a:r>
              <a:rPr lang="ru-RU" sz="3200" dirty="0"/>
              <a:t>3)</a:t>
            </a:r>
            <a:r>
              <a:rPr lang="en-US" sz="3200" dirty="0"/>
              <a:t> </a:t>
            </a:r>
            <a:r>
              <a:rPr lang="ru-RU" sz="3200" dirty="0"/>
              <a:t>*</a:t>
            </a:r>
            <a:r>
              <a:rPr lang="en-US" sz="3200" dirty="0"/>
              <a:t> </a:t>
            </a:r>
            <a:r>
              <a:rPr lang="ru-RU" sz="3200" dirty="0"/>
              <a:t>8</a:t>
            </a:r>
          </a:p>
          <a:p>
            <a:r>
              <a:rPr lang="ru-RU" sz="3200" dirty="0">
                <a:solidFill>
                  <a:schemeClr val="bg2">
                    <a:lumMod val="50000"/>
                  </a:schemeClr>
                </a:solidFill>
              </a:rPr>
              <a:t>120</a:t>
            </a:r>
          </a:p>
          <a:p>
            <a:r>
              <a:rPr lang="ru-RU" sz="3200" dirty="0">
                <a:solidFill>
                  <a:srgbClr val="7030A0"/>
                </a:solidFill>
              </a:rPr>
              <a:t>&gt;&gt;&gt;</a:t>
            </a:r>
            <a:r>
              <a:rPr lang="ru-RU" sz="3200" dirty="0"/>
              <a:t> 1234569999999</a:t>
            </a:r>
            <a:r>
              <a:rPr lang="en-US" sz="3200" dirty="0"/>
              <a:t> </a:t>
            </a:r>
            <a:r>
              <a:rPr lang="ru-RU" sz="3200" dirty="0"/>
              <a:t>*</a:t>
            </a:r>
            <a:r>
              <a:rPr lang="en-US" sz="3200" dirty="0"/>
              <a:t> </a:t>
            </a:r>
            <a:r>
              <a:rPr lang="ru-RU" sz="3200" dirty="0"/>
              <a:t>12658888888888</a:t>
            </a:r>
          </a:p>
          <a:p>
            <a:r>
              <a:rPr lang="ru-RU" sz="3200" dirty="0">
                <a:solidFill>
                  <a:schemeClr val="bg2">
                    <a:lumMod val="50000"/>
                  </a:schemeClr>
                </a:solidFill>
              </a:rPr>
              <a:t>15628284455541799271111112</a:t>
            </a:r>
          </a:p>
          <a:p>
            <a:r>
              <a:rPr lang="ru-RU" sz="3200" dirty="0">
                <a:solidFill>
                  <a:srgbClr val="7030A0"/>
                </a:solidFill>
              </a:rPr>
              <a:t>&gt;&gt;&gt;</a:t>
            </a:r>
            <a:r>
              <a:rPr lang="ru-RU" sz="32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ru-RU" sz="3200" dirty="0"/>
              <a:t>2</a:t>
            </a:r>
            <a:r>
              <a:rPr lang="en-US" sz="3200" dirty="0"/>
              <a:t> </a:t>
            </a:r>
            <a:r>
              <a:rPr lang="ru-RU" sz="3200" dirty="0"/>
              <a:t>**</a:t>
            </a:r>
            <a:r>
              <a:rPr lang="en-US" sz="3200" dirty="0"/>
              <a:t> </a:t>
            </a:r>
            <a:r>
              <a:rPr lang="ru-RU" sz="3200" dirty="0"/>
              <a:t>8</a:t>
            </a:r>
          </a:p>
          <a:p>
            <a:r>
              <a:rPr lang="ru-RU" sz="3200" dirty="0">
                <a:solidFill>
                  <a:schemeClr val="bg2">
                    <a:lumMod val="50000"/>
                  </a:schemeClr>
                </a:solidFill>
              </a:rPr>
              <a:t>256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2C1AA7-A9B5-4FA2-A203-DBF998D2E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598300"/>
          </a:xfrm>
        </p:spPr>
        <p:txBody>
          <a:bodyPr>
            <a:normAutofit/>
          </a:bodyPr>
          <a:lstStyle/>
          <a:p>
            <a:r>
              <a:rPr lang="ru-RU" sz="36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Comic Sans MS" panose="030F0702030302020204" pitchFamily="66" charset="0"/>
                <a:ea typeface="+mn-ea"/>
                <a:cs typeface="+mn-cs"/>
              </a:rPr>
              <a:t>Калькулятор</a:t>
            </a:r>
          </a:p>
        </p:txBody>
      </p:sp>
      <p:sp>
        <p:nvSpPr>
          <p:cNvPr id="5" name="Облачко с текстом: прямоугольное со скругленными углами 4">
            <a:extLst>
              <a:ext uri="{FF2B5EF4-FFF2-40B4-BE49-F238E27FC236}">
                <a16:creationId xmlns:a16="http://schemas.microsoft.com/office/drawing/2014/main" id="{4AD32DD7-3ADF-44F2-84E2-F80AA835466D}"/>
              </a:ext>
            </a:extLst>
          </p:cNvPr>
          <p:cNvSpPr/>
          <p:nvPr/>
        </p:nvSpPr>
        <p:spPr>
          <a:xfrm>
            <a:off x="3946468" y="5151120"/>
            <a:ext cx="2528377" cy="694157"/>
          </a:xfrm>
          <a:prstGeom prst="wedgeRoundRectCallout">
            <a:avLst>
              <a:gd name="adj1" fmla="val -97256"/>
              <a:gd name="adj2" fmla="val -36883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latin typeface="Comic Sans MS" panose="030F0702030302020204" pitchFamily="66" charset="0"/>
              </a:rPr>
              <a:t>Что это за операция?</a:t>
            </a:r>
          </a:p>
        </p:txBody>
      </p:sp>
      <p:sp>
        <p:nvSpPr>
          <p:cNvPr id="6" name="Облачко с текстом: прямоугольное со скругленными углами 5">
            <a:extLst>
              <a:ext uri="{FF2B5EF4-FFF2-40B4-BE49-F238E27FC236}">
                <a16:creationId xmlns:a16="http://schemas.microsoft.com/office/drawing/2014/main" id="{F8FF1F07-76A3-4C23-B3F9-E4EB56D5B3AF}"/>
              </a:ext>
            </a:extLst>
          </p:cNvPr>
          <p:cNvSpPr/>
          <p:nvPr/>
        </p:nvSpPr>
        <p:spPr>
          <a:xfrm>
            <a:off x="8778832" y="3598606"/>
            <a:ext cx="2970716" cy="1368991"/>
          </a:xfrm>
          <a:prstGeom prst="wedgeRoundRectCallout">
            <a:avLst>
              <a:gd name="adj1" fmla="val -93284"/>
              <a:gd name="adj2" fmla="val -5282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latin typeface="Comic Sans MS" panose="030F0702030302020204" pitchFamily="66" charset="0"/>
              </a:rPr>
              <a:t>Размер целых чисел в </a:t>
            </a:r>
            <a:r>
              <a:rPr lang="en-US" dirty="0">
                <a:latin typeface="Comic Sans MS" panose="030F0702030302020204" pitchFamily="66" charset="0"/>
              </a:rPr>
              <a:t>Python</a:t>
            </a:r>
            <a:r>
              <a:rPr lang="ru-RU" dirty="0">
                <a:latin typeface="Comic Sans MS" panose="030F0702030302020204" pitchFamily="66" charset="0"/>
              </a:rPr>
              <a:t> ограничивается только размером памяти</a:t>
            </a:r>
          </a:p>
        </p:txBody>
      </p:sp>
      <p:sp>
        <p:nvSpPr>
          <p:cNvPr id="7" name="Облачко с текстом: прямоугольное со скругленными углами 6">
            <a:extLst>
              <a:ext uri="{FF2B5EF4-FFF2-40B4-BE49-F238E27FC236}">
                <a16:creationId xmlns:a16="http://schemas.microsoft.com/office/drawing/2014/main" id="{08E09FEF-D9E9-4AD7-B04E-A2F494A6D345}"/>
              </a:ext>
            </a:extLst>
          </p:cNvPr>
          <p:cNvSpPr/>
          <p:nvPr/>
        </p:nvSpPr>
        <p:spPr>
          <a:xfrm>
            <a:off x="4982924" y="2017422"/>
            <a:ext cx="2528377" cy="914400"/>
          </a:xfrm>
          <a:prstGeom prst="wedgeRoundRectCallout">
            <a:avLst>
              <a:gd name="adj1" fmla="val -105034"/>
              <a:gd name="adj2" fmla="val -29356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latin typeface="Comic Sans MS" panose="030F0702030302020204" pitchFamily="66" charset="0"/>
              </a:rPr>
              <a:t>Приоритеты операций</a:t>
            </a:r>
          </a:p>
        </p:txBody>
      </p:sp>
    </p:spTree>
    <p:extLst>
      <p:ext uri="{BB962C8B-B14F-4D97-AF65-F5344CB8AC3E}">
        <p14:creationId xmlns:p14="http://schemas.microsoft.com/office/powerpoint/2010/main" val="658839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6" grpId="0" animBg="1"/>
      <p:bldP spid="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9BF5E92-91A5-4F59-8754-000AC0A5B359}"/>
              </a:ext>
            </a:extLst>
          </p:cNvPr>
          <p:cNvSpPr txBox="1"/>
          <p:nvPr/>
        </p:nvSpPr>
        <p:spPr>
          <a:xfrm>
            <a:off x="377104" y="2472126"/>
            <a:ext cx="1118841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2800" b="0" i="0" dirty="0">
                <a:solidFill>
                  <a:srgbClr val="212529"/>
                </a:solidFill>
                <a:effectLst/>
                <a:latin typeface="-apple-system"/>
              </a:rPr>
              <a:t>Если в </a:t>
            </a:r>
            <a:r>
              <a:rPr lang="ru-RU" sz="2800" b="0" i="0" dirty="0" err="1">
                <a:solidFill>
                  <a:srgbClr val="212529"/>
                </a:solidFill>
                <a:effectLst/>
                <a:latin typeface="-apple-system"/>
              </a:rPr>
              <a:t>Python</a:t>
            </a:r>
            <a:r>
              <a:rPr lang="ru-RU" sz="2800" b="0" i="0" dirty="0">
                <a:solidFill>
                  <a:srgbClr val="212529"/>
                </a:solidFill>
                <a:effectLst/>
                <a:latin typeface="-apple-system"/>
              </a:rPr>
              <a:t> </a:t>
            </a:r>
            <a:r>
              <a:rPr lang="ru-RU" sz="2800" b="0" i="0" dirty="0" err="1">
                <a:solidFill>
                  <a:srgbClr val="212529"/>
                </a:solidFill>
                <a:effectLst/>
                <a:latin typeface="-apple-system"/>
              </a:rPr>
              <a:t>Shell</a:t>
            </a:r>
            <a:r>
              <a:rPr lang="ru-RU" sz="2800" b="0" i="0" dirty="0">
                <a:solidFill>
                  <a:srgbClr val="212529"/>
                </a:solidFill>
                <a:effectLst/>
                <a:latin typeface="-apple-system"/>
              </a:rPr>
              <a:t> вставка с помощью </a:t>
            </a:r>
            <a:r>
              <a:rPr lang="ru-RU" sz="2800" b="0" i="0" dirty="0" err="1">
                <a:solidFill>
                  <a:srgbClr val="212529"/>
                </a:solidFill>
                <a:effectLst/>
                <a:latin typeface="-apple-system"/>
              </a:rPr>
              <a:t>Ctrl</a:t>
            </a:r>
            <a:r>
              <a:rPr lang="ru-RU" sz="2800" b="0" i="0" dirty="0">
                <a:solidFill>
                  <a:srgbClr val="212529"/>
                </a:solidFill>
                <a:effectLst/>
                <a:latin typeface="-apple-system"/>
              </a:rPr>
              <a:t> + V не сработает  - перейдите на </a:t>
            </a:r>
            <a:r>
              <a:rPr lang="ru-RU" sz="2800" b="0" i="0" dirty="0" err="1">
                <a:solidFill>
                  <a:srgbClr val="212529"/>
                </a:solidFill>
                <a:effectLst/>
                <a:latin typeface="-apple-system"/>
              </a:rPr>
              <a:t>En</a:t>
            </a:r>
            <a:r>
              <a:rPr lang="ru-RU" sz="2800" b="0" i="0" dirty="0">
                <a:solidFill>
                  <a:srgbClr val="212529"/>
                </a:solidFill>
                <a:effectLst/>
                <a:latin typeface="-apple-system"/>
              </a:rPr>
              <a:t> раскладку или используйте </a:t>
            </a:r>
            <a:r>
              <a:rPr lang="ru-RU" sz="2800" b="0" i="0" dirty="0" err="1">
                <a:solidFill>
                  <a:srgbClr val="212529"/>
                </a:solidFill>
                <a:effectLst/>
                <a:latin typeface="-apple-system"/>
              </a:rPr>
              <a:t>Edit</a:t>
            </a:r>
            <a:r>
              <a:rPr lang="ru-RU" sz="2800" b="0" i="0" dirty="0">
                <a:solidFill>
                  <a:srgbClr val="212529"/>
                </a:solidFill>
                <a:effectLst/>
                <a:latin typeface="-apple-system"/>
              </a:rPr>
              <a:t> - </a:t>
            </a:r>
            <a:r>
              <a:rPr lang="ru-RU" sz="2800" b="0" i="0" dirty="0" err="1">
                <a:solidFill>
                  <a:srgbClr val="212529"/>
                </a:solidFill>
                <a:effectLst/>
                <a:latin typeface="-apple-system"/>
              </a:rPr>
              <a:t>Past</a:t>
            </a:r>
            <a:r>
              <a:rPr lang="ru-RU" sz="2800" b="0" i="0" dirty="0">
                <a:solidFill>
                  <a:srgbClr val="212529"/>
                </a:solidFill>
                <a:effectLst/>
                <a:latin typeface="-apple-system"/>
              </a:rPr>
              <a:t>.</a:t>
            </a:r>
          </a:p>
          <a:p>
            <a:pPr algn="l"/>
            <a:endParaRPr lang="ru-RU" sz="2800" b="0" i="0" dirty="0">
              <a:solidFill>
                <a:srgbClr val="212529"/>
              </a:solidFill>
              <a:effectLst/>
              <a:latin typeface="-apple-system"/>
            </a:endParaRPr>
          </a:p>
          <a:p>
            <a:pPr algn="l"/>
            <a:endParaRPr lang="en-US" sz="2800" dirty="0">
              <a:solidFill>
                <a:srgbClr val="212529"/>
              </a:solidFill>
              <a:latin typeface="-apple-system"/>
            </a:endParaRPr>
          </a:p>
          <a:p>
            <a:pPr algn="l"/>
            <a:endParaRPr lang="ru-RU" sz="2800" b="0" i="0" dirty="0">
              <a:solidFill>
                <a:srgbClr val="212529"/>
              </a:solidFill>
              <a:effectLst/>
              <a:latin typeface="-apple-system"/>
            </a:endParaRP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1485E26A-2E0A-439E-A738-86D51226F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4800" b="0" i="0" dirty="0">
                <a:solidFill>
                  <a:srgbClr val="FF0000"/>
                </a:solidFill>
                <a:effectLst/>
                <a:latin typeface="-apple-system"/>
              </a:rPr>
              <a:t># это комментарий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04987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063B702C-DC27-41B4-AE57-253E720629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4360310"/>
              </p:ext>
            </p:extLst>
          </p:nvPr>
        </p:nvGraphicFramePr>
        <p:xfrm>
          <a:off x="522256" y="111885"/>
          <a:ext cx="10785764" cy="6091320"/>
        </p:xfrm>
        <a:graphic>
          <a:graphicData uri="http://schemas.openxmlformats.org/drawingml/2006/table">
            <a:tbl>
              <a:tblPr/>
              <a:tblGrid>
                <a:gridCol w="2260310">
                  <a:extLst>
                    <a:ext uri="{9D8B030D-6E8A-4147-A177-3AD203B41FA5}">
                      <a16:colId xmlns:a16="http://schemas.microsoft.com/office/drawing/2014/main" val="3045513957"/>
                    </a:ext>
                  </a:extLst>
                </a:gridCol>
                <a:gridCol w="8525454">
                  <a:extLst>
                    <a:ext uri="{9D8B030D-6E8A-4147-A177-3AD203B41FA5}">
                      <a16:colId xmlns:a16="http://schemas.microsoft.com/office/drawing/2014/main" val="136824881"/>
                    </a:ext>
                  </a:extLst>
                </a:gridCol>
              </a:tblGrid>
              <a:tr h="536180"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>
                          <a:effectLst/>
                        </a:rPr>
                        <a:t>Сочетание клавиш</a:t>
                      </a:r>
                      <a:endParaRPr lang="ru-RU" sz="1800" dirty="0">
                        <a:effectLst/>
                      </a:endParaRPr>
                    </a:p>
                  </a:txBody>
                  <a:tcPr marL="6874" marR="6874" marT="6874" marB="687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>
                          <a:effectLst/>
                        </a:rPr>
                        <a:t>Назначение</a:t>
                      </a:r>
                      <a:endParaRPr lang="ru-RU" sz="1800" dirty="0">
                        <a:effectLst/>
                      </a:endParaRPr>
                    </a:p>
                  </a:txBody>
                  <a:tcPr marL="6874" marR="6874" marT="6874" marB="687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6084571"/>
                  </a:ext>
                </a:extLst>
              </a:tr>
              <a:tr h="53618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effectLst/>
                        </a:rPr>
                        <a:t>Alt + P</a:t>
                      </a:r>
                      <a:br>
                        <a:rPr lang="en-US" sz="1800" b="1" dirty="0">
                          <a:effectLst/>
                        </a:rPr>
                      </a:br>
                      <a:r>
                        <a:rPr lang="en-US" sz="1800" b="1" dirty="0">
                          <a:effectLst/>
                        </a:rPr>
                        <a:t>Alt + N</a:t>
                      </a:r>
                      <a:endParaRPr lang="en-US" sz="1800" dirty="0">
                        <a:effectLst/>
                      </a:endParaRPr>
                    </a:p>
                  </a:txBody>
                  <a:tcPr marL="6874" marR="6874" marT="6874" marB="687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dirty="0">
                          <a:effectLst/>
                        </a:rPr>
                        <a:t>Перемещение по истории</a:t>
                      </a:r>
                      <a:br>
                        <a:rPr lang="ru-RU" sz="1800" dirty="0">
                          <a:effectLst/>
                        </a:rPr>
                      </a:br>
                      <a:r>
                        <a:rPr lang="ru-RU" sz="1800" dirty="0">
                          <a:effectLst/>
                        </a:rPr>
                        <a:t>в направлении начала сессии (</a:t>
                      </a:r>
                      <a:r>
                        <a:rPr lang="ru-RU" sz="1800" dirty="0" err="1">
                          <a:effectLst/>
                        </a:rPr>
                        <a:t>Shell</a:t>
                      </a:r>
                      <a:r>
                        <a:rPr lang="ru-RU" sz="1800" dirty="0">
                          <a:effectLst/>
                        </a:rPr>
                        <a:t> - </a:t>
                      </a:r>
                      <a:r>
                        <a:rPr lang="ru-RU" sz="1800" dirty="0" err="1">
                          <a:effectLst/>
                        </a:rPr>
                        <a:t>Previous</a:t>
                      </a:r>
                      <a:r>
                        <a:rPr lang="ru-RU" sz="1800" dirty="0">
                          <a:effectLst/>
                        </a:rPr>
                        <a:t> </a:t>
                      </a:r>
                      <a:r>
                        <a:rPr lang="ru-RU" sz="1800" dirty="0" err="1">
                          <a:effectLst/>
                        </a:rPr>
                        <a:t>History</a:t>
                      </a:r>
                      <a:r>
                        <a:rPr lang="ru-RU" sz="1800" dirty="0">
                          <a:effectLst/>
                        </a:rPr>
                        <a:t>)</a:t>
                      </a:r>
                      <a:br>
                        <a:rPr lang="ru-RU" sz="1800" dirty="0">
                          <a:effectLst/>
                        </a:rPr>
                      </a:br>
                      <a:r>
                        <a:rPr lang="ru-RU" sz="1800" dirty="0">
                          <a:effectLst/>
                        </a:rPr>
                        <a:t>в направлении конца сессии (</a:t>
                      </a:r>
                      <a:r>
                        <a:rPr lang="ru-RU" sz="1800" dirty="0" err="1">
                          <a:effectLst/>
                        </a:rPr>
                        <a:t>Shell</a:t>
                      </a:r>
                      <a:r>
                        <a:rPr lang="ru-RU" sz="1800" dirty="0">
                          <a:effectLst/>
                        </a:rPr>
                        <a:t> - </a:t>
                      </a:r>
                      <a:r>
                        <a:rPr lang="ru-RU" sz="1800" dirty="0" err="1">
                          <a:effectLst/>
                        </a:rPr>
                        <a:t>Next</a:t>
                      </a:r>
                      <a:r>
                        <a:rPr lang="ru-RU" sz="1800" dirty="0">
                          <a:effectLst/>
                        </a:rPr>
                        <a:t> </a:t>
                      </a:r>
                      <a:r>
                        <a:rPr lang="ru-RU" sz="1800" dirty="0" err="1">
                          <a:effectLst/>
                        </a:rPr>
                        <a:t>History</a:t>
                      </a:r>
                      <a:r>
                        <a:rPr lang="ru-RU" sz="1800" dirty="0">
                          <a:effectLst/>
                        </a:rPr>
                        <a:t>)</a:t>
                      </a:r>
                    </a:p>
                  </a:txBody>
                  <a:tcPr marL="6874" marR="6874" marT="6874" marB="687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1191719"/>
                  </a:ext>
                </a:extLst>
              </a:tr>
              <a:tr h="53618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effectLst/>
                        </a:rPr>
                        <a:t>Ctrl + space</a:t>
                      </a:r>
                      <a:endParaRPr lang="en-US" sz="1800" dirty="0">
                        <a:effectLst/>
                      </a:endParaRPr>
                    </a:p>
                  </a:txBody>
                  <a:tcPr marL="6874" marR="6874" marT="6874" marB="687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800" dirty="0">
                        <a:effectLst/>
                      </a:endParaRPr>
                    </a:p>
                    <a:p>
                      <a:r>
                        <a:rPr lang="ru-RU" sz="1800" dirty="0">
                          <a:effectLst/>
                        </a:rPr>
                        <a:t>Вызов динамической подсказки. Позволяет быстро набрать ключевое слово или имя функции. Работает в программном и интерактивном режиме. </a:t>
                      </a:r>
                    </a:p>
                  </a:txBody>
                  <a:tcPr marL="6874" marR="6874" marT="6874" marB="687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5833147"/>
                  </a:ext>
                </a:extLst>
              </a:tr>
              <a:tr h="805645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effectLst/>
                        </a:rPr>
                        <a:t>Alt + /</a:t>
                      </a:r>
                      <a:endParaRPr lang="en-US" sz="1800" dirty="0">
                        <a:effectLst/>
                      </a:endParaRPr>
                    </a:p>
                  </a:txBody>
                  <a:tcPr marL="6874" marR="6874" marT="6874" marB="687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800" dirty="0">
                        <a:effectLst/>
                      </a:endParaRPr>
                    </a:p>
                    <a:p>
                      <a:r>
                        <a:rPr lang="ru-RU" sz="1800" dirty="0">
                          <a:effectLst/>
                        </a:rPr>
                        <a:t>Это полезное сочетание позволит быстро вписать идентификатор</a:t>
                      </a:r>
                      <a:br>
                        <a:rPr lang="ru-RU" sz="1800" dirty="0">
                          <a:effectLst/>
                        </a:rPr>
                      </a:br>
                      <a:r>
                        <a:rPr lang="ru-RU" sz="1800" dirty="0">
                          <a:effectLst/>
                        </a:rPr>
                        <a:t> (имя переменной или функции) или ключевое слово, которые уже были использованы в коде.</a:t>
                      </a:r>
                      <a:br>
                        <a:rPr lang="ru-RU" sz="1800" dirty="0">
                          <a:effectLst/>
                        </a:rPr>
                      </a:br>
                      <a:r>
                        <a:rPr lang="ru-RU" sz="1800" dirty="0">
                          <a:effectLst/>
                        </a:rPr>
                        <a:t>Нужно набрать 1-ю букву, и тогда </a:t>
                      </a:r>
                      <a:r>
                        <a:rPr lang="ru-RU" sz="1800" b="1" dirty="0" err="1">
                          <a:effectLst/>
                        </a:rPr>
                        <a:t>Alt</a:t>
                      </a:r>
                      <a:r>
                        <a:rPr lang="ru-RU" sz="1800" b="1" dirty="0">
                          <a:effectLst/>
                        </a:rPr>
                        <a:t> + /</a:t>
                      </a:r>
                      <a:r>
                        <a:rPr lang="ru-RU" sz="1800" dirty="0">
                          <a:effectLst/>
                        </a:rPr>
                        <a:t> завершит название.</a:t>
                      </a:r>
                      <a:br>
                        <a:rPr lang="ru-RU" sz="1800" dirty="0">
                          <a:effectLst/>
                        </a:rPr>
                      </a:br>
                      <a:r>
                        <a:rPr lang="ru-RU" sz="1800" dirty="0">
                          <a:effectLst/>
                        </a:rPr>
                        <a:t>Если распознать нужное с первого раза не получится, то программа пробежится по тем, которые во время работы начинались с указанной буквы или букв и предложит их по очереди при повторном нажатии.</a:t>
                      </a:r>
                      <a:br>
                        <a:rPr lang="ru-RU" sz="1800" dirty="0">
                          <a:effectLst/>
                        </a:rPr>
                      </a:br>
                      <a:endParaRPr lang="ru-RU" sz="1800" dirty="0">
                        <a:effectLst/>
                      </a:endParaRPr>
                    </a:p>
                  </a:txBody>
                  <a:tcPr marL="6874" marR="6874" marT="6874" marB="687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1634109"/>
                  </a:ext>
                </a:extLst>
              </a:tr>
              <a:tr h="53618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effectLst/>
                        </a:rPr>
                        <a:t>Ctrl + Delete</a:t>
                      </a:r>
                      <a:br>
                        <a:rPr lang="en-US" sz="1800" b="1" dirty="0">
                          <a:effectLst/>
                        </a:rPr>
                      </a:br>
                      <a:r>
                        <a:rPr lang="en-US" sz="1800" b="1" dirty="0">
                          <a:effectLst/>
                        </a:rPr>
                        <a:t>Ctrl + Backspace</a:t>
                      </a:r>
                      <a:endParaRPr lang="en-US" sz="1800" dirty="0">
                        <a:effectLst/>
                      </a:endParaRPr>
                    </a:p>
                  </a:txBody>
                  <a:tcPr marL="6874" marR="6874" marT="6874" marB="687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dirty="0">
                          <a:effectLst/>
                        </a:rPr>
                        <a:t>Удаление целого слова справа от курсора</a:t>
                      </a:r>
                      <a:br>
                        <a:rPr lang="ru-RU" sz="1800" dirty="0">
                          <a:effectLst/>
                        </a:rPr>
                      </a:br>
                      <a:r>
                        <a:rPr lang="ru-RU" sz="1800" dirty="0">
                          <a:effectLst/>
                        </a:rPr>
                        <a:t>Аналогично слева от курсора</a:t>
                      </a:r>
                    </a:p>
                  </a:txBody>
                  <a:tcPr marL="6874" marR="6874" marT="6874" marB="687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3383619"/>
                  </a:ext>
                </a:extLst>
              </a:tr>
              <a:tr h="53618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effectLst/>
                        </a:rPr>
                        <a:t>Alt + 3</a:t>
                      </a:r>
                      <a:br>
                        <a:rPr lang="en-US" sz="1800" b="1" dirty="0">
                          <a:effectLst/>
                        </a:rPr>
                      </a:br>
                      <a:r>
                        <a:rPr lang="en-US" sz="1800" b="1" dirty="0">
                          <a:effectLst/>
                        </a:rPr>
                        <a:t>Alt + 4</a:t>
                      </a:r>
                      <a:endParaRPr lang="en-US" sz="1800" dirty="0">
                        <a:effectLst/>
                      </a:endParaRPr>
                    </a:p>
                  </a:txBody>
                  <a:tcPr marL="6874" marR="6874" marT="6874" marB="687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800" dirty="0">
                        <a:effectLst/>
                      </a:endParaRPr>
                    </a:p>
                    <a:p>
                      <a:r>
                        <a:rPr lang="ru-RU" sz="1800" dirty="0">
                          <a:effectLst/>
                        </a:rPr>
                        <a:t>Закомментировать строчку (</a:t>
                      </a:r>
                      <a:r>
                        <a:rPr lang="en-US" sz="1800" dirty="0">
                          <a:effectLst/>
                        </a:rPr>
                        <a:t>Format - Comment Out Region)</a:t>
                      </a:r>
                      <a:br>
                        <a:rPr lang="en-US" sz="1800" dirty="0">
                          <a:effectLst/>
                        </a:rPr>
                      </a:br>
                      <a:r>
                        <a:rPr lang="ru-RU" sz="1800" dirty="0" err="1">
                          <a:effectLst/>
                        </a:rPr>
                        <a:t>Раскомментировать</a:t>
                      </a:r>
                      <a:r>
                        <a:rPr lang="ru-RU" sz="1800" dirty="0">
                          <a:effectLst/>
                        </a:rPr>
                        <a:t> строчку (</a:t>
                      </a:r>
                      <a:r>
                        <a:rPr lang="en-US" sz="1800" dirty="0">
                          <a:effectLst/>
                        </a:rPr>
                        <a:t>Format - Uncomment Region)</a:t>
                      </a:r>
                    </a:p>
                  </a:txBody>
                  <a:tcPr marL="6874" marR="6874" marT="6874" marB="687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75316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755665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136E7FD-A4C3-47B6-9135-BF2D1531D104}"/>
              </a:ext>
            </a:extLst>
          </p:cNvPr>
          <p:cNvSpPr txBox="1"/>
          <p:nvPr/>
        </p:nvSpPr>
        <p:spPr>
          <a:xfrm>
            <a:off x="511717" y="1080988"/>
            <a:ext cx="9281652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7030A0"/>
                </a:solidFill>
              </a:rPr>
              <a:t>&gt;&gt;&gt; print</a:t>
            </a:r>
            <a:r>
              <a:rPr lang="en-US" sz="3200" dirty="0"/>
              <a:t>(</a:t>
            </a:r>
            <a:r>
              <a:rPr lang="en-US" sz="3200" dirty="0">
                <a:solidFill>
                  <a:srgbClr val="00B050"/>
                </a:solidFill>
              </a:rPr>
              <a:t>'Cat’ </a:t>
            </a:r>
            <a:r>
              <a:rPr lang="ru-RU" sz="3200" dirty="0">
                <a:solidFill>
                  <a:srgbClr val="00B050"/>
                </a:solidFill>
              </a:rPr>
              <a:t> </a:t>
            </a:r>
            <a:r>
              <a:rPr lang="en-US" sz="3200" dirty="0">
                <a:solidFill>
                  <a:srgbClr val="00B050"/>
                </a:solidFill>
              </a:rPr>
              <a:t>+</a:t>
            </a:r>
            <a:r>
              <a:rPr lang="ru-RU" sz="3200" dirty="0">
                <a:solidFill>
                  <a:srgbClr val="00B050"/>
                </a:solidFill>
              </a:rPr>
              <a:t> </a:t>
            </a:r>
            <a:r>
              <a:rPr lang="en-US" sz="3200" dirty="0">
                <a:solidFill>
                  <a:srgbClr val="00B050"/>
                </a:solidFill>
              </a:rPr>
              <a:t>'Mouse’</a:t>
            </a:r>
            <a:r>
              <a:rPr lang="en-US" sz="3200" dirty="0"/>
              <a:t>)</a:t>
            </a:r>
          </a:p>
          <a:p>
            <a:r>
              <a:rPr lang="en-US" sz="3200" dirty="0" err="1">
                <a:solidFill>
                  <a:srgbClr val="0070C0"/>
                </a:solidFill>
              </a:rPr>
              <a:t>CatMouse</a:t>
            </a:r>
            <a:endParaRPr lang="en-US" sz="3200" dirty="0">
              <a:solidFill>
                <a:srgbClr val="0070C0"/>
              </a:solidFill>
            </a:endParaRPr>
          </a:p>
          <a:p>
            <a:r>
              <a:rPr lang="en-US" sz="3200" dirty="0">
                <a:solidFill>
                  <a:srgbClr val="7030A0"/>
                </a:solidFill>
              </a:rPr>
              <a:t>&gt;&gt;&gt; print</a:t>
            </a:r>
            <a:r>
              <a:rPr lang="en-US" sz="3200" dirty="0"/>
              <a:t>(</a:t>
            </a:r>
            <a:r>
              <a:rPr lang="en-US" sz="3200" dirty="0">
                <a:solidFill>
                  <a:srgbClr val="00B050"/>
                </a:solidFill>
              </a:rPr>
              <a:t>“Cat” </a:t>
            </a:r>
            <a:r>
              <a:rPr lang="ru-RU" sz="3200" dirty="0">
                <a:solidFill>
                  <a:srgbClr val="00B050"/>
                </a:solidFill>
              </a:rPr>
              <a:t> </a:t>
            </a:r>
            <a:r>
              <a:rPr lang="en-US" sz="3200" dirty="0">
                <a:solidFill>
                  <a:srgbClr val="00B050"/>
                </a:solidFill>
              </a:rPr>
              <a:t>+</a:t>
            </a:r>
            <a:r>
              <a:rPr lang="ru-RU" sz="3200" dirty="0">
                <a:solidFill>
                  <a:srgbClr val="00B050"/>
                </a:solidFill>
              </a:rPr>
              <a:t> </a:t>
            </a:r>
            <a:r>
              <a:rPr lang="en-US" sz="3200" dirty="0">
                <a:solidFill>
                  <a:srgbClr val="00B050"/>
                </a:solidFill>
              </a:rPr>
              <a:t>”Mouse”</a:t>
            </a:r>
            <a:r>
              <a:rPr lang="en-US" sz="3200" dirty="0"/>
              <a:t>)</a:t>
            </a:r>
          </a:p>
          <a:p>
            <a:r>
              <a:rPr lang="en-US" sz="3200" dirty="0" err="1">
                <a:solidFill>
                  <a:srgbClr val="0070C0"/>
                </a:solidFill>
              </a:rPr>
              <a:t>CatMouse</a:t>
            </a:r>
            <a:endParaRPr lang="en-US" sz="3200" dirty="0">
              <a:solidFill>
                <a:srgbClr val="0070C0"/>
              </a:solidFill>
            </a:endParaRPr>
          </a:p>
          <a:p>
            <a:r>
              <a:rPr lang="en-US" sz="3200" dirty="0">
                <a:solidFill>
                  <a:srgbClr val="7030A0"/>
                </a:solidFill>
              </a:rPr>
              <a:t>&gt;&gt;&gt; print(</a:t>
            </a:r>
            <a:r>
              <a:rPr lang="en-US" sz="3200" dirty="0">
                <a:solidFill>
                  <a:srgbClr val="00B050"/>
                </a:solidFill>
              </a:rPr>
              <a:t>'cat’</a:t>
            </a:r>
            <a:r>
              <a:rPr lang="ru-RU" sz="3200" dirty="0">
                <a:solidFill>
                  <a:srgbClr val="00B050"/>
                </a:solidFill>
              </a:rPr>
              <a:t> </a:t>
            </a:r>
            <a:r>
              <a:rPr lang="en-US" sz="3200" dirty="0"/>
              <a:t>*</a:t>
            </a:r>
            <a:r>
              <a:rPr lang="ru-RU" sz="3200" dirty="0"/>
              <a:t> </a:t>
            </a:r>
            <a:r>
              <a:rPr lang="en-US" sz="3200" dirty="0"/>
              <a:t>10</a:t>
            </a:r>
            <a:r>
              <a:rPr lang="en-US" sz="3200" dirty="0">
                <a:solidFill>
                  <a:srgbClr val="7030A0"/>
                </a:solidFill>
              </a:rPr>
              <a:t>)</a:t>
            </a:r>
          </a:p>
          <a:p>
            <a:r>
              <a:rPr lang="en-US" sz="3200" dirty="0" err="1">
                <a:solidFill>
                  <a:srgbClr val="0070C0"/>
                </a:solidFill>
              </a:rPr>
              <a:t>catcatcatcatcatcatcatcatcatcat</a:t>
            </a:r>
            <a:endParaRPr lang="en-US" sz="3200" dirty="0">
              <a:solidFill>
                <a:srgbClr val="0070C0"/>
              </a:solidFill>
            </a:endParaRPr>
          </a:p>
          <a:p>
            <a:endParaRPr lang="ru-RU" sz="3200" dirty="0">
              <a:solidFill>
                <a:srgbClr val="0070C0"/>
              </a:solidFill>
            </a:endParaRPr>
          </a:p>
        </p:txBody>
      </p:sp>
      <p:sp>
        <p:nvSpPr>
          <p:cNvPr id="3" name="Облачко с текстом: прямоугольное со скругленными углами 2">
            <a:extLst>
              <a:ext uri="{FF2B5EF4-FFF2-40B4-BE49-F238E27FC236}">
                <a16:creationId xmlns:a16="http://schemas.microsoft.com/office/drawing/2014/main" id="{B55FCAAC-3039-4576-8843-0D896E24DE40}"/>
              </a:ext>
            </a:extLst>
          </p:cNvPr>
          <p:cNvSpPr/>
          <p:nvPr/>
        </p:nvSpPr>
        <p:spPr>
          <a:xfrm>
            <a:off x="7947651" y="1036791"/>
            <a:ext cx="3732632" cy="761620"/>
          </a:xfrm>
          <a:prstGeom prst="wedgeRoundRectCallout">
            <a:avLst>
              <a:gd name="adj1" fmla="val -130203"/>
              <a:gd name="adj2" fmla="val 37566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latin typeface="Comic Sans MS" panose="030F0702030302020204" pitchFamily="66" charset="0"/>
              </a:rPr>
              <a:t>Строки могут отделятся кавычками или апострофами</a:t>
            </a:r>
          </a:p>
        </p:txBody>
      </p:sp>
      <p:sp>
        <p:nvSpPr>
          <p:cNvPr id="4" name="Облачко с текстом: прямоугольное со скругленными углами 3">
            <a:extLst>
              <a:ext uri="{FF2B5EF4-FFF2-40B4-BE49-F238E27FC236}">
                <a16:creationId xmlns:a16="http://schemas.microsoft.com/office/drawing/2014/main" id="{FCFC2803-5643-4710-8F23-1406FBA7294C}"/>
              </a:ext>
            </a:extLst>
          </p:cNvPr>
          <p:cNvSpPr/>
          <p:nvPr/>
        </p:nvSpPr>
        <p:spPr>
          <a:xfrm>
            <a:off x="6096000" y="2735413"/>
            <a:ext cx="2528377" cy="833889"/>
          </a:xfrm>
          <a:prstGeom prst="wedgeRoundRectCallout">
            <a:avLst>
              <a:gd name="adj1" fmla="val -126265"/>
              <a:gd name="adj2" fmla="val 27669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latin typeface="Comic Sans MS" panose="030F0702030302020204" pitchFamily="66" charset="0"/>
              </a:rPr>
              <a:t>Строки можно умножать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BF1DB929-C7DA-4204-B5C8-33C62C9CA82E}"/>
              </a:ext>
            </a:extLst>
          </p:cNvPr>
          <p:cNvSpPr/>
          <p:nvPr/>
        </p:nvSpPr>
        <p:spPr>
          <a:xfrm>
            <a:off x="371189" y="136034"/>
            <a:ext cx="871211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Comic Sans MS" panose="030F0702030302020204" pitchFamily="66" charset="0"/>
              </a:rPr>
              <a:t>print(</a:t>
            </a:r>
            <a:r>
              <a:rPr lang="ru-RU" sz="36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Comic Sans MS" panose="030F0702030302020204" pitchFamily="66" charset="0"/>
              </a:rPr>
              <a:t>то, что надо вывести)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7BC3203E-B6CD-4F52-9D2F-848E572F252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998"/>
          <a:stretch/>
        </p:blipFill>
        <p:spPr>
          <a:xfrm>
            <a:off x="578838" y="4270713"/>
            <a:ext cx="4819128" cy="150629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66D1A4F-06B7-4C7D-9509-63FA80643BC9}"/>
              </a:ext>
            </a:extLst>
          </p:cNvPr>
          <p:cNvSpPr txBox="1"/>
          <p:nvPr/>
        </p:nvSpPr>
        <p:spPr>
          <a:xfrm>
            <a:off x="6096000" y="4303740"/>
            <a:ext cx="5564824" cy="1634490"/>
          </a:xfrm>
          <a:prstGeom prst="wedgeRoundRectCallout">
            <a:avLst>
              <a:gd name="adj1" fmla="val -79572"/>
              <a:gd name="adj2" fmla="val -5471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ru-RU" dirty="0">
                <a:latin typeface="Comic Sans MS" panose="030F0702030302020204" pitchFamily="66" charset="0"/>
              </a:rPr>
              <a:t>Кавычки интерпретатор </a:t>
            </a:r>
            <a:r>
              <a:rPr lang="en-US" dirty="0">
                <a:latin typeface="Comic Sans MS" panose="030F0702030302020204" pitchFamily="66" charset="0"/>
              </a:rPr>
              <a:t>Python</a:t>
            </a:r>
            <a:r>
              <a:rPr lang="ru-RU" dirty="0">
                <a:latin typeface="Comic Sans MS" panose="030F0702030302020204" pitchFamily="66" charset="0"/>
              </a:rPr>
              <a:t> понимает в буквальном смысле и выводит то, что заключено между ними.</a:t>
            </a:r>
          </a:p>
          <a:p>
            <a:r>
              <a:rPr lang="ru-RU" dirty="0">
                <a:latin typeface="Comic Sans MS" panose="030F0702030302020204" pitchFamily="66" charset="0"/>
              </a:rPr>
              <a:t>При отсутствии кавычек интерпретатор определяет значение фрагмента</a:t>
            </a:r>
          </a:p>
        </p:txBody>
      </p:sp>
    </p:spTree>
    <p:extLst>
      <p:ext uri="{BB962C8B-B14F-4D97-AF65-F5344CB8AC3E}">
        <p14:creationId xmlns:p14="http://schemas.microsoft.com/office/powerpoint/2010/main" val="1833208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  <p:bldP spid="3" grpId="0" animBg="1"/>
      <p:bldP spid="4" grpId="0" animBg="1"/>
      <p:bldP spid="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блачко с текстом: прямоугольное со скругленными углами 3">
            <a:extLst>
              <a:ext uri="{FF2B5EF4-FFF2-40B4-BE49-F238E27FC236}">
                <a16:creationId xmlns:a16="http://schemas.microsoft.com/office/drawing/2014/main" id="{D740D2F5-8D6F-4480-BE39-40170831BD9D}"/>
              </a:ext>
            </a:extLst>
          </p:cNvPr>
          <p:cNvSpPr/>
          <p:nvPr/>
        </p:nvSpPr>
        <p:spPr>
          <a:xfrm>
            <a:off x="9280053" y="1718159"/>
            <a:ext cx="2528377" cy="914400"/>
          </a:xfrm>
          <a:prstGeom prst="wedgeRoundRectCallout">
            <a:avLst>
              <a:gd name="adj1" fmla="val -214687"/>
              <a:gd name="adj2" fmla="val -111404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latin typeface="Comic Sans MS" panose="030F0702030302020204" pitchFamily="66" charset="0"/>
              </a:rPr>
              <a:t>Разными цветами выделяются разные части кода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84B5D52-4AB8-4DAF-86DF-C38CF540BB3F}"/>
              </a:ext>
            </a:extLst>
          </p:cNvPr>
          <p:cNvSpPr txBox="1"/>
          <p:nvPr/>
        </p:nvSpPr>
        <p:spPr>
          <a:xfrm>
            <a:off x="717065" y="492042"/>
            <a:ext cx="106864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rgbClr val="7030A0"/>
                </a:solidFill>
              </a:rPr>
              <a:t>&gt;&gt;&gt; </a:t>
            </a:r>
            <a:r>
              <a:rPr lang="ru-RU" sz="3600" dirty="0" err="1">
                <a:solidFill>
                  <a:srgbClr val="7030A0"/>
                </a:solidFill>
              </a:rPr>
              <a:t>print</a:t>
            </a:r>
            <a:r>
              <a:rPr lang="ru-RU" sz="3600" dirty="0"/>
              <a:t>(</a:t>
            </a:r>
            <a:r>
              <a:rPr lang="ru-RU" sz="3600" dirty="0">
                <a:solidFill>
                  <a:srgbClr val="00B050"/>
                </a:solidFill>
              </a:rPr>
              <a:t>'Привет, добро пожаловать в </a:t>
            </a:r>
            <a:r>
              <a:rPr lang="ru-RU" sz="3600" dirty="0" err="1">
                <a:solidFill>
                  <a:srgbClr val="00B050"/>
                </a:solidFill>
              </a:rPr>
              <a:t>Python</a:t>
            </a:r>
            <a:r>
              <a:rPr lang="ru-RU" sz="3600" dirty="0">
                <a:solidFill>
                  <a:srgbClr val="00B050"/>
                </a:solidFill>
              </a:rPr>
              <a:t>'</a:t>
            </a:r>
            <a:r>
              <a:rPr lang="ru-RU" sz="3600" dirty="0"/>
              <a:t>)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80416F7-7BB0-4B2B-9E9E-17D220A4653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5050"/>
          <a:stretch/>
        </p:blipFill>
        <p:spPr>
          <a:xfrm>
            <a:off x="357982" y="1519149"/>
            <a:ext cx="5489713" cy="350328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6" name="Облачко с текстом: прямоугольное со скругленными углами 5">
            <a:extLst>
              <a:ext uri="{FF2B5EF4-FFF2-40B4-BE49-F238E27FC236}">
                <a16:creationId xmlns:a16="http://schemas.microsoft.com/office/drawing/2014/main" id="{45CE0311-35AA-4E76-B1DA-8BE3001E13F2}"/>
              </a:ext>
            </a:extLst>
          </p:cNvPr>
          <p:cNvSpPr/>
          <p:nvPr/>
        </p:nvSpPr>
        <p:spPr>
          <a:xfrm>
            <a:off x="6485459" y="2682655"/>
            <a:ext cx="2528377" cy="914400"/>
          </a:xfrm>
          <a:prstGeom prst="wedgeRoundRectCallout">
            <a:avLst>
              <a:gd name="adj1" fmla="val -167679"/>
              <a:gd name="adj2" fmla="val 282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latin typeface="Comic Sans MS" panose="030F0702030302020204" pitchFamily="66" charset="0"/>
              </a:rPr>
              <a:t>Введена директива, которую </a:t>
            </a:r>
            <a:r>
              <a:rPr lang="en-US" dirty="0">
                <a:latin typeface="Comic Sans MS" panose="030F0702030302020204" pitchFamily="66" charset="0"/>
              </a:rPr>
              <a:t>Python </a:t>
            </a:r>
            <a:r>
              <a:rPr lang="ru-RU" dirty="0">
                <a:latin typeface="Comic Sans MS" panose="030F0702030302020204" pitchFamily="66" charset="0"/>
              </a:rPr>
              <a:t>не может понять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A3D58B-4988-4296-9F49-E378866A07F4}"/>
              </a:ext>
            </a:extLst>
          </p:cNvPr>
          <p:cNvSpPr txBox="1"/>
          <p:nvPr/>
        </p:nvSpPr>
        <p:spPr>
          <a:xfrm>
            <a:off x="8605520" y="4283771"/>
            <a:ext cx="3324215" cy="156966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ru-RU" sz="2400" dirty="0"/>
              <a:t>Ключевое слово – это специальное слово, которое является частью </a:t>
            </a:r>
            <a:r>
              <a:rPr lang="en-US" sz="2400" dirty="0"/>
              <a:t>Python</a:t>
            </a:r>
            <a:endParaRPr lang="ru-RU" sz="2400" dirty="0"/>
          </a:p>
        </p:txBody>
      </p:sp>
      <p:pic>
        <p:nvPicPr>
          <p:cNvPr id="2050" name="Picture 2" descr="Attention icon">
            <a:extLst>
              <a:ext uri="{FF2B5EF4-FFF2-40B4-BE49-F238E27FC236}">
                <a16:creationId xmlns:a16="http://schemas.microsoft.com/office/drawing/2014/main" id="{2EF5B697-ECD9-4FA0-9FAD-38FB8215CF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01509" y="3124200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7DE4CF7D-9073-4C08-82A5-CA463E0779EB}"/>
              </a:ext>
            </a:extLst>
          </p:cNvPr>
          <p:cNvSpPr/>
          <p:nvPr/>
        </p:nvSpPr>
        <p:spPr>
          <a:xfrm>
            <a:off x="6798073" y="4560770"/>
            <a:ext cx="21596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5400" dirty="0" err="1">
                <a:solidFill>
                  <a:srgbClr val="7030A0"/>
                </a:solidFill>
              </a:rPr>
              <a:t>print</a:t>
            </a:r>
            <a:endParaRPr lang="ru-RU" sz="5400" dirty="0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5897306-9090-458E-9B7A-36FC0486438F}"/>
              </a:ext>
            </a:extLst>
          </p:cNvPr>
          <p:cNvSpPr/>
          <p:nvPr/>
        </p:nvSpPr>
        <p:spPr>
          <a:xfrm>
            <a:off x="6741909" y="5141338"/>
            <a:ext cx="21596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5400" strike="sngStrike" dirty="0" err="1"/>
              <a:t>pr</a:t>
            </a:r>
            <a:r>
              <a:rPr lang="en-US" sz="5400" strike="sngStrike" dirty="0"/>
              <a:t>e</a:t>
            </a:r>
            <a:r>
              <a:rPr lang="ru-RU" sz="5400" strike="sngStrike" dirty="0" err="1"/>
              <a:t>nt</a:t>
            </a:r>
            <a:endParaRPr lang="ru-RU" sz="5400" strike="sngStrike" dirty="0"/>
          </a:p>
        </p:txBody>
      </p:sp>
    </p:spTree>
    <p:extLst>
      <p:ext uri="{BB962C8B-B14F-4D97-AF65-F5344CB8AC3E}">
        <p14:creationId xmlns:p14="http://schemas.microsoft.com/office/powerpoint/2010/main" val="185415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" grpId="0"/>
      <p:bldP spid="6" grpId="0" animBg="1"/>
      <p:bldP spid="7" grpId="0" animBg="1"/>
      <p:bldP spid="8" grpId="0"/>
      <p:bldP spid="1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78CECA6E-982B-4469-824C-54EAFFC6ADC0}"/>
              </a:ext>
            </a:extLst>
          </p:cNvPr>
          <p:cNvSpPr txBox="1"/>
          <p:nvPr/>
        </p:nvSpPr>
        <p:spPr>
          <a:xfrm>
            <a:off x="696191" y="1535299"/>
            <a:ext cx="1134687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Comic Sans MS" panose="030F0702030302020204" pitchFamily="66" charset="0"/>
              </a:rPr>
              <a:t>Глагол «складывать» не совсем корректен, когда речь идет о строках.</a:t>
            </a:r>
            <a:endParaRPr lang="en-US" sz="2400" dirty="0">
              <a:latin typeface="Comic Sans MS" panose="030F0702030302020204" pitchFamily="66" charset="0"/>
            </a:endParaRPr>
          </a:p>
          <a:p>
            <a:r>
              <a:rPr lang="ru-RU" sz="2400" dirty="0">
                <a:latin typeface="Comic Sans MS" panose="030F0702030302020204" pitchFamily="66" charset="0"/>
              </a:rPr>
              <a:t> Для обозначения процесса стыковки символов или строк друг с другом с целью получения более длинной строки существует специальный термин. Этот процесс называется не «сложением» </a:t>
            </a:r>
            <a:r>
              <a:rPr lang="en-US" sz="2400" dirty="0">
                <a:latin typeface="Comic Sans MS" panose="030F0702030302020204" pitchFamily="66" charset="0"/>
              </a:rPr>
              <a:t/>
            </a:r>
            <a:br>
              <a:rPr lang="en-US" sz="2400" dirty="0">
                <a:latin typeface="Comic Sans MS" panose="030F0702030302020204" pitchFamily="66" charset="0"/>
              </a:rPr>
            </a:br>
            <a:r>
              <a:rPr lang="ru-RU" sz="2400" dirty="0">
                <a:latin typeface="Comic Sans MS" panose="030F0702030302020204" pitchFamily="66" charset="0"/>
              </a:rPr>
              <a:t>(термин допустимый только для цифр), а конкатенацией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479E649E-18DF-4714-9B59-F7F0879031F2}"/>
              </a:ext>
            </a:extLst>
          </p:cNvPr>
          <p:cNvSpPr/>
          <p:nvPr/>
        </p:nvSpPr>
        <p:spPr>
          <a:xfrm>
            <a:off x="944217" y="592962"/>
            <a:ext cx="329449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Comic Sans MS" panose="030F0702030302020204" pitchFamily="66" charset="0"/>
              </a:rPr>
              <a:t>Конкатенация</a:t>
            </a:r>
            <a:endParaRPr lang="ru-RU" sz="36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2D84C75-4E95-4F60-B22C-9EC723144E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906" y="4246080"/>
            <a:ext cx="6960912" cy="1076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8139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74ACC869-FC10-455E-A917-E10696A11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Программный режим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FBF3C5F-35FB-4F24-8231-2C823C6639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96166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0D5B22F3-1A0D-4D74-B835-9C13CF4918C9}"/>
              </a:ext>
            </a:extLst>
          </p:cNvPr>
          <p:cNvSpPr/>
          <p:nvPr/>
        </p:nvSpPr>
        <p:spPr>
          <a:xfrm>
            <a:off x="383570" y="152508"/>
            <a:ext cx="871211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6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Comic Sans MS" panose="030F0702030302020204" pitchFamily="66" charset="0"/>
              </a:rPr>
              <a:t>Работа в программном режиме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D555B0B-9C01-4A5F-879C-75CFBDBE40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363" y="1109787"/>
            <a:ext cx="3960960" cy="4291040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58A5830-52E6-4D33-97EA-F85CCBEE15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2211" y="1056562"/>
            <a:ext cx="3169920" cy="4397489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9E6529C-EB50-4F56-8A38-4841D1398A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8900" y="1998663"/>
            <a:ext cx="2545737" cy="286067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778585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CE2760-7AFC-4074-82B8-E945B7193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284" y="699501"/>
            <a:ext cx="10058400" cy="541220"/>
          </a:xfrm>
        </p:spPr>
        <p:txBody>
          <a:bodyPr>
            <a:normAutofit fontScale="90000"/>
          </a:bodyPr>
          <a:lstStyle/>
          <a:p>
            <a:r>
              <a:rPr lang="ru-RU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Comic Sans MS" panose="030F0702030302020204" pitchFamily="66" charset="0"/>
                <a:ea typeface="+mn-ea"/>
                <a:cs typeface="+mn-cs"/>
              </a:rPr>
              <a:t>Первая</a:t>
            </a:r>
            <a:r>
              <a:rPr lang="ru-RU" dirty="0"/>
              <a:t> </a:t>
            </a:r>
            <a:r>
              <a:rPr lang="ru-RU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Comic Sans MS" panose="030F0702030302020204" pitchFamily="66" charset="0"/>
                <a:ea typeface="+mn-ea"/>
                <a:cs typeface="+mn-cs"/>
              </a:rPr>
              <a:t>программа</a:t>
            </a:r>
            <a:r>
              <a:rPr lang="ru-RU" dirty="0"/>
              <a:t> </a:t>
            </a:r>
            <a:r>
              <a:rPr lang="ru-RU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Comic Sans MS" panose="030F0702030302020204" pitchFamily="66" charset="0"/>
                <a:ea typeface="+mn-ea"/>
                <a:cs typeface="+mn-cs"/>
              </a:rPr>
              <a:t>в редакторе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2"/>
          <a:srcRect r="11143"/>
          <a:stretch/>
        </p:blipFill>
        <p:spPr>
          <a:xfrm>
            <a:off x="307446" y="1418902"/>
            <a:ext cx="5777265" cy="2557639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F4A9A3C-B076-4356-A8C9-7EC09B06002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4868" r="26849"/>
          <a:stretch/>
        </p:blipFill>
        <p:spPr>
          <a:xfrm>
            <a:off x="4419393" y="3793067"/>
            <a:ext cx="4848786" cy="2084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1953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0F5958-63AE-4EB0-B5CD-38CC388A10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9471" y="25378"/>
            <a:ext cx="10058400" cy="869097"/>
          </a:xfrm>
        </p:spPr>
        <p:txBody>
          <a:bodyPr/>
          <a:lstStyle/>
          <a:p>
            <a:r>
              <a:rPr lang="ru-RU" sz="36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Comic Sans MS" panose="030F0702030302020204" pitchFamily="66" charset="0"/>
                <a:ea typeface="+mn-ea"/>
                <a:cs typeface="+mn-cs"/>
              </a:rPr>
              <a:t>Программа</a:t>
            </a:r>
            <a:r>
              <a:rPr lang="ru-RU" dirty="0"/>
              <a:t> </a:t>
            </a:r>
            <a:r>
              <a:rPr lang="ru-RU" sz="36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Comic Sans MS" panose="030F0702030302020204" pitchFamily="66" charset="0"/>
                <a:ea typeface="+mn-ea"/>
                <a:cs typeface="+mn-cs"/>
              </a:rPr>
              <a:t>запущена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265A3423-8598-49EF-A2FB-8751DC9834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384" y="922734"/>
            <a:ext cx="6030899" cy="211405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E3AAF14-AED1-43D9-9937-BCE8B18570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5210" y="3167917"/>
            <a:ext cx="8936107" cy="2976071"/>
          </a:xfrm>
          <a:prstGeom prst="rect">
            <a:avLst/>
          </a:prstGeom>
        </p:spPr>
      </p:pic>
      <p:sp>
        <p:nvSpPr>
          <p:cNvPr id="7" name="Облачко с текстом: прямоугольное со скругленными углами 6">
            <a:extLst>
              <a:ext uri="{FF2B5EF4-FFF2-40B4-BE49-F238E27FC236}">
                <a16:creationId xmlns:a16="http://schemas.microsoft.com/office/drawing/2014/main" id="{308C8BBD-981F-4CD0-9DB2-013F37D797AF}"/>
              </a:ext>
            </a:extLst>
          </p:cNvPr>
          <p:cNvSpPr/>
          <p:nvPr/>
        </p:nvSpPr>
        <p:spPr>
          <a:xfrm>
            <a:off x="8009920" y="1155700"/>
            <a:ext cx="3145760" cy="1648126"/>
          </a:xfrm>
          <a:prstGeom prst="wedgeRoundRectCallout">
            <a:avLst>
              <a:gd name="adj1" fmla="val -89985"/>
              <a:gd name="adj2" fmla="val 55722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latin typeface="Comic Sans MS" panose="030F0702030302020204" pitchFamily="66" charset="0"/>
              </a:rPr>
              <a:t>Работаем с двумя окнами – окном файла и окном исполнения.</a:t>
            </a:r>
          </a:p>
        </p:txBody>
      </p:sp>
    </p:spTree>
    <p:extLst>
      <p:ext uri="{BB962C8B-B14F-4D97-AF65-F5344CB8AC3E}">
        <p14:creationId xmlns:p14="http://schemas.microsoft.com/office/powerpoint/2010/main" val="3778180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C475CF-8047-4EC7-ABC4-AC05D39B8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272" y="11517"/>
            <a:ext cx="6436129" cy="1801970"/>
          </a:xfrm>
        </p:spPr>
        <p:txBody>
          <a:bodyPr>
            <a:normAutofit/>
          </a:bodyPr>
          <a:lstStyle/>
          <a:p>
            <a:r>
              <a:rPr lang="ru-RU" sz="4000" b="0" i="0" dirty="0">
                <a:solidFill>
                  <a:srgbClr val="212529"/>
                </a:solidFill>
                <a:effectLst/>
                <a:latin typeface="-apple-system"/>
              </a:rPr>
              <a:t>Пользовательские настройки окна оболочки. </a:t>
            </a:r>
            <a:br>
              <a:rPr lang="ru-RU" sz="4000" b="0" i="0" dirty="0">
                <a:solidFill>
                  <a:srgbClr val="212529"/>
                </a:solidFill>
                <a:effectLst/>
                <a:latin typeface="-apple-system"/>
              </a:rPr>
            </a:br>
            <a:r>
              <a:rPr lang="ru-RU" sz="4000" b="0" i="0" dirty="0">
                <a:solidFill>
                  <a:srgbClr val="212529"/>
                </a:solidFill>
                <a:effectLst/>
                <a:latin typeface="-apple-system"/>
              </a:rPr>
              <a:t>Вкладка "</a:t>
            </a:r>
            <a:r>
              <a:rPr lang="ru-RU" sz="4000" b="0" i="0" dirty="0" err="1">
                <a:solidFill>
                  <a:srgbClr val="212529"/>
                </a:solidFill>
                <a:effectLst/>
                <a:latin typeface="-apple-system"/>
              </a:rPr>
              <a:t>Fonts</a:t>
            </a:r>
            <a:r>
              <a:rPr lang="ru-RU" sz="4000" b="0" i="0" dirty="0">
                <a:solidFill>
                  <a:srgbClr val="212529"/>
                </a:solidFill>
                <a:effectLst/>
                <a:latin typeface="-apple-system"/>
              </a:rPr>
              <a:t>/</a:t>
            </a:r>
            <a:r>
              <a:rPr lang="ru-RU" sz="4000" b="0" i="0" dirty="0" err="1">
                <a:solidFill>
                  <a:srgbClr val="212529"/>
                </a:solidFill>
                <a:effectLst/>
                <a:latin typeface="-apple-system"/>
              </a:rPr>
              <a:t>Tabs</a:t>
            </a:r>
            <a:r>
              <a:rPr lang="ru-RU" sz="4000" b="0" i="0" dirty="0">
                <a:solidFill>
                  <a:srgbClr val="212529"/>
                </a:solidFill>
                <a:effectLst/>
                <a:latin typeface="-apple-system"/>
              </a:rPr>
              <a:t>"</a:t>
            </a:r>
            <a:endParaRPr lang="ru-RU" sz="40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2726E44-B63B-41C9-A236-293F73C8FC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3211" y="445090"/>
            <a:ext cx="4238625" cy="51911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5CD719A-AF4F-4FA0-BE59-04E0EB671B1E}"/>
              </a:ext>
            </a:extLst>
          </p:cNvPr>
          <p:cNvSpPr txBox="1"/>
          <p:nvPr/>
        </p:nvSpPr>
        <p:spPr>
          <a:xfrm>
            <a:off x="270164" y="1998153"/>
            <a:ext cx="755852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2400" dirty="0">
                <a:latin typeface="Comic Sans MS" panose="030F0702030302020204" pitchFamily="66" charset="0"/>
              </a:rPr>
              <a:t>Вы можете настроить IDLE по своему вкусу, если в меню </a:t>
            </a:r>
            <a:r>
              <a:rPr lang="ru-RU" sz="2400" dirty="0" err="1">
                <a:latin typeface="Comic Sans MS" panose="030F0702030302020204" pitchFamily="66" charset="0"/>
              </a:rPr>
              <a:t>Options</a:t>
            </a:r>
            <a:r>
              <a:rPr lang="ru-RU" sz="2400" dirty="0">
                <a:latin typeface="Comic Sans MS" panose="030F0702030302020204" pitchFamily="66" charset="0"/>
              </a:rPr>
              <a:t> (Параметры) выберете пункт </a:t>
            </a:r>
            <a:r>
              <a:rPr lang="ru-RU" sz="2400" dirty="0" err="1">
                <a:latin typeface="Comic Sans MS" panose="030F0702030302020204" pitchFamily="66" charset="0"/>
              </a:rPr>
              <a:t>Configure</a:t>
            </a:r>
            <a:r>
              <a:rPr lang="ru-RU" sz="2400" dirty="0">
                <a:latin typeface="Comic Sans MS" panose="030F0702030302020204" pitchFamily="66" charset="0"/>
              </a:rPr>
              <a:t> (Настройка).</a:t>
            </a:r>
          </a:p>
          <a:p>
            <a:pPr algn="l"/>
            <a:endParaRPr lang="ru-RU" sz="2400" dirty="0">
              <a:latin typeface="Comic Sans MS" panose="030F0702030302020204" pitchFamily="66" charset="0"/>
            </a:endParaRPr>
          </a:p>
          <a:p>
            <a:pPr algn="l"/>
            <a:r>
              <a:rPr lang="ru-RU" sz="2400" dirty="0">
                <a:latin typeface="Comic Sans MS" panose="030F0702030302020204" pitchFamily="66" charset="0"/>
              </a:rPr>
              <a:t>На вкладке "</a:t>
            </a:r>
            <a:r>
              <a:rPr lang="ru-RU" sz="2400" dirty="0" err="1">
                <a:latin typeface="Comic Sans MS" panose="030F0702030302020204" pitchFamily="66" charset="0"/>
              </a:rPr>
              <a:t>Fonts</a:t>
            </a:r>
            <a:r>
              <a:rPr lang="ru-RU" sz="2400" dirty="0">
                <a:latin typeface="Comic Sans MS" panose="030F0702030302020204" pitchFamily="66" charset="0"/>
              </a:rPr>
              <a:t>/</a:t>
            </a:r>
            <a:r>
              <a:rPr lang="ru-RU" sz="2400" dirty="0" err="1">
                <a:latin typeface="Comic Sans MS" panose="030F0702030302020204" pitchFamily="66" charset="0"/>
              </a:rPr>
              <a:t>Tabs</a:t>
            </a:r>
            <a:r>
              <a:rPr lang="ru-RU" sz="2400" dirty="0">
                <a:latin typeface="Comic Sans MS" panose="030F0702030302020204" pitchFamily="66" charset="0"/>
              </a:rPr>
              <a:t>"  -  можно настроить параметры шрифта и количество отступов, которое будет вставлено при нажатии клавиши </a:t>
            </a:r>
            <a:r>
              <a:rPr lang="ru-RU" sz="2400" dirty="0" err="1">
                <a:latin typeface="Comic Sans MS" panose="030F0702030302020204" pitchFamily="66" charset="0"/>
              </a:rPr>
              <a:t>Tab</a:t>
            </a:r>
            <a:r>
              <a:rPr lang="ru-RU" sz="2400" dirty="0">
                <a:latin typeface="Comic Sans MS" panose="030F0702030302020204" pitchFamily="66" charset="0"/>
              </a:rPr>
              <a:t>. </a:t>
            </a:r>
          </a:p>
          <a:p>
            <a:pPr algn="l"/>
            <a:r>
              <a:rPr lang="ru-RU" sz="2400" dirty="0">
                <a:latin typeface="Comic Sans MS" panose="030F0702030302020204" pitchFamily="66" charset="0"/>
              </a:rPr>
              <a:t>Стандарт </a:t>
            </a:r>
            <a:r>
              <a:rPr lang="ru-RU" sz="2400" dirty="0" err="1">
                <a:latin typeface="Comic Sans MS" panose="030F0702030302020204" pitchFamily="66" charset="0"/>
              </a:rPr>
              <a:t>Python</a:t>
            </a:r>
            <a:r>
              <a:rPr lang="ru-RU" sz="2400" dirty="0">
                <a:latin typeface="Comic Sans MS" panose="030F0702030302020204" pitchFamily="66" charset="0"/>
              </a:rPr>
              <a:t> - 4 отступа, так что менять эту настройку смысла нет.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1BCB194-7767-410C-B3CF-465915C74702}"/>
              </a:ext>
            </a:extLst>
          </p:cNvPr>
          <p:cNvSpPr txBox="1"/>
          <p:nvPr/>
        </p:nvSpPr>
        <p:spPr>
          <a:xfrm>
            <a:off x="69274" y="5968471"/>
            <a:ext cx="87604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i="0" dirty="0">
                <a:solidFill>
                  <a:srgbClr val="212529"/>
                </a:solidFill>
                <a:effectLst/>
                <a:latin typeface="-apple-system"/>
              </a:rPr>
              <a:t>Для нас будет удобнее использовать </a:t>
            </a:r>
            <a:r>
              <a:rPr lang="ru-RU" b="1" i="0" dirty="0" err="1">
                <a:solidFill>
                  <a:srgbClr val="212529"/>
                </a:solidFill>
                <a:effectLst/>
                <a:latin typeface="-apple-system"/>
              </a:rPr>
              <a:t>Courier</a:t>
            </a:r>
            <a:r>
              <a:rPr lang="ru-RU" b="1" i="0" dirty="0">
                <a:solidFill>
                  <a:srgbClr val="212529"/>
                </a:solidFill>
                <a:effectLst/>
                <a:latin typeface="-apple-system"/>
              </a:rPr>
              <a:t> </a:t>
            </a:r>
            <a:r>
              <a:rPr lang="ru-RU" b="1" i="0" dirty="0" err="1">
                <a:solidFill>
                  <a:srgbClr val="212529"/>
                </a:solidFill>
                <a:effectLst/>
                <a:latin typeface="-apple-system"/>
              </a:rPr>
              <a:t>New</a:t>
            </a:r>
            <a:r>
              <a:rPr lang="ru-RU" b="0" i="0" dirty="0">
                <a:solidFill>
                  <a:srgbClr val="212529"/>
                </a:solidFill>
                <a:effectLst/>
                <a:latin typeface="-apple-system"/>
              </a:rPr>
              <a:t>, т.к. он является моноширинным.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306000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4A099AF3-0626-4DDB-81DC-EAD7479912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Если что-то идет не так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AC1617F-DA8C-426C-8419-EF0AB46CAB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ACFE6CEE-DE76-4AF5-A01F-DD090BFB73F3}"/>
              </a:ext>
            </a:extLst>
          </p:cNvPr>
          <p:cNvSpPr/>
          <p:nvPr/>
        </p:nvSpPr>
        <p:spPr>
          <a:xfrm>
            <a:off x="4953000" y="630936"/>
            <a:ext cx="65659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>
                <a:latin typeface="Comic Sans MS" panose="030F0702030302020204" pitchFamily="66" charset="0"/>
              </a:rPr>
              <a:t>Ошибки в программах часто называются багами (от англ. </a:t>
            </a:r>
            <a:r>
              <a:rPr lang="ru-RU" sz="2400" dirty="0" err="1">
                <a:latin typeface="Comic Sans MS" panose="030F0702030302020204" pitchFamily="66" charset="0"/>
              </a:rPr>
              <a:t>bug</a:t>
            </a:r>
            <a:r>
              <a:rPr lang="ru-RU" sz="2400" dirty="0">
                <a:latin typeface="Comic Sans MS" panose="030F0702030302020204" pitchFamily="66" charset="0"/>
              </a:rPr>
              <a:t> — жук), а процесс их отслеживания называется отладкой </a:t>
            </a:r>
            <a:br>
              <a:rPr lang="ru-RU" sz="2400" dirty="0">
                <a:latin typeface="Comic Sans MS" panose="030F0702030302020204" pitchFamily="66" charset="0"/>
              </a:rPr>
            </a:br>
            <a:r>
              <a:rPr lang="ru-RU" sz="2400" dirty="0">
                <a:latin typeface="Comic Sans MS" panose="030F0702030302020204" pitchFamily="66" charset="0"/>
              </a:rPr>
              <a:t>(англ. </a:t>
            </a:r>
            <a:r>
              <a:rPr lang="ru-RU" sz="2400" dirty="0" err="1">
                <a:solidFill>
                  <a:schemeClr val="bg2">
                    <a:lumMod val="50000"/>
                  </a:schemeClr>
                </a:solidFill>
                <a:latin typeface="Comic Sans MS" panose="030F0702030302020204" pitchFamily="66" charset="0"/>
              </a:rPr>
              <a:t>debugging</a:t>
            </a:r>
            <a:r>
              <a:rPr lang="ru-RU" sz="2400" dirty="0">
                <a:latin typeface="Comic Sans MS" panose="030F0702030302020204" pitchFamily="66" charset="0"/>
              </a:rPr>
              <a:t>, одно из значений — удаление насекомых с растений). </a:t>
            </a:r>
            <a:br>
              <a:rPr lang="ru-RU" sz="2400" dirty="0">
                <a:latin typeface="Comic Sans MS" panose="030F0702030302020204" pitchFamily="66" charset="0"/>
              </a:rPr>
            </a:br>
            <a:endParaRPr lang="ru-RU" sz="2400" dirty="0">
              <a:latin typeface="Comic Sans MS" panose="030F0702030302020204" pitchFamily="66" charset="0"/>
            </a:endParaRPr>
          </a:p>
        </p:txBody>
      </p:sp>
      <p:pic>
        <p:nvPicPr>
          <p:cNvPr id="4098" name="Picture 2" descr="Bug icon">
            <a:extLst>
              <a:ext uri="{FF2B5EF4-FFF2-40B4-BE49-F238E27FC236}">
                <a16:creationId xmlns:a16="http://schemas.microsoft.com/office/drawing/2014/main" id="{2D26F17D-0250-4C7A-AB88-861D3A69BD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541629">
            <a:off x="1126185" y="1023061"/>
            <a:ext cx="1900231" cy="1900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570436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ED68467-F6BC-4FFC-A835-E17320465D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0237" y="442912"/>
            <a:ext cx="7324725" cy="3457575"/>
          </a:xfrm>
          <a:prstGeom prst="rect">
            <a:avLst/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29D5FA91-719C-4286-89C9-9F41B93CFA53}"/>
              </a:ext>
            </a:extLst>
          </p:cNvPr>
          <p:cNvSpPr/>
          <p:nvPr/>
        </p:nvSpPr>
        <p:spPr>
          <a:xfrm>
            <a:off x="427038" y="2164374"/>
            <a:ext cx="8043862" cy="397031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ru-RU" sz="2800" dirty="0">
                <a:latin typeface="Comic Sans MS" panose="030F0702030302020204" pitchFamily="66" charset="0"/>
              </a:rPr>
              <a:t>Синтаксическая ошибка — происходит, когда интерпретатор обрабатывает код, который не соответствует правилам языка </a:t>
            </a:r>
            <a:r>
              <a:rPr lang="ru-RU" sz="2800" dirty="0" err="1">
                <a:latin typeface="Comic Sans MS" panose="030F0702030302020204" pitchFamily="66" charset="0"/>
              </a:rPr>
              <a:t>Python</a:t>
            </a:r>
            <a:r>
              <a:rPr lang="ru-RU" sz="2800" dirty="0">
                <a:latin typeface="Comic Sans MS" panose="030F0702030302020204" pitchFamily="66" charset="0"/>
              </a:rPr>
              <a:t>, например отсутствие кавычек вокруг строковой переменной. </a:t>
            </a:r>
          </a:p>
          <a:p>
            <a:endParaRPr lang="ru-RU" sz="2800" dirty="0">
              <a:latin typeface="Comic Sans MS" panose="030F0702030302020204" pitchFamily="66" charset="0"/>
            </a:endParaRPr>
          </a:p>
          <a:p>
            <a:r>
              <a:rPr lang="ru-RU" sz="2800" dirty="0">
                <a:latin typeface="Comic Sans MS" panose="030F0702030302020204" pitchFamily="66" charset="0"/>
              </a:rPr>
              <a:t>Интерпретатор останавливается и сообщает об ошибке без дальнейшего выполнения программы. </a:t>
            </a:r>
          </a:p>
        </p:txBody>
      </p:sp>
      <p:pic>
        <p:nvPicPr>
          <p:cNvPr id="7" name="Picture 2" descr="Alarm Error icon">
            <a:extLst>
              <a:ext uri="{FF2B5EF4-FFF2-40B4-BE49-F238E27FC236}">
                <a16:creationId xmlns:a16="http://schemas.microsoft.com/office/drawing/2014/main" id="{DC6E2A17-54D1-4CFB-AA22-DDE6A06372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038" y="749974"/>
            <a:ext cx="1414400" cy="14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87924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8E1D07-A65E-410E-B42F-3610726FC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357" y="360656"/>
            <a:ext cx="10058400" cy="516262"/>
          </a:xfrm>
        </p:spPr>
        <p:txBody>
          <a:bodyPr>
            <a:normAutofit fontScale="90000"/>
          </a:bodyPr>
          <a:lstStyle/>
          <a:p>
            <a:r>
              <a:rPr lang="ru-RU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Comic Sans MS" panose="030F0702030302020204" pitchFamily="66" charset="0"/>
                <a:ea typeface="+mn-ea"/>
                <a:cs typeface="+mn-cs"/>
              </a:rPr>
              <a:t>Ошибки</a:t>
            </a:r>
            <a:r>
              <a:rPr lang="ru-RU" dirty="0"/>
              <a:t> </a:t>
            </a:r>
            <a:r>
              <a:rPr lang="ru-RU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Comic Sans MS" panose="030F0702030302020204" pitchFamily="66" charset="0"/>
                <a:ea typeface="+mn-ea"/>
                <a:cs typeface="+mn-cs"/>
              </a:rPr>
              <a:t>выполнения</a:t>
            </a:r>
          </a:p>
        </p:txBody>
      </p:sp>
      <p:sp>
        <p:nvSpPr>
          <p:cNvPr id="1034" name="Прямоугольник 1033">
            <a:extLst>
              <a:ext uri="{FF2B5EF4-FFF2-40B4-BE49-F238E27FC236}">
                <a16:creationId xmlns:a16="http://schemas.microsoft.com/office/drawing/2014/main" id="{D6627F51-133A-4F67-91A7-16E6CA948F41}"/>
              </a:ext>
            </a:extLst>
          </p:cNvPr>
          <p:cNvSpPr/>
          <p:nvPr/>
        </p:nvSpPr>
        <p:spPr>
          <a:xfrm>
            <a:off x="1414400" y="1514039"/>
            <a:ext cx="10058400" cy="440120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ru-RU" sz="2800" dirty="0">
                <a:latin typeface="Comic Sans MS" panose="030F0702030302020204" pitchFamily="66" charset="0"/>
              </a:rPr>
              <a:t>Ошибка исполнения — происходит во время исполнения программы. </a:t>
            </a:r>
          </a:p>
          <a:p>
            <a:endParaRPr lang="ru-RU" sz="2800" dirty="0">
              <a:latin typeface="Comic Sans MS" panose="030F0702030302020204" pitchFamily="66" charset="0"/>
            </a:endParaRPr>
          </a:p>
          <a:p>
            <a:r>
              <a:rPr lang="ru-RU" sz="2800" dirty="0">
                <a:latin typeface="Comic Sans MS" panose="030F0702030302020204" pitchFamily="66" charset="0"/>
              </a:rPr>
              <a:t>Например, когда переменная не может быть распознана</a:t>
            </a:r>
            <a:br>
              <a:rPr lang="ru-RU" sz="2800" dirty="0">
                <a:latin typeface="Comic Sans MS" panose="030F0702030302020204" pitchFamily="66" charset="0"/>
              </a:rPr>
            </a:br>
            <a:r>
              <a:rPr lang="ru-RU" sz="2800" dirty="0">
                <a:latin typeface="Comic Sans MS" panose="030F0702030302020204" pitchFamily="66" charset="0"/>
              </a:rPr>
              <a:t>из-за несоответствия типов. </a:t>
            </a:r>
          </a:p>
          <a:p>
            <a:endParaRPr lang="ru-RU" sz="2800" dirty="0">
              <a:latin typeface="Comic Sans MS" panose="030F0702030302020204" pitchFamily="66" charset="0"/>
            </a:endParaRPr>
          </a:p>
          <a:p>
            <a:r>
              <a:rPr lang="ru-RU" sz="2800" dirty="0">
                <a:latin typeface="Comic Sans MS" panose="030F0702030302020204" pitchFamily="66" charset="0"/>
              </a:rPr>
              <a:t>Интерпретатор запускает программу, останавливается на ошибке и сообщает о природе этой ошибки как об исключении </a:t>
            </a:r>
            <a:br>
              <a:rPr lang="ru-RU" sz="2800" dirty="0">
                <a:latin typeface="Comic Sans MS" panose="030F0702030302020204" pitchFamily="66" charset="0"/>
              </a:rPr>
            </a:br>
            <a:endParaRPr lang="ru-RU" sz="2800" dirty="0">
              <a:latin typeface="Comic Sans MS" panose="030F0702030302020204" pitchFamily="66" charset="0"/>
            </a:endParaRPr>
          </a:p>
        </p:txBody>
      </p:sp>
      <p:pic>
        <p:nvPicPr>
          <p:cNvPr id="43" name="Picture 2" descr="Alarm Error icon">
            <a:extLst>
              <a:ext uri="{FF2B5EF4-FFF2-40B4-BE49-F238E27FC236}">
                <a16:creationId xmlns:a16="http://schemas.microsoft.com/office/drawing/2014/main" id="{B4152CBB-F5B7-4EBA-BB60-97583C45C8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357" y="806839"/>
            <a:ext cx="1414400" cy="14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749366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6B399D67-2B01-44F5-A201-0B4D9F9135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358" y="3034780"/>
            <a:ext cx="10141775" cy="23863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8E1D07-A65E-410E-B42F-3610726FC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357" y="360656"/>
            <a:ext cx="10058400" cy="516262"/>
          </a:xfrm>
        </p:spPr>
        <p:txBody>
          <a:bodyPr>
            <a:normAutofit fontScale="90000"/>
          </a:bodyPr>
          <a:lstStyle/>
          <a:p>
            <a:r>
              <a:rPr lang="ru-RU" dirty="0"/>
              <a:t>Пример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E9B6DB-3A8A-47CA-8225-B1AA9A25BF21}"/>
              </a:ext>
            </a:extLst>
          </p:cNvPr>
          <p:cNvSpPr txBox="1"/>
          <p:nvPr/>
        </p:nvSpPr>
        <p:spPr>
          <a:xfrm>
            <a:off x="7845536" y="3426273"/>
            <a:ext cx="396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Comic Sans MS" panose="030F0702030302020204" pitchFamily="66" charset="0"/>
              </a:rPr>
              <a:t>Начало сообщения об ошибке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D387F4B-34B2-4782-AAAE-AA5D3835EF1C}"/>
              </a:ext>
            </a:extLst>
          </p:cNvPr>
          <p:cNvSpPr txBox="1"/>
          <p:nvPr/>
        </p:nvSpPr>
        <p:spPr>
          <a:xfrm>
            <a:off x="7845536" y="4603113"/>
            <a:ext cx="396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Comic Sans MS" panose="030F0702030302020204" pitchFamily="66" charset="0"/>
              </a:rPr>
              <a:t>Неправильный код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B0ECD7B-7278-4C44-9AED-C98A16065223}"/>
              </a:ext>
            </a:extLst>
          </p:cNvPr>
          <p:cNvSpPr txBox="1"/>
          <p:nvPr/>
        </p:nvSpPr>
        <p:spPr>
          <a:xfrm>
            <a:off x="10240757" y="3989484"/>
            <a:ext cx="17915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Comic Sans MS" panose="030F0702030302020204" pitchFamily="66" charset="0"/>
              </a:rPr>
              <a:t>Место ошибки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689A8D-A81F-48FA-8611-618FA63DC00C}"/>
              </a:ext>
            </a:extLst>
          </p:cNvPr>
          <p:cNvSpPr txBox="1"/>
          <p:nvPr/>
        </p:nvSpPr>
        <p:spPr>
          <a:xfrm>
            <a:off x="7829456" y="5216742"/>
            <a:ext cx="3962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Comic Sans MS" panose="030F0702030302020204" pitchFamily="66" charset="0"/>
              </a:rPr>
              <a:t>Причина ошибки по мнению интерпретатора </a:t>
            </a:r>
            <a:r>
              <a:rPr lang="en-US" dirty="0">
                <a:latin typeface="Comic Sans MS" panose="030F0702030302020204" pitchFamily="66" charset="0"/>
              </a:rPr>
              <a:t>Python</a:t>
            </a:r>
            <a:endParaRPr lang="ru-RU" dirty="0">
              <a:latin typeface="Comic Sans MS" panose="030F0702030302020204" pitchFamily="66" charset="0"/>
            </a:endParaRPr>
          </a:p>
        </p:txBody>
      </p:sp>
      <p:cxnSp>
        <p:nvCxnSpPr>
          <p:cNvPr id="14" name="Соединитель: уступ 13">
            <a:extLst>
              <a:ext uri="{FF2B5EF4-FFF2-40B4-BE49-F238E27FC236}">
                <a16:creationId xmlns:a16="http://schemas.microsoft.com/office/drawing/2014/main" id="{C21D4294-2079-49EF-91DD-CBF4561B37D6}"/>
              </a:ext>
            </a:extLst>
          </p:cNvPr>
          <p:cNvCxnSpPr>
            <a:cxnSpLocks/>
          </p:cNvCxnSpPr>
          <p:nvPr/>
        </p:nvCxnSpPr>
        <p:spPr>
          <a:xfrm rot="10800000">
            <a:off x="9563101" y="4163551"/>
            <a:ext cx="677657" cy="97903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7" name="Соединитель: уступ 16">
            <a:extLst>
              <a:ext uri="{FF2B5EF4-FFF2-40B4-BE49-F238E27FC236}">
                <a16:creationId xmlns:a16="http://schemas.microsoft.com/office/drawing/2014/main" id="{EC08752A-75B8-48DD-950A-40680A752807}"/>
              </a:ext>
            </a:extLst>
          </p:cNvPr>
          <p:cNvCxnSpPr>
            <a:cxnSpLocks/>
          </p:cNvCxnSpPr>
          <p:nvPr/>
        </p:nvCxnSpPr>
        <p:spPr>
          <a:xfrm rot="16200000" flipV="1">
            <a:off x="6974922" y="4810557"/>
            <a:ext cx="699116" cy="653559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8" name="Соединитель: уступ 17">
            <a:extLst>
              <a:ext uri="{FF2B5EF4-FFF2-40B4-BE49-F238E27FC236}">
                <a16:creationId xmlns:a16="http://schemas.microsoft.com/office/drawing/2014/main" id="{3D225163-5B5E-4DBC-B8DB-DD1518961522}"/>
              </a:ext>
            </a:extLst>
          </p:cNvPr>
          <p:cNvCxnSpPr>
            <a:cxnSpLocks/>
          </p:cNvCxnSpPr>
          <p:nvPr/>
        </p:nvCxnSpPr>
        <p:spPr>
          <a:xfrm rot="10800000" flipV="1">
            <a:off x="5029201" y="3741980"/>
            <a:ext cx="2800255" cy="219940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24" name="Соединитель: уступ 23">
            <a:extLst>
              <a:ext uri="{FF2B5EF4-FFF2-40B4-BE49-F238E27FC236}">
                <a16:creationId xmlns:a16="http://schemas.microsoft.com/office/drawing/2014/main" id="{8F8B5797-7ED3-4A37-A170-A7280B94E1FC}"/>
              </a:ext>
            </a:extLst>
          </p:cNvPr>
          <p:cNvCxnSpPr>
            <a:cxnSpLocks/>
          </p:cNvCxnSpPr>
          <p:nvPr/>
        </p:nvCxnSpPr>
        <p:spPr>
          <a:xfrm rot="10800000">
            <a:off x="3784600" y="4379421"/>
            <a:ext cx="4060936" cy="449024"/>
          </a:xfrm>
          <a:prstGeom prst="bentConnector3">
            <a:avLst>
              <a:gd name="adj1" fmla="val 7155"/>
            </a:avLst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pic>
        <p:nvPicPr>
          <p:cNvPr id="1024" name="Рисунок 1023">
            <a:extLst>
              <a:ext uri="{FF2B5EF4-FFF2-40B4-BE49-F238E27FC236}">
                <a16:creationId xmlns:a16="http://schemas.microsoft.com/office/drawing/2014/main" id="{1539A080-D63C-44E5-ABDC-D711BE612F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755" y="922371"/>
            <a:ext cx="8813765" cy="1847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30405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узырек для мыслей: облако 2">
            <a:extLst>
              <a:ext uri="{FF2B5EF4-FFF2-40B4-BE49-F238E27FC236}">
                <a16:creationId xmlns:a16="http://schemas.microsoft.com/office/drawing/2014/main" id="{31B6C83D-9C70-4CAF-8FAC-7424CF9F4DE8}"/>
              </a:ext>
            </a:extLst>
          </p:cNvPr>
          <p:cNvSpPr/>
          <p:nvPr/>
        </p:nvSpPr>
        <p:spPr>
          <a:xfrm>
            <a:off x="5346700" y="495300"/>
            <a:ext cx="6438900" cy="2654300"/>
          </a:xfrm>
          <a:prstGeom prst="cloudCallout">
            <a:avLst>
              <a:gd name="adj1" fmla="val -25961"/>
              <a:gd name="adj2" fmla="val 8498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dirty="0">
                <a:latin typeface="Comic Sans MS" panose="030F0702030302020204" pitchFamily="66" charset="0"/>
              </a:rPr>
              <a:t>Почему </a:t>
            </a:r>
            <a:br>
              <a:rPr lang="ru-RU" sz="2800" dirty="0">
                <a:latin typeface="Comic Sans MS" panose="030F0702030302020204" pitchFamily="66" charset="0"/>
              </a:rPr>
            </a:br>
            <a:r>
              <a:rPr lang="en-US" sz="2800" dirty="0">
                <a:solidFill>
                  <a:srgbClr val="FFFF00"/>
                </a:solidFill>
                <a:latin typeface="Comic Sans MS" panose="030F0702030302020204" pitchFamily="66" charset="0"/>
              </a:rPr>
              <a:t>print('</a:t>
            </a:r>
            <a:r>
              <a:rPr lang="ru-RU" sz="2800" dirty="0">
                <a:solidFill>
                  <a:srgbClr val="FFFF00"/>
                </a:solidFill>
                <a:latin typeface="Comic Sans MS" panose="030F0702030302020204" pitchFamily="66" charset="0"/>
              </a:rPr>
              <a:t>До свидания’*5) </a:t>
            </a:r>
            <a:r>
              <a:rPr lang="ru-RU" sz="2800" dirty="0">
                <a:latin typeface="Comic Sans MS" panose="030F0702030302020204" pitchFamily="66" charset="0"/>
              </a:rPr>
              <a:t>работает, а</a:t>
            </a:r>
            <a:br>
              <a:rPr lang="ru-RU" sz="2800" dirty="0">
                <a:latin typeface="Comic Sans MS" panose="030F0702030302020204" pitchFamily="66" charset="0"/>
              </a:rPr>
            </a:br>
            <a:r>
              <a:rPr lang="ru-RU" sz="2800" dirty="0">
                <a:latin typeface="Comic Sans MS" panose="030F0702030302020204" pitchFamily="66" charset="0"/>
              </a:rPr>
              <a:t> </a:t>
            </a:r>
            <a:r>
              <a:rPr lang="en-US" sz="2800" dirty="0">
                <a:solidFill>
                  <a:srgbClr val="FFFF00"/>
                </a:solidFill>
                <a:latin typeface="Comic Sans MS" panose="030F0702030302020204" pitchFamily="66" charset="0"/>
              </a:rPr>
              <a:t>print('</a:t>
            </a:r>
            <a:r>
              <a:rPr lang="ru-RU" sz="2800" dirty="0">
                <a:solidFill>
                  <a:srgbClr val="FFFF00"/>
                </a:solidFill>
                <a:latin typeface="Comic Sans MS" panose="030F0702030302020204" pitchFamily="66" charset="0"/>
              </a:rPr>
              <a:t>До свидания’+5) </a:t>
            </a:r>
            <a:r>
              <a:rPr lang="ru-RU" sz="2800" dirty="0">
                <a:latin typeface="Comic Sans MS" panose="030F0702030302020204" pitchFamily="66" charset="0"/>
              </a:rPr>
              <a:t>– нет?</a:t>
            </a:r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105F7B3F-2D95-4D64-9864-406DF233F6FF}"/>
              </a:ext>
            </a:extLst>
          </p:cNvPr>
          <p:cNvGrpSpPr/>
          <p:nvPr/>
        </p:nvGrpSpPr>
        <p:grpSpPr>
          <a:xfrm>
            <a:off x="495300" y="4749800"/>
            <a:ext cx="7835900" cy="1446550"/>
            <a:chOff x="495300" y="4749800"/>
            <a:chExt cx="7835900" cy="1446550"/>
          </a:xfrm>
        </p:grpSpPr>
        <p:pic>
          <p:nvPicPr>
            <p:cNvPr id="6146" name="Picture 2" descr="Bunny icon">
              <a:extLst>
                <a:ext uri="{FF2B5EF4-FFF2-40B4-BE49-F238E27FC236}">
                  <a16:creationId xmlns:a16="http://schemas.microsoft.com/office/drawing/2014/main" id="{6183EE44-C4BE-419D-8BEC-13A048D03CA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5300" y="4914900"/>
              <a:ext cx="1219200" cy="1219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Picture 2" descr="Bunny icon">
              <a:extLst>
                <a:ext uri="{FF2B5EF4-FFF2-40B4-BE49-F238E27FC236}">
                  <a16:creationId xmlns:a16="http://schemas.microsoft.com/office/drawing/2014/main" id="{64D53FCA-8899-4C20-A606-910F9C9EDF9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12000" y="4914900"/>
              <a:ext cx="1219200" cy="1219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2" descr="Bunny icon">
              <a:extLst>
                <a:ext uri="{FF2B5EF4-FFF2-40B4-BE49-F238E27FC236}">
                  <a16:creationId xmlns:a16="http://schemas.microsoft.com/office/drawing/2014/main" id="{54B3BF6E-E642-4EF4-9229-E6874EBB864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80001" y="4914900"/>
              <a:ext cx="1219200" cy="1219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2" descr="Bunny icon">
              <a:extLst>
                <a:ext uri="{FF2B5EF4-FFF2-40B4-BE49-F238E27FC236}">
                  <a16:creationId xmlns:a16="http://schemas.microsoft.com/office/drawing/2014/main" id="{341B9CC5-4C1F-4B49-A14D-8C91AC497FC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22392" y="4914900"/>
              <a:ext cx="1219200" cy="1219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Знак умножения 3">
              <a:extLst>
                <a:ext uri="{FF2B5EF4-FFF2-40B4-BE49-F238E27FC236}">
                  <a16:creationId xmlns:a16="http://schemas.microsoft.com/office/drawing/2014/main" id="{E7E92D34-1D73-47A3-994C-E7A1F257950D}"/>
                </a:ext>
              </a:extLst>
            </p:cNvPr>
            <p:cNvSpPr/>
            <p:nvPr/>
          </p:nvSpPr>
          <p:spPr>
            <a:xfrm>
              <a:off x="1905000" y="4914900"/>
              <a:ext cx="1079500" cy="1219200"/>
            </a:xfrm>
            <a:prstGeom prst="mathMultiply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id="{4F11764F-4200-4029-917B-41CD2AAFCF1E}"/>
                </a:ext>
              </a:extLst>
            </p:cNvPr>
            <p:cNvSpPr/>
            <p:nvPr/>
          </p:nvSpPr>
          <p:spPr>
            <a:xfrm>
              <a:off x="3175000" y="4749800"/>
              <a:ext cx="756814" cy="144655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  <a:scene3d>
                <a:camera prst="orthographicFront"/>
                <a:lightRig rig="harsh" dir="t"/>
              </a:scene3d>
              <a:sp3d extrusionH="57150" prstMaterial="matte">
                <a:bevelT w="63500" h="12700" prst="angle"/>
                <a:contourClr>
                  <a:schemeClr val="bg1">
                    <a:lumMod val="65000"/>
                  </a:schemeClr>
                </a:contourClr>
              </a:sp3d>
            </a:bodyPr>
            <a:lstStyle/>
            <a:p>
              <a:pPr algn="ctr"/>
              <a:r>
                <a:rPr lang="ru-RU" sz="8800" dirty="0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3</a:t>
              </a:r>
            </a:p>
          </p:txBody>
        </p:sp>
        <p:sp>
          <p:nvSpPr>
            <p:cNvPr id="9" name="Равно 8">
              <a:extLst>
                <a:ext uri="{FF2B5EF4-FFF2-40B4-BE49-F238E27FC236}">
                  <a16:creationId xmlns:a16="http://schemas.microsoft.com/office/drawing/2014/main" id="{D8BC8B13-CC29-4545-97CB-CC7D8BB37BB0}"/>
                </a:ext>
              </a:extLst>
            </p:cNvPr>
            <p:cNvSpPr/>
            <p:nvPr/>
          </p:nvSpPr>
          <p:spPr>
            <a:xfrm>
              <a:off x="3939593" y="5067300"/>
              <a:ext cx="1270000" cy="1066800"/>
            </a:xfrm>
            <a:prstGeom prst="mathEqual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tx1"/>
                </a:solidFill>
              </a:endParaRPr>
            </a:p>
          </p:txBody>
        </p:sp>
      </p:grpSp>
      <p:grpSp>
        <p:nvGrpSpPr>
          <p:cNvPr id="12" name="Группа 11">
            <a:extLst>
              <a:ext uri="{FF2B5EF4-FFF2-40B4-BE49-F238E27FC236}">
                <a16:creationId xmlns:a16="http://schemas.microsoft.com/office/drawing/2014/main" id="{59F7D86C-303C-4EAF-A408-87884D8A5E74}"/>
              </a:ext>
            </a:extLst>
          </p:cNvPr>
          <p:cNvGrpSpPr/>
          <p:nvPr/>
        </p:nvGrpSpPr>
        <p:grpSpPr>
          <a:xfrm>
            <a:off x="474822" y="3536325"/>
            <a:ext cx="5547570" cy="1454775"/>
            <a:chOff x="474822" y="3536325"/>
            <a:chExt cx="5547570" cy="1454775"/>
          </a:xfrm>
        </p:grpSpPr>
        <p:sp>
          <p:nvSpPr>
            <p:cNvPr id="11" name="Прямоугольник 10">
              <a:extLst>
                <a:ext uri="{FF2B5EF4-FFF2-40B4-BE49-F238E27FC236}">
                  <a16:creationId xmlns:a16="http://schemas.microsoft.com/office/drawing/2014/main" id="{F670239B-6B45-491E-A981-C59BC62BD756}"/>
                </a:ext>
              </a:extLst>
            </p:cNvPr>
            <p:cNvSpPr/>
            <p:nvPr/>
          </p:nvSpPr>
          <p:spPr>
            <a:xfrm>
              <a:off x="5265578" y="3544550"/>
              <a:ext cx="756814" cy="144655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  <a:scene3d>
                <a:camera prst="orthographicFront"/>
                <a:lightRig rig="harsh" dir="t"/>
              </a:scene3d>
              <a:sp3d extrusionH="57150" prstMaterial="matte">
                <a:bevelT w="63500" h="12700" prst="angle"/>
                <a:contourClr>
                  <a:schemeClr val="bg1">
                    <a:lumMod val="65000"/>
                  </a:schemeClr>
                </a:contourClr>
              </a:sp3d>
            </a:bodyPr>
            <a:lstStyle/>
            <a:p>
              <a:pPr algn="ctr"/>
              <a:r>
                <a:rPr lang="ru-RU" sz="8800" dirty="0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?</a:t>
              </a:r>
            </a:p>
          </p:txBody>
        </p:sp>
        <p:pic>
          <p:nvPicPr>
            <p:cNvPr id="6148" name="Picture 4" descr="Chicken icon">
              <a:extLst>
                <a:ext uri="{FF2B5EF4-FFF2-40B4-BE49-F238E27FC236}">
                  <a16:creationId xmlns:a16="http://schemas.microsoft.com/office/drawing/2014/main" id="{DA376507-D190-4BEF-BB3D-9EDA004DF23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42206" y="3536325"/>
              <a:ext cx="1219200" cy="1219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2" descr="Bunny icon">
              <a:extLst>
                <a:ext uri="{FF2B5EF4-FFF2-40B4-BE49-F238E27FC236}">
                  <a16:creationId xmlns:a16="http://schemas.microsoft.com/office/drawing/2014/main" id="{D42D1980-B076-4B6E-9774-9AE63CF1444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4822" y="3536325"/>
              <a:ext cx="1219200" cy="1219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4" name="Равно 13">
              <a:extLst>
                <a:ext uri="{FF2B5EF4-FFF2-40B4-BE49-F238E27FC236}">
                  <a16:creationId xmlns:a16="http://schemas.microsoft.com/office/drawing/2014/main" id="{4EDAAAE0-D7DC-4FB7-BFFE-895EA1072CED}"/>
                </a:ext>
              </a:extLst>
            </p:cNvPr>
            <p:cNvSpPr/>
            <p:nvPr/>
          </p:nvSpPr>
          <p:spPr>
            <a:xfrm>
              <a:off x="3931814" y="3720475"/>
              <a:ext cx="1270000" cy="1066800"/>
            </a:xfrm>
            <a:prstGeom prst="mathEqual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tx1"/>
                </a:solidFill>
              </a:endParaRPr>
            </a:p>
          </p:txBody>
        </p:sp>
        <p:sp>
          <p:nvSpPr>
            <p:cNvPr id="10" name="Знак ''плюс'' 9">
              <a:extLst>
                <a:ext uri="{FF2B5EF4-FFF2-40B4-BE49-F238E27FC236}">
                  <a16:creationId xmlns:a16="http://schemas.microsoft.com/office/drawing/2014/main" id="{6E6ADDB9-4EA2-4A3C-919C-CAC305A4FEE8}"/>
                </a:ext>
              </a:extLst>
            </p:cNvPr>
            <p:cNvSpPr/>
            <p:nvPr/>
          </p:nvSpPr>
          <p:spPr>
            <a:xfrm>
              <a:off x="1828483" y="3720475"/>
              <a:ext cx="1100878" cy="977275"/>
            </a:xfrm>
            <a:prstGeom prst="mathPlus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17" name="Облачко с текстом: прямоугольное со скругленными углами 16">
            <a:extLst>
              <a:ext uri="{FF2B5EF4-FFF2-40B4-BE49-F238E27FC236}">
                <a16:creationId xmlns:a16="http://schemas.microsoft.com/office/drawing/2014/main" id="{2F7EF680-3778-49FE-9942-A84ED16E8517}"/>
              </a:ext>
            </a:extLst>
          </p:cNvPr>
          <p:cNvSpPr/>
          <p:nvPr/>
        </p:nvSpPr>
        <p:spPr>
          <a:xfrm>
            <a:off x="755111" y="402924"/>
            <a:ext cx="2528377" cy="1419526"/>
          </a:xfrm>
          <a:prstGeom prst="wedgeRoundRectCallout">
            <a:avLst>
              <a:gd name="adj1" fmla="val 21612"/>
              <a:gd name="adj2" fmla="val 168491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latin typeface="Comic Sans MS" panose="030F0702030302020204" pitchFamily="66" charset="0"/>
              </a:rPr>
              <a:t>В </a:t>
            </a:r>
            <a:r>
              <a:rPr lang="en-US" dirty="0">
                <a:latin typeface="Comic Sans MS" panose="030F0702030302020204" pitchFamily="66" charset="0"/>
              </a:rPr>
              <a:t>Python </a:t>
            </a:r>
            <a:r>
              <a:rPr lang="ru-RU" dirty="0">
                <a:latin typeface="Comic Sans MS" panose="030F0702030302020204" pitchFamily="66" charset="0"/>
              </a:rPr>
              <a:t>нельзя сложить два объекта разных типов</a:t>
            </a:r>
          </a:p>
        </p:txBody>
      </p:sp>
    </p:spTree>
    <p:extLst>
      <p:ext uri="{BB962C8B-B14F-4D97-AF65-F5344CB8AC3E}">
        <p14:creationId xmlns:p14="http://schemas.microsoft.com/office/powerpoint/2010/main" val="3811936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7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A9ED10A-F219-4C0D-953D-04B000DBEDC7}"/>
              </a:ext>
            </a:extLst>
          </p:cNvPr>
          <p:cNvSpPr/>
          <p:nvPr/>
        </p:nvSpPr>
        <p:spPr>
          <a:xfrm>
            <a:off x="1503680" y="1443841"/>
            <a:ext cx="10193020" cy="397031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ru-RU" sz="2800" dirty="0">
                <a:latin typeface="Comic Sans MS" panose="030F0702030302020204" pitchFamily="66" charset="0"/>
              </a:rPr>
              <a:t>Логическая ошибка (смысловая) — происходит, когда программа ведет себя не так, как было задумано.</a:t>
            </a:r>
          </a:p>
          <a:p>
            <a:endParaRPr lang="ru-RU" sz="2800" dirty="0">
              <a:latin typeface="Comic Sans MS" panose="030F0702030302020204" pitchFamily="66" charset="0"/>
            </a:endParaRPr>
          </a:p>
          <a:p>
            <a:r>
              <a:rPr lang="ru-RU" sz="2800" dirty="0">
                <a:latin typeface="Comic Sans MS" panose="030F0702030302020204" pitchFamily="66" charset="0"/>
              </a:rPr>
              <a:t>Например, когда не определен порядок действий в вычисляемом выражении. </a:t>
            </a:r>
          </a:p>
          <a:p>
            <a:endParaRPr lang="ru-RU" sz="2800" dirty="0">
              <a:latin typeface="Comic Sans MS" panose="030F0702030302020204" pitchFamily="66" charset="0"/>
            </a:endParaRPr>
          </a:p>
          <a:p>
            <a:r>
              <a:rPr lang="ru-RU" sz="2800" dirty="0">
                <a:latin typeface="Comic Sans MS" panose="030F0702030302020204" pitchFamily="66" charset="0"/>
              </a:rPr>
              <a:t>Интерпретатор запускает программу и не сообщает об ошибке </a:t>
            </a:r>
            <a:br>
              <a:rPr lang="ru-RU" sz="2800" dirty="0">
                <a:latin typeface="Comic Sans MS" panose="030F0702030302020204" pitchFamily="66" charset="0"/>
              </a:rPr>
            </a:br>
            <a:endParaRPr lang="ru-RU" sz="2800" dirty="0">
              <a:latin typeface="Comic Sans MS" panose="030F0702030302020204" pitchFamily="66" charset="0"/>
            </a:endParaRPr>
          </a:p>
        </p:txBody>
      </p:sp>
      <p:pic>
        <p:nvPicPr>
          <p:cNvPr id="4" name="Picture 2" descr="Alarm Error icon">
            <a:extLst>
              <a:ext uri="{FF2B5EF4-FFF2-40B4-BE49-F238E27FC236}">
                <a16:creationId xmlns:a16="http://schemas.microsoft.com/office/drawing/2014/main" id="{A6E9139F-F22C-4B1B-A75B-1B41129C03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080" y="214403"/>
            <a:ext cx="1414400" cy="14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377439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AD2D67-6BAF-4565-8ACA-44A7FF8F7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Помощь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2AEF9D0-1F1F-4FB9-BEF5-A63901E3F7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13171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7C980A1-BAD2-4E52-AD36-3627B5DE0D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837" y="333375"/>
            <a:ext cx="10144125" cy="337185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88578F2-82AE-4075-8F0F-E4C7EBE4D1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937" y="3895725"/>
            <a:ext cx="10801350" cy="237172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1962334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AD2D67-6BAF-4565-8ACA-44A7FF8F7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Выводы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2AEF9D0-1F1F-4FB9-BEF5-A63901E3F7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21165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555D9CB5-B8C5-49BF-8B19-D4B739B6015E}"/>
              </a:ext>
            </a:extLst>
          </p:cNvPr>
          <p:cNvSpPr/>
          <p:nvPr/>
        </p:nvSpPr>
        <p:spPr>
          <a:xfrm>
            <a:off x="1816100" y="771436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BB7DCBBF-78DB-4D6B-B73B-BFABC28A98CA}"/>
              </a:ext>
            </a:extLst>
          </p:cNvPr>
          <p:cNvSpPr/>
          <p:nvPr/>
        </p:nvSpPr>
        <p:spPr>
          <a:xfrm>
            <a:off x="2895600" y="6086564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9096C66-9C59-4B7D-B017-334B58EFBF4D}"/>
              </a:ext>
            </a:extLst>
          </p:cNvPr>
          <p:cNvSpPr/>
          <p:nvPr/>
        </p:nvSpPr>
        <p:spPr>
          <a:xfrm>
            <a:off x="571500" y="48905"/>
            <a:ext cx="8585200" cy="63909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ru-RU" sz="200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  <a:ea typeface="Calibri" panose="020F0502020204030204" pitchFamily="34" charset="0"/>
                <a:cs typeface="Times New Roman" panose="02020603050405020304" pitchFamily="18" charset="0"/>
              </a:rPr>
              <a:t>Python</a:t>
            </a:r>
            <a:r>
              <a:rPr lang="ru-RU" sz="2000" dirty="0">
                <a:solidFill>
                  <a:schemeClr val="tx2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  <a:ea typeface="Calibri" panose="020F0502020204030204" pitchFamily="34" charset="0"/>
                <a:cs typeface="Times New Roman" panose="02020603050405020304" pitchFamily="18" charset="0"/>
              </a:rPr>
              <a:t> — высокоуровневый язык программирования, использующий для вывода результатов интерпретатор </a:t>
            </a:r>
            <a:r>
              <a:rPr lang="ru-RU" sz="200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  <a:ea typeface="Calibri" panose="020F0502020204030204" pitchFamily="34" charset="0"/>
                <a:cs typeface="Times New Roman" panose="02020603050405020304" pitchFamily="18" charset="0"/>
              </a:rPr>
              <a:t>Python</a:t>
            </a:r>
            <a:r>
              <a:rPr lang="ru-RU" sz="2000" dirty="0">
                <a:solidFill>
                  <a:schemeClr val="tx2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tx2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  <a:ea typeface="Calibri" panose="020F0502020204030204" pitchFamily="34" charset="0"/>
                <a:cs typeface="Times New Roman" panose="02020603050405020304" pitchFamily="18" charset="0"/>
              </a:rPr>
              <a:t>Интерпретатор </a:t>
            </a:r>
            <a:r>
              <a:rPr lang="ru-RU" sz="200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  <a:ea typeface="Calibri" panose="020F0502020204030204" pitchFamily="34" charset="0"/>
                <a:cs typeface="Times New Roman" panose="02020603050405020304" pitchFamily="18" charset="0"/>
              </a:rPr>
              <a:t>Python</a:t>
            </a:r>
            <a:r>
              <a:rPr lang="ru-RU" sz="2000" dirty="0">
                <a:solidFill>
                  <a:schemeClr val="tx2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  <a:ea typeface="Calibri" panose="020F0502020204030204" pitchFamily="34" charset="0"/>
                <a:cs typeface="Times New Roman" panose="02020603050405020304" pitchFamily="18" charset="0"/>
              </a:rPr>
              <a:t> имеет интерактивный режим, в котором вы можете проверять куски кода и который очень полезен для отладки программы.</a:t>
            </a: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tx2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  <a:ea typeface="Calibri" panose="020F0502020204030204" pitchFamily="34" charset="0"/>
                <a:cs typeface="Times New Roman" panose="02020603050405020304" pitchFamily="18" charset="0"/>
              </a:rPr>
              <a:t>Программа на языке </a:t>
            </a:r>
            <a:r>
              <a:rPr lang="ru-RU" sz="200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  <a:ea typeface="Calibri" panose="020F0502020204030204" pitchFamily="34" charset="0"/>
                <a:cs typeface="Times New Roman" panose="02020603050405020304" pitchFamily="18" charset="0"/>
              </a:rPr>
              <a:t>Python</a:t>
            </a:r>
            <a:r>
              <a:rPr lang="ru-RU" sz="2000" dirty="0">
                <a:solidFill>
                  <a:schemeClr val="tx2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  <a:ea typeface="Calibri" panose="020F0502020204030204" pitchFamily="34" charset="0"/>
                <a:cs typeface="Times New Roman" panose="02020603050405020304" pitchFamily="18" charset="0"/>
              </a:rPr>
              <a:t> представляет собой текстовый файл, который можно создать в простейшем текстовом редакторе и сохранить с расширением </a:t>
            </a:r>
            <a:r>
              <a:rPr lang="ru-RU" sz="2000" i="1" dirty="0">
                <a:solidFill>
                  <a:schemeClr val="tx2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ru-RU" sz="2000" i="1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  <a:ea typeface="Calibri" panose="020F0502020204030204" pitchFamily="34" charset="0"/>
                <a:cs typeface="Times New Roman" panose="02020603050405020304" pitchFamily="18" charset="0"/>
              </a:rPr>
              <a:t>py</a:t>
            </a:r>
            <a:r>
              <a:rPr lang="ru-RU" sz="2000" dirty="0">
                <a:solidFill>
                  <a:schemeClr val="tx2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tx2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  <a:ea typeface="Calibri" panose="020F0502020204030204" pitchFamily="34" charset="0"/>
                <a:cs typeface="Times New Roman" panose="02020603050405020304" pitchFamily="18" charset="0"/>
              </a:rPr>
              <a:t>Функция </a:t>
            </a:r>
            <a:r>
              <a:rPr lang="ru-RU" sz="2000" b="1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  <a:ea typeface="Calibri" panose="020F0502020204030204" pitchFamily="34" charset="0"/>
                <a:cs typeface="Times New Roman" panose="02020603050405020304" pitchFamily="18" charset="0"/>
              </a:rPr>
              <a:t>print</a:t>
            </a:r>
            <a:r>
              <a:rPr lang="ru-RU" sz="20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  <a:ea typeface="Calibri" panose="020F0502020204030204" pitchFamily="34" charset="0"/>
                <a:cs typeface="Times New Roman" panose="02020603050405020304" pitchFamily="18" charset="0"/>
              </a:rPr>
              <a:t>() </a:t>
            </a:r>
            <a:r>
              <a:rPr lang="ru-RU" sz="2000" dirty="0">
                <a:solidFill>
                  <a:schemeClr val="tx2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  <a:ea typeface="Calibri" panose="020F0502020204030204" pitchFamily="34" charset="0"/>
                <a:cs typeface="Times New Roman" panose="02020603050405020304" pitchFamily="18" charset="0"/>
              </a:rPr>
              <a:t>выводит на экран строку, указанную внутри ее скобок .</a:t>
            </a: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tx2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  <a:ea typeface="Calibri" panose="020F0502020204030204" pitchFamily="34" charset="0"/>
                <a:cs typeface="Times New Roman" panose="02020603050405020304" pitchFamily="18" charset="0"/>
              </a:rPr>
              <a:t>Строковые значения должны быть заключены в кавычки. </a:t>
            </a: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tx2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  <a:ea typeface="Calibri" panose="020F0502020204030204" pitchFamily="34" charset="0"/>
                <a:cs typeface="Times New Roman" panose="02020603050405020304" pitchFamily="18" charset="0"/>
              </a:rPr>
              <a:t>Синтаксические ошибки, вызванные некорректным кодом, распознаются интерпретатором до исполнения программы.</a:t>
            </a: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tx2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  <a:ea typeface="Calibri" panose="020F0502020204030204" pitchFamily="34" charset="0"/>
                <a:cs typeface="Times New Roman" panose="02020603050405020304" pitchFamily="18" charset="0"/>
              </a:rPr>
              <a:t>Ошибки исполнения, вызванные исключениями, распознаются интерпретатором во время исполнения программы.</a:t>
            </a: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tx2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  <a:ea typeface="Calibri" panose="020F0502020204030204" pitchFamily="34" charset="0"/>
                <a:cs typeface="Times New Roman" panose="02020603050405020304" pitchFamily="18" charset="0"/>
              </a:rPr>
              <a:t>Смысловые ошибки, вызванные неожиданными результатами, не распознаются интерпретатором.</a:t>
            </a:r>
          </a:p>
        </p:txBody>
      </p:sp>
    </p:spTree>
    <p:extLst>
      <p:ext uri="{BB962C8B-B14F-4D97-AF65-F5344CB8AC3E}">
        <p14:creationId xmlns:p14="http://schemas.microsoft.com/office/powerpoint/2010/main" val="3988478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theme/theme1.xml><?xml version="1.0" encoding="utf-8"?>
<a:theme xmlns:a="http://schemas.openxmlformats.org/drawingml/2006/main" name="Ретро">
  <a:themeElements>
    <a:clrScheme name="Теплый синий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Ретро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Ретр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4853</TotalTime>
  <Words>817</Words>
  <Application>Microsoft Office PowerPoint</Application>
  <PresentationFormat>Широкоэкранный</PresentationFormat>
  <Paragraphs>137</Paragraphs>
  <Slides>28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28</vt:i4>
      </vt:variant>
    </vt:vector>
  </HeadingPairs>
  <TitlesOfParts>
    <vt:vector size="36" baseType="lpstr">
      <vt:lpstr>-apple-system</vt:lpstr>
      <vt:lpstr>Arial</vt:lpstr>
      <vt:lpstr>Calibri</vt:lpstr>
      <vt:lpstr>Calibri Light</vt:lpstr>
      <vt:lpstr>Comic Sans MS</vt:lpstr>
      <vt:lpstr>Times New Roman</vt:lpstr>
      <vt:lpstr>Wingdings</vt:lpstr>
      <vt:lpstr>Ретро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Взаимодействие с Python</vt:lpstr>
      <vt:lpstr>Интерактивный режим</vt:lpstr>
      <vt:lpstr>Калькулятор</vt:lpstr>
      <vt:lpstr># это комментарий </vt:lpstr>
      <vt:lpstr>Презентация PowerPoint</vt:lpstr>
      <vt:lpstr>Презентация PowerPoint</vt:lpstr>
      <vt:lpstr>Презентация PowerPoint</vt:lpstr>
      <vt:lpstr>Презентация PowerPoint</vt:lpstr>
      <vt:lpstr>Программный режим</vt:lpstr>
      <vt:lpstr>Презентация PowerPoint</vt:lpstr>
      <vt:lpstr>Первая программа в редакторе</vt:lpstr>
      <vt:lpstr>Программа запущена</vt:lpstr>
      <vt:lpstr>Пользовательские настройки окна оболочки.  Вкладка "Fonts/Tabs"</vt:lpstr>
      <vt:lpstr>Если что-то идет не так</vt:lpstr>
      <vt:lpstr>Презентация PowerPoint</vt:lpstr>
      <vt:lpstr>Ошибки выполнения</vt:lpstr>
      <vt:lpstr>Пример</vt:lpstr>
      <vt:lpstr>Презентация PowerPoint</vt:lpstr>
      <vt:lpstr>Презентация PowerPoint</vt:lpstr>
      <vt:lpstr>Помощь</vt:lpstr>
      <vt:lpstr>Презентация PowerPoint</vt:lpstr>
      <vt:lpstr>Выводы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Взаимодействие с Python</dc:title>
  <dc:creator>-</dc:creator>
  <cp:lastModifiedBy>Dmitriy</cp:lastModifiedBy>
  <cp:revision>57</cp:revision>
  <dcterms:created xsi:type="dcterms:W3CDTF">2020-07-10T14:09:14Z</dcterms:created>
  <dcterms:modified xsi:type="dcterms:W3CDTF">2025-09-09T19:12:20Z</dcterms:modified>
</cp:coreProperties>
</file>