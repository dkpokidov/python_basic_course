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63" r:id="rId4"/>
    <p:sldId id="266" r:id="rId5"/>
    <p:sldId id="257" r:id="rId6"/>
    <p:sldId id="267" r:id="rId7"/>
    <p:sldId id="268" r:id="rId8"/>
    <p:sldId id="269" r:id="rId9"/>
    <p:sldId id="270" r:id="rId10"/>
    <p:sldId id="27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1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74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28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10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49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97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442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17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8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13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37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14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BA44B8-08B1-498F-ABF4-BF1F4390417B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05161E-AA97-4729-ADF0-FAB179B28D8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33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python.org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online.net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4B53D-ED9D-4C25-82C4-5A62A827D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37C8CD-D559-43C0-9B67-4F6B1E2A4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54" y="191530"/>
            <a:ext cx="2512266" cy="251226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32" y="114873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1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190EF-FC6F-460B-970E-22C82286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Установка </a:t>
            </a:r>
            <a:r>
              <a:rPr lang="ru-RU" sz="5400" dirty="0" err="1"/>
              <a:t>Python</a:t>
            </a:r>
            <a:r>
              <a:rPr lang="ru-RU" sz="5400" dirty="0"/>
              <a:t/>
            </a:r>
            <a:br>
              <a:rPr lang="ru-RU" sz="5400" dirty="0"/>
            </a:br>
            <a:r>
              <a:rPr lang="ru-RU" sz="5400" dirty="0"/>
              <a:t>в операционной системе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32" y="114873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16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7528"/>
            <a:ext cx="9798738" cy="371451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8041761" cy="35879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E7A4075-95E5-4099-9917-900C75F13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119" y="2385435"/>
            <a:ext cx="4185922" cy="37127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E89E8BFD-B712-47FF-B729-344727127BFB}"/>
              </a:ext>
            </a:extLst>
          </p:cNvPr>
          <p:cNvSpPr/>
          <p:nvPr/>
        </p:nvSpPr>
        <p:spPr>
          <a:xfrm>
            <a:off x="4899369" y="4026477"/>
            <a:ext cx="518160" cy="67652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65676F91-5339-44F8-AC11-ACF1E3AE7E44}"/>
              </a:ext>
            </a:extLst>
          </p:cNvPr>
          <p:cNvSpPr/>
          <p:nvPr/>
        </p:nvSpPr>
        <p:spPr>
          <a:xfrm>
            <a:off x="9530080" y="4026477"/>
            <a:ext cx="518160" cy="67652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A2FD2A-943E-4ED7-9474-75F509CE1F83}"/>
              </a:ext>
            </a:extLst>
          </p:cNvPr>
          <p:cNvSpPr/>
          <p:nvPr/>
        </p:nvSpPr>
        <p:spPr>
          <a:xfrm>
            <a:off x="8313085" y="267246"/>
            <a:ext cx="38789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Запустите веб-браузер, перейдите</a:t>
            </a:r>
            <a:br>
              <a:rPr lang="ru-RU" dirty="0"/>
            </a:br>
            <a:r>
              <a:rPr lang="ru-RU" dirty="0"/>
              <a:t>на страницу </a:t>
            </a:r>
            <a:r>
              <a:rPr lang="ru-RU" dirty="0" smtClean="0">
                <a:hlinkClick r:id="rId5" action="ppaction://hlinkfile"/>
              </a:rPr>
              <a:t>python.org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ru-RU" dirty="0"/>
              <a:t>загрузите установщик, подходящий для вашей версии операционной системы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ru-RU" dirty="0">
                <a:solidFill>
                  <a:schemeClr val="accent2">
                    <a:lumMod val="75000"/>
                  </a:schemeClr>
                </a:solidFill>
              </a:rPr>
            </a:b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04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2996"/>
          <a:stretch/>
        </p:blipFill>
        <p:spPr>
          <a:xfrm>
            <a:off x="3323511" y="4539904"/>
            <a:ext cx="8762170" cy="158937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123825"/>
            <a:ext cx="6924675" cy="4362450"/>
          </a:xfrm>
          <a:prstGeom prst="rect">
            <a:avLst/>
          </a:prstGeom>
        </p:spPr>
      </p:pic>
      <p:sp>
        <p:nvSpPr>
          <p:cNvPr id="10" name="Стрелка влево 9"/>
          <p:cNvSpPr/>
          <p:nvPr/>
        </p:nvSpPr>
        <p:spPr>
          <a:xfrm rot="1282957">
            <a:off x="8779667" y="5629764"/>
            <a:ext cx="1223803" cy="427767"/>
          </a:xfrm>
          <a:prstGeom prst="lef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7319962" y="2760617"/>
            <a:ext cx="36976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1F1F1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Исполнить можно и так</a:t>
            </a:r>
            <a:r>
              <a:rPr lang="ru-RU" sz="20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endParaRPr lang="ru-RU" sz="2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10674" y="5225957"/>
            <a:ext cx="27102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1F1F1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 можно через командную строку</a:t>
            </a:r>
            <a:r>
              <a:rPr lang="ru-RU" sz="20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endParaRPr lang="ru-RU" sz="20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7542765" y="188542"/>
            <a:ext cx="36976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1F1F1F"/>
                </a:solidFill>
                <a:latin typeface="Arial" panose="020B0604020202020204" pitchFamily="34" charset="0"/>
              </a:rPr>
              <a:t>По умолчанию встает сюда</a:t>
            </a:r>
            <a:endParaRPr lang="ru-RU" sz="2400" b="1" dirty="0"/>
          </a:p>
        </p:txBody>
      </p:sp>
      <p:sp>
        <p:nvSpPr>
          <p:cNvPr id="6" name="Стрелка влево 5"/>
          <p:cNvSpPr/>
          <p:nvPr/>
        </p:nvSpPr>
        <p:spPr>
          <a:xfrm rot="18154462">
            <a:off x="10043144" y="732231"/>
            <a:ext cx="764401" cy="427767"/>
          </a:xfrm>
          <a:prstGeom prst="lef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695102" y="1520059"/>
            <a:ext cx="4297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A017B"/>
                </a:solidFill>
              </a:rPr>
              <a:t>C:\</a:t>
            </a:r>
            <a:r>
              <a:rPr lang="ru-RU" dirty="0" smtClean="0">
                <a:solidFill>
                  <a:srgbClr val="2A017B"/>
                </a:solidFill>
              </a:rPr>
              <a:t>Users\Dmitriy\AppData\Local\</a:t>
            </a:r>
          </a:p>
          <a:p>
            <a:r>
              <a:rPr lang="ru-RU" dirty="0" err="1" smtClean="0">
                <a:solidFill>
                  <a:srgbClr val="2A017B"/>
                </a:solidFill>
              </a:rPr>
              <a:t>Programs</a:t>
            </a:r>
            <a:r>
              <a:rPr lang="ru-RU" dirty="0" smtClean="0">
                <a:solidFill>
                  <a:srgbClr val="2A017B"/>
                </a:solidFill>
              </a:rPr>
              <a:t>\</a:t>
            </a:r>
            <a:r>
              <a:rPr lang="ru-RU" dirty="0" err="1" smtClean="0">
                <a:solidFill>
                  <a:srgbClr val="2A017B"/>
                </a:solidFill>
              </a:rPr>
              <a:t>Python</a:t>
            </a:r>
            <a:r>
              <a:rPr lang="ru-RU" dirty="0" smtClean="0">
                <a:solidFill>
                  <a:srgbClr val="2A017B"/>
                </a:solidFill>
              </a:rPr>
              <a:t>\Python311\python.exe</a:t>
            </a:r>
            <a:endParaRPr lang="ru-RU" dirty="0">
              <a:solidFill>
                <a:srgbClr val="2A017B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227" y="3373999"/>
            <a:ext cx="8926171" cy="952633"/>
          </a:xfrm>
          <a:prstGeom prst="rect">
            <a:avLst/>
          </a:prstGeom>
          <a:ln w="38100">
            <a:solidFill>
              <a:srgbClr val="2A017B"/>
            </a:solidFill>
          </a:ln>
        </p:spPr>
      </p:pic>
      <p:sp>
        <p:nvSpPr>
          <p:cNvPr id="8" name="Стрелка влево 7"/>
          <p:cNvSpPr/>
          <p:nvPr/>
        </p:nvSpPr>
        <p:spPr>
          <a:xfrm rot="19302540">
            <a:off x="3373824" y="3412656"/>
            <a:ext cx="764401" cy="427767"/>
          </a:xfrm>
          <a:prstGeom prst="leftArrow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92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94" y="1028365"/>
            <a:ext cx="7783011" cy="48012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347718"/>
            <a:ext cx="10058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Устанавливаем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1" name="Облачко с текстом: прямоугольное со скругленными углами 10">
            <a:extLst>
              <a:ext uri="{FF2B5EF4-FFF2-40B4-BE49-F238E27FC236}">
                <a16:creationId xmlns:a16="http://schemas.microsoft.com/office/drawing/2014/main" id="{ED19141E-9C20-4CFB-BCAF-CE78857D0DD3}"/>
              </a:ext>
            </a:extLst>
          </p:cNvPr>
          <p:cNvSpPr/>
          <p:nvPr/>
        </p:nvSpPr>
        <p:spPr>
          <a:xfrm>
            <a:off x="9531543" y="3180471"/>
            <a:ext cx="2528377" cy="1234097"/>
          </a:xfrm>
          <a:prstGeom prst="wedgeRoundRectCallout">
            <a:avLst>
              <a:gd name="adj1" fmla="val -213314"/>
              <a:gd name="adj2" fmla="val 31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</a:t>
            </a:r>
            <a:r>
              <a:rPr lang="ru-RU" dirty="0" smtClean="0"/>
              <a:t>ыберите </a:t>
            </a:r>
            <a:r>
              <a:rPr lang="ru-RU" dirty="0"/>
              <a:t>вариант "</a:t>
            </a:r>
            <a:r>
              <a:rPr lang="en-US" dirty="0"/>
              <a:t>Customize installation" </a:t>
            </a:r>
            <a:endParaRPr lang="ru-RU" dirty="0"/>
          </a:p>
        </p:txBody>
      </p:sp>
      <p:sp>
        <p:nvSpPr>
          <p:cNvPr id="12" name="Облачко с текстом: прямоугольное со скругленными углами 11">
            <a:extLst>
              <a:ext uri="{FF2B5EF4-FFF2-40B4-BE49-F238E27FC236}">
                <a16:creationId xmlns:a16="http://schemas.microsoft.com/office/drawing/2014/main" id="{ED8DEE45-62E5-4192-A715-93FB60B0B027}"/>
              </a:ext>
            </a:extLst>
          </p:cNvPr>
          <p:cNvSpPr/>
          <p:nvPr/>
        </p:nvSpPr>
        <p:spPr>
          <a:xfrm>
            <a:off x="284479" y="1565558"/>
            <a:ext cx="2528377" cy="2955642"/>
          </a:xfrm>
          <a:prstGeom prst="wedgeRoundRectCallout">
            <a:avLst>
              <a:gd name="adj1" fmla="val 114587"/>
              <a:gd name="adj2" fmla="val 851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Поставьте галочку </a:t>
            </a:r>
            <a:r>
              <a:rPr lang="ru-RU" b="1" dirty="0"/>
              <a:t>"</a:t>
            </a:r>
            <a:r>
              <a:rPr lang="ru-RU" b="1" dirty="0" err="1"/>
              <a:t>Add</a:t>
            </a:r>
            <a:r>
              <a:rPr lang="ru-RU" b="1" dirty="0"/>
              <a:t> python.exe </a:t>
            </a:r>
            <a:r>
              <a:rPr lang="ru-RU" b="1" dirty="0" err="1"/>
              <a:t>to</a:t>
            </a:r>
            <a:r>
              <a:rPr lang="ru-RU" b="1" dirty="0"/>
              <a:t> PATH"</a:t>
            </a:r>
            <a:r>
              <a:rPr lang="ru-RU" dirty="0"/>
              <a:t>. Это позволит запускать </a:t>
            </a:r>
            <a:r>
              <a:rPr lang="ru-RU" dirty="0" err="1"/>
              <a:t>Python</a:t>
            </a:r>
            <a:r>
              <a:rPr lang="ru-RU" dirty="0"/>
              <a:t> из любой папки на вашем компьютере, что критически важно для удобной работы.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CC060C-98B1-4A38-81EA-C2AB1C9CA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68" y="27443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7EC7D5-1054-4E82-84B3-3D08FEBF6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5" y="2120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48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1075996"/>
            <a:ext cx="7744906" cy="4706007"/>
          </a:xfrm>
          <a:prstGeom prst="rect">
            <a:avLst/>
          </a:prstGeom>
        </p:spPr>
      </p:pic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576C01B5-D33B-401C-8B99-A19A756DDBA2}"/>
              </a:ext>
            </a:extLst>
          </p:cNvPr>
          <p:cNvSpPr/>
          <p:nvPr/>
        </p:nvSpPr>
        <p:spPr>
          <a:xfrm>
            <a:off x="629920" y="1599216"/>
            <a:ext cx="2528377" cy="914400"/>
          </a:xfrm>
          <a:prstGeom prst="wedgeRoundRectCallout">
            <a:avLst>
              <a:gd name="adj1" fmla="val 112682"/>
              <a:gd name="adj2" fmla="val 3056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Запомните </a:t>
            </a:r>
            <a:r>
              <a:rPr lang="ru-RU" b="1" dirty="0"/>
              <a:t>этот путь</a:t>
            </a:r>
            <a:endParaRPr lang="ru-RU" dirty="0"/>
          </a:p>
        </p:txBody>
      </p:sp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8445172" y="937476"/>
            <a:ext cx="3401388" cy="914400"/>
          </a:xfrm>
          <a:prstGeom prst="wedgeRoundRectCallout">
            <a:avLst>
              <a:gd name="adj1" fmla="val -165054"/>
              <a:gd name="adj2" fmla="val 829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Поставьте галочку 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/>
            </a:r>
            <a:b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"</a:t>
            </a:r>
            <a:r>
              <a:rPr lang="en-US" b="1" dirty="0">
                <a:latin typeface="Golos Text" panose="020B0503020202020204" pitchFamily="34" charset="0"/>
                <a:ea typeface="Golos Text" panose="020B0503020202020204" pitchFamily="34" charset="0"/>
              </a:rPr>
              <a:t>Install for all users"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655774"/>
            <a:ext cx="10058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Устанавливаем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2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8822945" y="3206178"/>
            <a:ext cx="3401388" cy="914400"/>
          </a:xfrm>
          <a:prstGeom prst="wedgeRoundRectCallout">
            <a:avLst>
              <a:gd name="adj1" fmla="val -78132"/>
              <a:gd name="adj2" fmla="val 2029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Нажмите </a:t>
            </a:r>
            <a:r>
              <a:rPr lang="ru-RU" b="1" dirty="0">
                <a:latin typeface="Golos Text" panose="020B0503020202020204" pitchFamily="34" charset="0"/>
                <a:ea typeface="Golos Text" panose="020B0503020202020204" pitchFamily="34" charset="0"/>
              </a:rPr>
              <a:t>"</a:t>
            </a:r>
            <a:r>
              <a:rPr lang="ru-RU" b="1" dirty="0" err="1">
                <a:latin typeface="Golos Text" panose="020B0503020202020204" pitchFamily="34" charset="0"/>
                <a:ea typeface="Golos Text" panose="020B0503020202020204" pitchFamily="34" charset="0"/>
              </a:rPr>
              <a:t>Install</a:t>
            </a:r>
            <a:r>
              <a:rPr lang="ru-RU" b="1" dirty="0">
                <a:latin typeface="Golos Text" panose="020B0503020202020204" pitchFamily="34" charset="0"/>
                <a:ea typeface="Golos Text" panose="020B0503020202020204" pitchFamily="34" charset="0"/>
              </a:rPr>
              <a:t>"</a:t>
            </a:r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. Дождитесь окончания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3602511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937476"/>
            <a:ext cx="10871200" cy="5444525"/>
          </a:xfrm>
          <a:prstGeom prst="rect">
            <a:avLst/>
          </a:prstGeom>
        </p:spPr>
      </p:pic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8601916" y="937476"/>
            <a:ext cx="3401388" cy="914400"/>
          </a:xfrm>
          <a:prstGeom prst="wedgeRoundRectCallout">
            <a:avLst>
              <a:gd name="adj1" fmla="val -108002"/>
              <a:gd name="adj2" fmla="val 2785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Здесь кликаем </a:t>
            </a:r>
            <a:endParaRPr lang="en-US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для </a:t>
            </a:r>
            <a:r>
              <a:rPr lang="en-US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Windows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344996"/>
            <a:ext cx="10058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Устанавливаем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  <a:hlinkClick r:id="rId3"/>
              </a:rPr>
              <a:t>Visual Studio Code 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2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1524000" y="4638738"/>
            <a:ext cx="3401388" cy="914400"/>
          </a:xfrm>
          <a:prstGeom prst="wedgeRoundRectCallout">
            <a:avLst>
              <a:gd name="adj1" fmla="val 90037"/>
              <a:gd name="adj2" fmla="val -925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Здесь – если у вас другая операционная система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016240" y="3500818"/>
            <a:ext cx="3088640" cy="227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Процесс установки очень простой. Можно смело нажимать "</a:t>
            </a:r>
            <a:r>
              <a:rPr lang="ru-RU" dirty="0" err="1"/>
              <a:t>Next</a:t>
            </a:r>
            <a:r>
              <a:rPr lang="ru-RU" dirty="0"/>
              <a:t>", оставляя все настройки по умолчанию. Рекомендуется оставить все галочки</a:t>
            </a:r>
          </a:p>
        </p:txBody>
      </p:sp>
    </p:spTree>
    <p:extLst>
      <p:ext uri="{BB962C8B-B14F-4D97-AF65-F5344CB8AC3E}">
        <p14:creationId xmlns:p14="http://schemas.microsoft.com/office/powerpoint/2010/main" val="590973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53" y="937476"/>
            <a:ext cx="5648067" cy="5346111"/>
          </a:xfrm>
          <a:prstGeom prst="rect">
            <a:avLst/>
          </a:prstGeom>
        </p:spPr>
      </p:pic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576C01B5-D33B-401C-8B99-A19A756DDBA2}"/>
              </a:ext>
            </a:extLst>
          </p:cNvPr>
          <p:cNvSpPr/>
          <p:nvPr/>
        </p:nvSpPr>
        <p:spPr>
          <a:xfrm>
            <a:off x="722253" y="922065"/>
            <a:ext cx="2528377" cy="914400"/>
          </a:xfrm>
          <a:prstGeom prst="wedgeRoundRectCallout">
            <a:avLst>
              <a:gd name="adj1" fmla="val -11888"/>
              <a:gd name="adj2" fmla="val 2456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Открываем </a:t>
            </a:r>
            <a:r>
              <a:rPr lang="en-US" b="1" dirty="0" smtClean="0"/>
              <a:t>VS Code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244066"/>
            <a:ext cx="4246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Настраиваем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VS Code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84" y="1522882"/>
            <a:ext cx="6263576" cy="4760706"/>
          </a:xfrm>
          <a:prstGeom prst="rect">
            <a:avLst/>
          </a:prstGeom>
        </p:spPr>
      </p:pic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4323265" y="801164"/>
            <a:ext cx="2672080" cy="914400"/>
          </a:xfrm>
          <a:prstGeom prst="wedgeRoundRectCallout">
            <a:avLst>
              <a:gd name="adj1" fmla="val -2683"/>
              <a:gd name="adj2" fmla="val 2651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Или через ярлык на рабочем столе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3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8494130" y="1715564"/>
            <a:ext cx="2672080" cy="1525476"/>
          </a:xfrm>
          <a:prstGeom prst="wedgeRoundRectCallout">
            <a:avLst>
              <a:gd name="adj1" fmla="val -142988"/>
              <a:gd name="adj2" fmla="val 578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Н</a:t>
            </a:r>
            <a:r>
              <a:rPr lang="ru-RU" dirty="0" smtClean="0"/>
              <a:t>ажмите </a:t>
            </a:r>
            <a:r>
              <a:rPr lang="ru-RU" dirty="0"/>
              <a:t>на иконку квадратов в левой боковой панели или используйте горячие </a:t>
            </a:r>
            <a:r>
              <a:rPr lang="ru-RU" dirty="0" smtClean="0"/>
              <a:t>клавиши </a:t>
            </a:r>
            <a:r>
              <a:rPr lang="en-US" dirty="0" err="1" smtClean="0"/>
              <a:t>Ctr</a:t>
            </a:r>
            <a:r>
              <a:rPr lang="en-US" dirty="0" smtClean="0"/>
              <a:t> + Shift + X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84039" y="3903235"/>
            <a:ext cx="3647440" cy="2178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ru-RU" dirty="0" smtClean="0"/>
              <a:t>В </a:t>
            </a:r>
            <a:r>
              <a:rPr lang="ru-RU" dirty="0"/>
              <a:t>поисковой строке </a:t>
            </a:r>
            <a:r>
              <a:rPr lang="ru-RU" dirty="0" smtClean="0"/>
              <a:t>введите</a:t>
            </a:r>
            <a:r>
              <a:rPr lang="en-US" dirty="0" smtClean="0"/>
              <a:t> Python</a:t>
            </a:r>
          </a:p>
          <a:p>
            <a:pPr marL="342900" indent="-342900">
              <a:buAutoNum type="arabicPeriod"/>
            </a:pPr>
            <a:r>
              <a:rPr lang="ru-RU" dirty="0"/>
              <a:t>Найдите расширение </a:t>
            </a:r>
            <a:r>
              <a:rPr lang="ru-RU" b="1" dirty="0"/>
              <a:t>"</a:t>
            </a:r>
            <a:r>
              <a:rPr lang="ru-RU" b="1" dirty="0" err="1"/>
              <a:t>Python</a:t>
            </a:r>
            <a:r>
              <a:rPr lang="ru-RU" b="1" dirty="0"/>
              <a:t>"</a:t>
            </a:r>
            <a:r>
              <a:rPr lang="ru-RU" dirty="0"/>
              <a:t> от 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b="1" dirty="0" smtClean="0"/>
              <a:t>Microsoft</a:t>
            </a:r>
            <a:r>
              <a:rPr lang="en-US" dirty="0"/>
              <a:t> </a:t>
            </a:r>
            <a:r>
              <a:rPr lang="ru-RU" dirty="0"/>
              <a:t> </a:t>
            </a:r>
            <a:r>
              <a:rPr lang="ru-RU" dirty="0" smtClean="0"/>
              <a:t>и </a:t>
            </a:r>
            <a:r>
              <a:rPr lang="ru-RU" dirty="0"/>
              <a:t>нажмите "</a:t>
            </a:r>
            <a:r>
              <a:rPr lang="ru-RU" dirty="0" err="1"/>
              <a:t>Install</a:t>
            </a:r>
            <a:r>
              <a:rPr lang="ru-RU" dirty="0"/>
              <a:t>" (Установить).</a:t>
            </a:r>
          </a:p>
        </p:txBody>
      </p:sp>
    </p:spTree>
    <p:extLst>
      <p:ext uri="{BB962C8B-B14F-4D97-AF65-F5344CB8AC3E}">
        <p14:creationId xmlns:p14="http://schemas.microsoft.com/office/powerpoint/2010/main" val="52223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16955" b="42386"/>
          <a:stretch/>
        </p:blipFill>
        <p:spPr>
          <a:xfrm>
            <a:off x="367189" y="1258364"/>
            <a:ext cx="7912151" cy="31192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343" y="1238783"/>
            <a:ext cx="7137073" cy="5300373"/>
          </a:xfrm>
          <a:prstGeom prst="rect">
            <a:avLst/>
          </a:prstGeom>
        </p:spPr>
      </p:pic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576C01B5-D33B-401C-8B99-A19A756DDBA2}"/>
              </a:ext>
            </a:extLst>
          </p:cNvPr>
          <p:cNvSpPr/>
          <p:nvPr/>
        </p:nvSpPr>
        <p:spPr>
          <a:xfrm>
            <a:off x="629920" y="781583"/>
            <a:ext cx="2722880" cy="914400"/>
          </a:xfrm>
          <a:prstGeom prst="wedgeRoundRectCallout">
            <a:avLst>
              <a:gd name="adj1" fmla="val 29903"/>
              <a:gd name="adj2" fmla="val 132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Создайте на диске новую папку с понятным названием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244066"/>
            <a:ext cx="4246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Настраиваем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VS Code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5822050" y="119388"/>
            <a:ext cx="2672080" cy="914400"/>
          </a:xfrm>
          <a:prstGeom prst="wedgeRoundRectCallout">
            <a:avLst>
              <a:gd name="adj1" fmla="val -57436"/>
              <a:gd name="adj2" fmla="val 84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Откройте вашу </a:t>
            </a:r>
            <a:r>
              <a:rPr lang="ru-RU" dirty="0" smtClean="0"/>
              <a:t>папку</a:t>
            </a:r>
            <a:r>
              <a:rPr lang="en-US" dirty="0" smtClean="0"/>
              <a:t>. </a:t>
            </a:r>
            <a:r>
              <a:rPr lang="ru-RU" dirty="0" smtClean="0"/>
              <a:t>Сначала жмем на </a:t>
            </a:r>
            <a:r>
              <a:rPr lang="en-US" dirty="0" smtClean="0"/>
              <a:t>File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3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8859399" y="1033788"/>
            <a:ext cx="2672080" cy="784274"/>
          </a:xfrm>
          <a:prstGeom prst="wedgeRoundRectCallout">
            <a:avLst>
              <a:gd name="adj1" fmla="val -96220"/>
              <a:gd name="adj2" fmla="val 1603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/>
              <a:t>Затем на </a:t>
            </a:r>
            <a:r>
              <a:rPr lang="en-US" dirty="0" smtClean="0"/>
              <a:t>Open Folder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84039" y="3829809"/>
            <a:ext cx="3647440" cy="24366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1. </a:t>
            </a:r>
            <a:r>
              <a:rPr lang="ru-RU" dirty="0" smtClean="0"/>
              <a:t>Теперь </a:t>
            </a:r>
            <a:r>
              <a:rPr lang="ru-RU" dirty="0"/>
              <a:t>создайте новый файл: наведите курсор на боковую панель с названием вашей папки, нажмите на иконку "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...".</a:t>
            </a:r>
          </a:p>
          <a:p>
            <a:r>
              <a:rPr lang="en-US" dirty="0" smtClean="0"/>
              <a:t>2. </a:t>
            </a:r>
            <a:r>
              <a:rPr lang="ru-RU" dirty="0" smtClean="0"/>
              <a:t>Назовите </a:t>
            </a:r>
            <a:r>
              <a:rPr lang="ru-RU" dirty="0"/>
              <a:t>файл, обязательно указав </a:t>
            </a:r>
            <a:r>
              <a:rPr lang="ru-RU" dirty="0" smtClean="0"/>
              <a:t>расширение</a:t>
            </a:r>
            <a:r>
              <a:rPr lang="en-US" dirty="0" smtClean="0"/>
              <a:t> .</a:t>
            </a:r>
            <a:r>
              <a:rPr lang="en-US" dirty="0" err="1" smtClean="0"/>
              <a:t>py</a:t>
            </a:r>
            <a:r>
              <a:rPr lang="en-US" dirty="0" smtClean="0"/>
              <a:t>,</a:t>
            </a:r>
            <a:r>
              <a:rPr lang="ru-RU" dirty="0" smtClean="0"/>
              <a:t> например </a:t>
            </a:r>
            <a:r>
              <a:rPr lang="en-US" dirty="0" smtClean="0"/>
              <a:t>hello.py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11" y="2997450"/>
            <a:ext cx="4151095" cy="35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4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39" y="1101685"/>
            <a:ext cx="9266041" cy="4980497"/>
          </a:xfrm>
          <a:prstGeom prst="rect">
            <a:avLst/>
          </a:prstGeom>
        </p:spPr>
      </p:pic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576C01B5-D33B-401C-8B99-A19A756DDBA2}"/>
              </a:ext>
            </a:extLst>
          </p:cNvPr>
          <p:cNvSpPr/>
          <p:nvPr/>
        </p:nvSpPr>
        <p:spPr>
          <a:xfrm>
            <a:off x="1574800" y="734274"/>
            <a:ext cx="2528377" cy="914400"/>
          </a:xfrm>
          <a:prstGeom prst="wedgeRoundRectCallout">
            <a:avLst>
              <a:gd name="adj1" fmla="val 43566"/>
              <a:gd name="adj2" fmla="val 867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Пишем свой первый код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B7BB-3D47-425C-9A06-3C5D9A4D1053}"/>
              </a:ext>
            </a:extLst>
          </p:cNvPr>
          <p:cNvSpPr txBox="1"/>
          <p:nvPr/>
        </p:nvSpPr>
        <p:spPr>
          <a:xfrm>
            <a:off x="629920" y="244066"/>
            <a:ext cx="4246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Настраиваем </a:t>
            </a:r>
            <a:r>
              <a:rPr lang="en-US" sz="28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VS Code</a:t>
            </a:r>
            <a:endParaRPr lang="ru-RU" sz="2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7985760" y="2100588"/>
            <a:ext cx="3803725" cy="1800852"/>
          </a:xfrm>
          <a:prstGeom prst="wedgeRoundRectCallout">
            <a:avLst>
              <a:gd name="adj1" fmla="val -82767"/>
              <a:gd name="adj2" fmla="val 60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Нажмите правой кнопкой мыши в любом месте редактора с кодом и выберите </a:t>
            </a:r>
            <a:r>
              <a:rPr lang="ru-RU" b="1" dirty="0"/>
              <a:t>"</a:t>
            </a:r>
            <a:r>
              <a:rPr lang="ru-RU" b="1" dirty="0" err="1"/>
              <a:t>Run</a:t>
            </a:r>
            <a:r>
              <a:rPr lang="ru-RU" b="1" dirty="0"/>
              <a:t> </a:t>
            </a:r>
            <a:r>
              <a:rPr lang="ru-RU" b="1" dirty="0" err="1"/>
              <a:t>Python</a:t>
            </a:r>
            <a:r>
              <a:rPr lang="ru-RU" b="1" dirty="0"/>
              <a:t> </a:t>
            </a:r>
            <a:r>
              <a:rPr lang="ru-RU" b="1" dirty="0" err="1"/>
              <a:t>File</a:t>
            </a:r>
            <a:r>
              <a:rPr lang="ru-RU" b="1" dirty="0"/>
              <a:t> </a:t>
            </a:r>
            <a:r>
              <a:rPr lang="ru-RU" b="1" dirty="0" err="1"/>
              <a:t>in</a:t>
            </a:r>
            <a:r>
              <a:rPr lang="ru-RU" b="1" dirty="0"/>
              <a:t> </a:t>
            </a:r>
            <a:r>
              <a:rPr lang="ru-RU" b="1" dirty="0" err="1"/>
              <a:t>Terminal</a:t>
            </a:r>
            <a:r>
              <a:rPr lang="ru-RU" b="1" dirty="0"/>
              <a:t>"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3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4785674A-0D46-4A0F-8EB7-E80354EC1FF1}"/>
              </a:ext>
            </a:extLst>
          </p:cNvPr>
          <p:cNvSpPr/>
          <p:nvPr/>
        </p:nvSpPr>
        <p:spPr>
          <a:xfrm>
            <a:off x="1437579" y="2670026"/>
            <a:ext cx="1955861" cy="1525476"/>
          </a:xfrm>
          <a:prstGeom prst="wedgeRoundRectCallout">
            <a:avLst>
              <a:gd name="adj1" fmla="val 57220"/>
              <a:gd name="adj2" fmla="val 1458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/>
              <a:t>А вот и результат выполнения программы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628761" y="212296"/>
            <a:ext cx="3167349" cy="85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/>
              <a:t>Не забываем сохранить перед запуском </a:t>
            </a:r>
            <a:r>
              <a:rPr lang="en-US" b="1" dirty="0" smtClean="0"/>
              <a:t>Ctrl + S!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6282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ая прямоугольная выноска 2"/>
          <p:cNvSpPr/>
          <p:nvPr/>
        </p:nvSpPr>
        <p:spPr>
          <a:xfrm>
            <a:off x="372742" y="450427"/>
            <a:ext cx="5541647" cy="860213"/>
          </a:xfrm>
          <a:prstGeom prst="wedgeRoundRectCallout">
            <a:avLst>
              <a:gd name="adj1" fmla="val 72868"/>
              <a:gd name="adj2" fmla="val 48937"/>
              <a:gd name="adj3" fmla="val 16667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- А можно не устанавливать, а онлайн.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51" y="1989455"/>
            <a:ext cx="9744075" cy="3333750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7341326" y="1096050"/>
            <a:ext cx="307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https://pythononline.net/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78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2930</TotalTime>
  <Words>225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Golos Text</vt:lpstr>
      <vt:lpstr>Ретро</vt:lpstr>
      <vt:lpstr>PYTHON</vt:lpstr>
      <vt:lpstr>Установка Python в операционной системе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-</dc:creator>
  <cp:lastModifiedBy>Dmitriy</cp:lastModifiedBy>
  <cp:revision>35</cp:revision>
  <dcterms:created xsi:type="dcterms:W3CDTF">2020-07-09T15:44:31Z</dcterms:created>
  <dcterms:modified xsi:type="dcterms:W3CDTF">2025-09-14T12:48:29Z</dcterms:modified>
</cp:coreProperties>
</file>