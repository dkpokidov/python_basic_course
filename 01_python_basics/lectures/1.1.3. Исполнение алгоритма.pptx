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8/6/2017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8/6/2017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8/6/2017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Исполнение алгоритма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с помощью таблицы значений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293417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Присваивание значения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750498" y="2139351"/>
            <a:ext cx="10463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Присваивание – важнейший оператор алгоритмов, работающих с информацией. Именно в результате присваивания меняются значения переменных.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02919" y="3105509"/>
            <a:ext cx="9674990" cy="1043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/>
              <a:t>ПЕРЕМЕННАЯ  </a:t>
            </a:r>
            <a:r>
              <a:rPr lang="ru-RU" sz="3600" b="1" dirty="0" smtClean="0"/>
              <a:t>:=</a:t>
            </a:r>
            <a:r>
              <a:rPr lang="ru-RU" sz="3600" dirty="0" smtClean="0"/>
              <a:t>  ВЫРАЖЕНИЕ</a:t>
            </a:r>
            <a:endParaRPr lang="ru-RU" sz="3600" dirty="0"/>
          </a:p>
        </p:txBody>
      </p:sp>
      <p:sp>
        <p:nvSpPr>
          <p:cNvPr id="5" name="Овальная выноска 4"/>
          <p:cNvSpPr/>
          <p:nvPr/>
        </p:nvSpPr>
        <p:spPr>
          <a:xfrm>
            <a:off x="577969" y="4615131"/>
            <a:ext cx="2932981" cy="1802921"/>
          </a:xfrm>
          <a:prstGeom prst="wedgeEllipseCallout">
            <a:avLst>
              <a:gd name="adj1" fmla="val 38873"/>
              <a:gd name="adj2" fmla="val -87261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Ячейка памяти, имеющая имя и предназначенная для хранения значения</a:t>
            </a:r>
            <a:endParaRPr lang="ru-RU" dirty="0"/>
          </a:p>
        </p:txBody>
      </p:sp>
      <p:sp>
        <p:nvSpPr>
          <p:cNvPr id="6" name="Овальная выноска 5"/>
          <p:cNvSpPr/>
          <p:nvPr/>
        </p:nvSpPr>
        <p:spPr>
          <a:xfrm>
            <a:off x="8281359" y="4597878"/>
            <a:ext cx="3743864" cy="1802921"/>
          </a:xfrm>
          <a:prstGeom prst="wedgeEllipseCallout">
            <a:avLst>
              <a:gd name="adj1" fmla="val -63480"/>
              <a:gd name="adj2" fmla="val -89175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Аналогично выражению в алгебре: может содержать переменные, числа, знаки  операций, скобки и т.п.</a:t>
            </a:r>
            <a:endParaRPr lang="ru-RU" dirty="0"/>
          </a:p>
        </p:txBody>
      </p:sp>
      <p:sp>
        <p:nvSpPr>
          <p:cNvPr id="7" name="Круговая стрелка 6"/>
          <p:cNvSpPr/>
          <p:nvPr/>
        </p:nvSpPr>
        <p:spPr>
          <a:xfrm rot="10800000">
            <a:off x="4197147" y="3105509"/>
            <a:ext cx="3795623" cy="2337758"/>
          </a:xfrm>
          <a:prstGeom prst="circularArrow">
            <a:avLst>
              <a:gd name="adj1" fmla="val 9493"/>
              <a:gd name="adj2" fmla="val 1142319"/>
              <a:gd name="adj3" fmla="val 21447051"/>
              <a:gd name="adj4" fmla="val 9819891"/>
              <a:gd name="adj5" fmla="val 21153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97146" y="5098211"/>
            <a:ext cx="3532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/>
              <a:t>Значение выражения вычисляется и записывается в указанную переменную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18551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11" y="870279"/>
            <a:ext cx="5362575" cy="4410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55600" dist="38100" dir="2700000" sx="107000" sy="107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Овальная выноска 2"/>
          <p:cNvSpPr/>
          <p:nvPr/>
        </p:nvSpPr>
        <p:spPr>
          <a:xfrm>
            <a:off x="7267575" y="590550"/>
            <a:ext cx="4333875" cy="2705100"/>
          </a:xfrm>
          <a:prstGeom prst="wedgeEllipseCallout">
            <a:avLst>
              <a:gd name="adj1" fmla="val -97439"/>
              <a:gd name="adj2" fmla="val 1112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Какими будут значения переменных А, В и С после выполнения этих присваиваний?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46962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8" y="1732921"/>
            <a:ext cx="3976750" cy="32704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55600" dist="38100" dir="2700000" sx="107000" sy="107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865579"/>
              </p:ext>
            </p:extLst>
          </p:nvPr>
        </p:nvGraphicFramePr>
        <p:xfrm>
          <a:off x="6724770" y="1447881"/>
          <a:ext cx="4532703" cy="3840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8182"/>
                <a:gridCol w="1423359"/>
                <a:gridCol w="175116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ru-RU" sz="2400" dirty="0"/>
                    </a:p>
                  </a:txBody>
                  <a:tcPr/>
                </a:tc>
              </a:tr>
              <a:tr h="369099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13</a:t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8</a:t>
                      </a:r>
                      <a:endParaRPr lang="ru-RU" sz="3600" dirty="0"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8</a:t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100500</a:t>
                      </a:r>
                      <a:endParaRPr lang="ru-RU" sz="3600" dirty="0"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100500</a:t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/>
                      </a:r>
                      <a:b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</a:br>
                      <a:r>
                        <a:rPr lang="en-US" sz="3600" dirty="0" smtClean="0"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8</a:t>
                      </a:r>
                      <a:endParaRPr lang="ru-RU" sz="3600" dirty="0">
                        <a:cs typeface="Aharoni" panose="02010803020104030203" pitchFamily="2" charset="-79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Прямая со стрелкой 5"/>
          <p:cNvCxnSpPr/>
          <p:nvPr/>
        </p:nvCxnSpPr>
        <p:spPr>
          <a:xfrm>
            <a:off x="3209026" y="2009955"/>
            <a:ext cx="3864634" cy="2415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3174521" y="2570672"/>
            <a:ext cx="5357004" cy="20703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4477109" y="3126582"/>
            <a:ext cx="5227608" cy="2415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3226279" y="3624083"/>
            <a:ext cx="3864634" cy="2415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450566" y="4141914"/>
            <a:ext cx="4687770" cy="29255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3226279" y="4625240"/>
            <a:ext cx="6901132" cy="3852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трелка влево 15"/>
          <p:cNvSpPr/>
          <p:nvPr/>
        </p:nvSpPr>
        <p:spPr>
          <a:xfrm rot="19579470">
            <a:off x="7434716" y="3139985"/>
            <a:ext cx="1210817" cy="34560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 влево 16"/>
          <p:cNvSpPr/>
          <p:nvPr/>
        </p:nvSpPr>
        <p:spPr>
          <a:xfrm rot="19125807">
            <a:off x="8729107" y="3666853"/>
            <a:ext cx="1182098" cy="34560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Выгнутая влево стрелка 18"/>
          <p:cNvSpPr/>
          <p:nvPr/>
        </p:nvSpPr>
        <p:spPr>
          <a:xfrm rot="17390742">
            <a:off x="8305792" y="3371656"/>
            <a:ext cx="911983" cy="3460454"/>
          </a:xfrm>
          <a:prstGeom prst="curvedRightArrow">
            <a:avLst>
              <a:gd name="adj1" fmla="val 18489"/>
              <a:gd name="adj2" fmla="val 69538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67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0498" y="502760"/>
            <a:ext cx="3191774" cy="574003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400" b="1" u="sng" dirty="0" smtClean="0"/>
              <a:t>Алг</a:t>
            </a:r>
            <a:r>
              <a:rPr lang="ru-RU" sz="2400" dirty="0" smtClean="0"/>
              <a:t> НОД</a:t>
            </a:r>
          </a:p>
          <a:p>
            <a:pPr>
              <a:spcAft>
                <a:spcPts val="600"/>
              </a:spcAft>
            </a:pPr>
            <a:r>
              <a:rPr lang="ru-RU" sz="2400" dirty="0" smtClean="0"/>
              <a:t>	</a:t>
            </a:r>
            <a:r>
              <a:rPr lang="ru-RU" sz="2400" b="1" u="sng" dirty="0"/>
              <a:t>Цел </a:t>
            </a:r>
            <a:r>
              <a:rPr lang="ru-RU" sz="2400" dirty="0" smtClean="0"/>
              <a:t>А, В</a:t>
            </a:r>
          </a:p>
          <a:p>
            <a:pPr>
              <a:spcAft>
                <a:spcPts val="600"/>
              </a:spcAft>
            </a:pPr>
            <a:r>
              <a:rPr lang="ru-RU" sz="2400" b="1" u="sng" dirty="0"/>
              <a:t>НАЧ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	</a:t>
            </a:r>
            <a:r>
              <a:rPr lang="ru-RU" sz="2400" b="1" u="sng" dirty="0"/>
              <a:t>Ввод</a:t>
            </a:r>
            <a:r>
              <a:rPr lang="ru-RU" sz="2400" dirty="0" smtClean="0"/>
              <a:t> А, В</a:t>
            </a:r>
          </a:p>
          <a:p>
            <a:pPr>
              <a:spcAft>
                <a:spcPts val="600"/>
              </a:spcAft>
            </a:pPr>
            <a:r>
              <a:rPr lang="ru-RU" sz="2400" dirty="0" smtClean="0"/>
              <a:t>	</a:t>
            </a:r>
            <a:r>
              <a:rPr lang="ru-RU" sz="2400" b="1" u="sng" dirty="0"/>
              <a:t>Пока</a:t>
            </a:r>
            <a:r>
              <a:rPr lang="ru-RU" sz="2400" dirty="0" smtClean="0"/>
              <a:t> А ≠ В </a:t>
            </a:r>
            <a:r>
              <a:rPr lang="ru-RU" sz="2400" b="1" u="sng" dirty="0"/>
              <a:t>НЦ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Если</a:t>
            </a:r>
            <a:r>
              <a:rPr lang="ru-RU" sz="2400" dirty="0" smtClean="0"/>
              <a:t> </a:t>
            </a:r>
            <a:r>
              <a:rPr lang="en-US" sz="2400" dirty="0" smtClean="0"/>
              <a:t>A &gt; B </a:t>
            </a:r>
            <a:r>
              <a:rPr lang="ru-RU" sz="2400" b="1" u="sng" dirty="0"/>
              <a:t>То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	А </a:t>
            </a:r>
            <a:r>
              <a:rPr lang="en-US" sz="2400" dirty="0" smtClean="0"/>
              <a:t>:= </a:t>
            </a:r>
            <a:r>
              <a:rPr lang="ru-RU" sz="2400" dirty="0" smtClean="0"/>
              <a:t>А – В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Иначе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	В := В – А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Всё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b="1" u="sng" dirty="0"/>
              <a:t>КЦ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b="1" u="sng" dirty="0"/>
              <a:t>Вывод</a:t>
            </a:r>
            <a:r>
              <a:rPr lang="ru-RU" sz="2400" dirty="0" smtClean="0"/>
              <a:t> А</a:t>
            </a:r>
          </a:p>
          <a:p>
            <a:pPr>
              <a:spcAft>
                <a:spcPts val="600"/>
              </a:spcAft>
            </a:pPr>
            <a:r>
              <a:rPr lang="ru-RU" sz="2400" b="1" u="sng" dirty="0"/>
              <a:t>КОН</a:t>
            </a:r>
          </a:p>
        </p:txBody>
      </p:sp>
      <p:sp>
        <p:nvSpPr>
          <p:cNvPr id="3" name="Овальная выноска 2"/>
          <p:cNvSpPr/>
          <p:nvPr/>
        </p:nvSpPr>
        <p:spPr>
          <a:xfrm>
            <a:off x="6775869" y="502760"/>
            <a:ext cx="4333875" cy="2705100"/>
          </a:xfrm>
          <a:prstGeom prst="wedgeEllipseCallout">
            <a:avLst>
              <a:gd name="adj1" fmla="val -147798"/>
              <a:gd name="adj2" fmla="val -255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smtClean="0"/>
              <a:t>Что будет выведено, если в качестве значений А и В ввести 49 и 77?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9869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0498" y="502760"/>
            <a:ext cx="3191774" cy="574003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762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400" b="1" u="sng" dirty="0" smtClean="0"/>
              <a:t>Алг</a:t>
            </a:r>
            <a:r>
              <a:rPr lang="ru-RU" sz="2400" dirty="0" smtClean="0"/>
              <a:t> НОД</a:t>
            </a:r>
          </a:p>
          <a:p>
            <a:pPr>
              <a:spcAft>
                <a:spcPts val="600"/>
              </a:spcAft>
            </a:pPr>
            <a:r>
              <a:rPr lang="ru-RU" sz="2400" dirty="0" smtClean="0"/>
              <a:t>	</a:t>
            </a:r>
            <a:r>
              <a:rPr lang="ru-RU" sz="2400" b="1" u="sng" dirty="0"/>
              <a:t>Цел </a:t>
            </a:r>
            <a:r>
              <a:rPr lang="ru-RU" sz="2400" dirty="0" smtClean="0"/>
              <a:t>А, В</a:t>
            </a:r>
          </a:p>
          <a:p>
            <a:pPr>
              <a:spcAft>
                <a:spcPts val="600"/>
              </a:spcAft>
            </a:pPr>
            <a:r>
              <a:rPr lang="ru-RU" sz="2400" b="1" u="sng" dirty="0"/>
              <a:t>НАЧ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	</a:t>
            </a:r>
            <a:r>
              <a:rPr lang="ru-RU" sz="2400" b="1" u="sng" dirty="0"/>
              <a:t>Ввод</a:t>
            </a:r>
            <a:r>
              <a:rPr lang="ru-RU" sz="2400" dirty="0" smtClean="0"/>
              <a:t> А, В</a:t>
            </a:r>
          </a:p>
          <a:p>
            <a:pPr>
              <a:spcAft>
                <a:spcPts val="600"/>
              </a:spcAft>
            </a:pPr>
            <a:r>
              <a:rPr lang="ru-RU" sz="2400" dirty="0" smtClean="0"/>
              <a:t>	</a:t>
            </a:r>
            <a:r>
              <a:rPr lang="ru-RU" sz="2400" b="1" u="sng" dirty="0"/>
              <a:t>Пока</a:t>
            </a:r>
            <a:r>
              <a:rPr lang="ru-RU" sz="2400" dirty="0" smtClean="0"/>
              <a:t> А ≠ В </a:t>
            </a:r>
            <a:r>
              <a:rPr lang="ru-RU" sz="2400" b="1" u="sng" dirty="0"/>
              <a:t>НЦ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Если</a:t>
            </a:r>
            <a:r>
              <a:rPr lang="ru-RU" sz="2400" dirty="0" smtClean="0"/>
              <a:t> </a:t>
            </a:r>
            <a:r>
              <a:rPr lang="en-US" sz="2400" dirty="0" smtClean="0"/>
              <a:t>A &gt; B </a:t>
            </a:r>
            <a:r>
              <a:rPr lang="ru-RU" sz="2400" b="1" u="sng" dirty="0"/>
              <a:t>То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	А </a:t>
            </a:r>
            <a:r>
              <a:rPr lang="en-US" sz="2400" dirty="0" smtClean="0"/>
              <a:t>:= </a:t>
            </a:r>
            <a:r>
              <a:rPr lang="ru-RU" sz="2400" dirty="0" smtClean="0"/>
              <a:t>А – В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Иначе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	В := В – А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dirty="0" smtClean="0"/>
              <a:t>	</a:t>
            </a:r>
            <a:r>
              <a:rPr lang="ru-RU" sz="2400" b="1" u="sng" dirty="0"/>
              <a:t>Всё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b="1" u="sng" dirty="0"/>
              <a:t>КЦ</a:t>
            </a:r>
          </a:p>
          <a:p>
            <a:pPr>
              <a:spcAft>
                <a:spcPts val="600"/>
              </a:spcAft>
            </a:pPr>
            <a:r>
              <a:rPr lang="ru-RU" sz="2400" dirty="0"/>
              <a:t>	</a:t>
            </a:r>
            <a:r>
              <a:rPr lang="ru-RU" sz="2400" b="1" u="sng" dirty="0"/>
              <a:t>Вывод</a:t>
            </a:r>
            <a:r>
              <a:rPr lang="ru-RU" sz="2400" dirty="0" smtClean="0"/>
              <a:t> А</a:t>
            </a:r>
          </a:p>
          <a:p>
            <a:pPr>
              <a:spcAft>
                <a:spcPts val="600"/>
              </a:spcAft>
            </a:pPr>
            <a:r>
              <a:rPr lang="ru-RU" sz="2400" b="1" u="sng" dirty="0"/>
              <a:t>КОН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5648"/>
              </p:ext>
            </p:extLst>
          </p:nvPr>
        </p:nvGraphicFramePr>
        <p:xfrm>
          <a:off x="6875252" y="573513"/>
          <a:ext cx="3621178" cy="39601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10589"/>
                <a:gridCol w="1810589"/>
              </a:tblGrid>
              <a:tr h="47145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В</a:t>
                      </a:r>
                      <a:endParaRPr lang="ru-RU" sz="2400" dirty="0"/>
                    </a:p>
                  </a:txBody>
                  <a:tcPr/>
                </a:tc>
              </a:tr>
              <a:tr h="3488735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r>
                        <a:rPr lang="ru-RU" sz="2400" dirty="0" smtClean="0"/>
                        <a:t/>
                      </a:r>
                      <a:br>
                        <a:rPr lang="ru-RU" sz="2400" dirty="0" smtClean="0"/>
                      </a:b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7600178" y="1028731"/>
            <a:ext cx="54053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49</a:t>
            </a:r>
            <a:endParaRPr lang="ru-RU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276297" y="1028731"/>
            <a:ext cx="54053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77</a:t>
            </a:r>
            <a:endParaRPr lang="ru-RU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251641" y="1567881"/>
            <a:ext cx="54053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  <a:endParaRPr lang="ru-RU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606591" y="2102872"/>
            <a:ext cx="54053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endParaRPr lang="ru-RU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9340608" y="2568698"/>
            <a:ext cx="3626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ru-RU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606591" y="3153473"/>
            <a:ext cx="54053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ru-RU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689145" y="3843586"/>
            <a:ext cx="36260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ru-RU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606591" y="3615138"/>
            <a:ext cx="50526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endParaRPr lang="ru-RU" sz="4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76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лосы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113</Words>
  <Application>Microsoft Office PowerPoint</Application>
  <PresentationFormat>Широкоэкранный</PresentationFormat>
  <Paragraphs>51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Aharoni</vt:lpstr>
      <vt:lpstr>Arial</vt:lpstr>
      <vt:lpstr>Corbel</vt:lpstr>
      <vt:lpstr>Wingdings</vt:lpstr>
      <vt:lpstr>Полосы</vt:lpstr>
      <vt:lpstr>Исполнение алгоритма</vt:lpstr>
      <vt:lpstr>Присваивание значения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FST SPbSPU ISMI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Исполнение алгоритма</dc:title>
  <dc:creator>LocalAdmin</dc:creator>
  <cp:lastModifiedBy>LocalAdmin</cp:lastModifiedBy>
  <cp:revision>8</cp:revision>
  <dcterms:created xsi:type="dcterms:W3CDTF">2017-08-05T12:02:41Z</dcterms:created>
  <dcterms:modified xsi:type="dcterms:W3CDTF">2017-08-06T04:38:36Z</dcterms:modified>
</cp:coreProperties>
</file>