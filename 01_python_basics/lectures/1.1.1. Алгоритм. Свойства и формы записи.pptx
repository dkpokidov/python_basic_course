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7" r:id="rId2"/>
    <p:sldId id="269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6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78540" y="224135"/>
            <a:ext cx="31951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Разминка</a:t>
            </a:r>
            <a:endParaRPr lang="ru-RU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91362" y="1004607"/>
            <a:ext cx="3657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ВКЛЮЧИТЬ </a:t>
            </a:r>
            <a:br>
              <a:rPr lang="ru-RU" sz="3200" b="1" dirty="0" smtClean="0"/>
            </a:br>
            <a:r>
              <a:rPr lang="ru-RU" sz="3200" b="1" dirty="0" smtClean="0"/>
              <a:t>ПОСТАВИТЬ </a:t>
            </a:r>
            <a:br>
              <a:rPr lang="ru-RU" sz="3200" b="1" dirty="0" smtClean="0"/>
            </a:br>
            <a:r>
              <a:rPr lang="ru-RU" sz="3200" b="1" dirty="0" smtClean="0"/>
              <a:t>КАПНУТЬ </a:t>
            </a:r>
            <a:br>
              <a:rPr lang="ru-RU" sz="3200" b="1" dirty="0" smtClean="0"/>
            </a:br>
            <a:r>
              <a:rPr lang="ru-RU" sz="3200" b="1" dirty="0" smtClean="0"/>
              <a:t>НАРЕЗАТЬ </a:t>
            </a:r>
            <a:br>
              <a:rPr lang="ru-RU" sz="3200" b="1" dirty="0" smtClean="0"/>
            </a:br>
            <a:r>
              <a:rPr lang="ru-RU" sz="3200" b="1" dirty="0" smtClean="0"/>
              <a:t>ПОЛОЖИТЬ </a:t>
            </a:r>
            <a:br>
              <a:rPr lang="ru-RU" sz="3200" b="1" dirty="0" smtClean="0"/>
            </a:br>
            <a:r>
              <a:rPr lang="ru-RU" sz="3200" b="1" dirty="0" smtClean="0"/>
              <a:t>ПЕРЕВЕРНУТЬ </a:t>
            </a:r>
            <a:br>
              <a:rPr lang="ru-RU" sz="3200" b="1" dirty="0" smtClean="0"/>
            </a:br>
            <a:r>
              <a:rPr lang="ru-RU" sz="3200" b="1" dirty="0" smtClean="0"/>
              <a:t>РАЗБИТЬ </a:t>
            </a:r>
            <a:br>
              <a:rPr lang="ru-RU" sz="3200" b="1" dirty="0" smtClean="0"/>
            </a:br>
            <a:r>
              <a:rPr lang="ru-RU" sz="3200" b="1" dirty="0" smtClean="0"/>
              <a:t>ПОСОЛИТЬ</a:t>
            </a:r>
          </a:p>
          <a:p>
            <a:r>
              <a:rPr lang="ru-RU" sz="3200" b="1" dirty="0" smtClean="0"/>
              <a:t>ПОДОЖДАТЬ </a:t>
            </a:r>
            <a:br>
              <a:rPr lang="ru-RU" sz="3200" b="1" dirty="0" smtClean="0"/>
            </a:br>
            <a:r>
              <a:rPr lang="ru-RU" sz="3200" b="1" dirty="0" smtClean="0"/>
              <a:t>ВЫКЛЮЧИТЬ</a:t>
            </a:r>
            <a:br>
              <a:rPr lang="ru-RU" sz="3200" b="1" dirty="0" smtClean="0"/>
            </a:br>
            <a:r>
              <a:rPr lang="ru-RU" sz="3200" b="1" dirty="0" smtClean="0"/>
              <a:t>СНЯТЬ</a:t>
            </a:r>
            <a:endParaRPr lang="ru-RU" sz="3200" b="1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664234" y="1250829"/>
            <a:ext cx="3105510" cy="23032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Из словесного описания некого алгоритма убрали все слова, кроме глаголов. Осталось вот что: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87239" y="3905858"/>
            <a:ext cx="2986406" cy="23636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Что будет результатом выполнения исходного алгоритма?</a:t>
            </a:r>
            <a:endParaRPr lang="ru-RU" sz="2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680" y="2627440"/>
            <a:ext cx="3375585" cy="226353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677" y="453756"/>
            <a:ext cx="1828207" cy="72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4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1022894" y="1979655"/>
            <a:ext cx="9966960" cy="29260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8800" b="1" dirty="0" smtClean="0"/>
              <a:t>АЛГОРИТМ: </a:t>
            </a:r>
            <a:r>
              <a:rPr lang="ru-RU" sz="6000" b="1" dirty="0" smtClean="0"/>
              <a:t/>
            </a:r>
            <a:br>
              <a:rPr lang="ru-RU" sz="6000" b="1" dirty="0" smtClean="0"/>
            </a:br>
            <a:r>
              <a:rPr lang="ru-RU" sz="4000" dirty="0" smtClean="0"/>
              <a:t>СВОЙСТВА И ФОРМЫ ЗАПИСИ</a:t>
            </a:r>
            <a:endParaRPr lang="ru-RU" sz="4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677" y="453756"/>
            <a:ext cx="1828207" cy="72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1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6004" y="613913"/>
            <a:ext cx="10179170" cy="563231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ru-RU" dirty="0" smtClean="0"/>
          </a:p>
          <a:p>
            <a:pPr lvl="1"/>
            <a:r>
              <a:rPr lang="ru-RU" sz="3600" b="1" dirty="0" smtClean="0"/>
              <a:t>На этом занятии:</a:t>
            </a:r>
          </a:p>
          <a:p>
            <a:pPr lvl="1"/>
            <a:endParaRPr lang="ru-RU" sz="2400" dirty="0" smtClean="0"/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smtClean="0"/>
              <a:t>Разберёмся, кто и для кого пишет алгоритмы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smtClean="0"/>
              <a:t>Поговорим о свойствах алгоритмов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smtClean="0"/>
              <a:t>Познакомимся с разными формами описания алгоритмов и попробуем переводить алгоритмы из одной формы в другую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smtClean="0"/>
              <a:t>Поэкспериментируем с алгоритмами из реальной жизни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smtClean="0"/>
              <a:t>Попрактикуемся в чтении и исполнении алгоритмов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888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/>
          <p:cNvSpPr/>
          <p:nvPr/>
        </p:nvSpPr>
        <p:spPr>
          <a:xfrm>
            <a:off x="612474" y="474451"/>
            <a:ext cx="4364967" cy="24067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/>
              <a:t>Алгоритм – </a:t>
            </a:r>
            <a:br>
              <a:rPr lang="ru-RU" sz="2400" b="1" dirty="0" smtClean="0"/>
            </a:br>
            <a:r>
              <a:rPr lang="ru-RU" sz="2400" dirty="0" smtClean="0"/>
              <a:t>формальное описание последовательности действий для достижения цели</a:t>
            </a:r>
            <a:endParaRPr lang="ru-RU" sz="2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333958" y="3260632"/>
            <a:ext cx="311178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2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Является ли алгоритмом…</a:t>
            </a:r>
            <a:endParaRPr lang="ru-RU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" name="Овальная выноска 3"/>
          <p:cNvSpPr/>
          <p:nvPr/>
        </p:nvSpPr>
        <p:spPr>
          <a:xfrm>
            <a:off x="5546783" y="474451"/>
            <a:ext cx="3899141" cy="1613141"/>
          </a:xfrm>
          <a:prstGeom prst="wedgeEllipseCallout">
            <a:avLst>
              <a:gd name="adj1" fmla="val -56404"/>
              <a:gd name="adj2" fmla="val 5669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…раздел «Подготовка к работе» в инструкции к стиральной машине?</a:t>
            </a:r>
            <a:endParaRPr lang="ru-RU" sz="2000" dirty="0"/>
          </a:p>
        </p:txBody>
      </p:sp>
      <p:sp>
        <p:nvSpPr>
          <p:cNvPr id="5" name="Овальная выноска 4"/>
          <p:cNvSpPr/>
          <p:nvPr/>
        </p:nvSpPr>
        <p:spPr>
          <a:xfrm>
            <a:off x="5598541" y="2242866"/>
            <a:ext cx="2812213" cy="914401"/>
          </a:xfrm>
          <a:prstGeom prst="wedgeEllipseCallout">
            <a:avLst>
              <a:gd name="adj1" fmla="val -56625"/>
              <a:gd name="adj2" fmla="val 40651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…конституция США?</a:t>
            </a:r>
            <a:endParaRPr lang="ru-RU" sz="2000" dirty="0"/>
          </a:p>
        </p:txBody>
      </p:sp>
      <p:sp>
        <p:nvSpPr>
          <p:cNvPr id="6" name="Овальная выноска 5"/>
          <p:cNvSpPr/>
          <p:nvPr/>
        </p:nvSpPr>
        <p:spPr>
          <a:xfrm>
            <a:off x="8143336" y="2326973"/>
            <a:ext cx="3700731" cy="1660588"/>
          </a:xfrm>
          <a:prstGeom prst="wedgeEllipseCallout">
            <a:avLst>
              <a:gd name="adj1" fmla="val -60355"/>
              <a:gd name="adj2" fmla="val 1458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…технология изготовления детали на металлорежущем станке?</a:t>
            </a:r>
            <a:endParaRPr lang="ru-RU" sz="2000" dirty="0"/>
          </a:p>
        </p:txBody>
      </p:sp>
      <p:sp>
        <p:nvSpPr>
          <p:cNvPr id="7" name="Овальная выноска 6"/>
          <p:cNvSpPr/>
          <p:nvPr/>
        </p:nvSpPr>
        <p:spPr>
          <a:xfrm>
            <a:off x="9031854" y="638353"/>
            <a:ext cx="2812213" cy="1604513"/>
          </a:xfrm>
          <a:prstGeom prst="wedgeEllipseCallout">
            <a:avLst>
              <a:gd name="adj1" fmla="val -56625"/>
              <a:gd name="adj2" fmla="val 4065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…маршрут, построенный навигатором?</a:t>
            </a:r>
            <a:endParaRPr lang="ru-RU" sz="2000" dirty="0"/>
          </a:p>
        </p:txBody>
      </p:sp>
      <p:sp>
        <p:nvSpPr>
          <p:cNvPr id="8" name="Овальная выноска 7"/>
          <p:cNvSpPr/>
          <p:nvPr/>
        </p:nvSpPr>
        <p:spPr>
          <a:xfrm>
            <a:off x="4813540" y="3328717"/>
            <a:ext cx="3597214" cy="1485902"/>
          </a:xfrm>
          <a:prstGeom prst="wedgeEllipseCallout">
            <a:avLst>
              <a:gd name="adj1" fmla="val -63473"/>
              <a:gd name="adj2" fmla="val -9221"/>
            </a:avLst>
          </a:prstGeom>
          <a:solidFill>
            <a:schemeClr val="bg1">
              <a:lumMod val="7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…ответ на вопрос «Как добраться до ближайшей станции метро?»?</a:t>
            </a:r>
            <a:endParaRPr lang="ru-RU" sz="2000" dirty="0"/>
          </a:p>
        </p:txBody>
      </p:sp>
      <p:sp>
        <p:nvSpPr>
          <p:cNvPr id="9" name="Овальная выноска 8"/>
          <p:cNvSpPr/>
          <p:nvPr/>
        </p:nvSpPr>
        <p:spPr>
          <a:xfrm>
            <a:off x="8143336" y="3951819"/>
            <a:ext cx="3485071" cy="2018584"/>
          </a:xfrm>
          <a:prstGeom prst="wedgeEllipseCallout">
            <a:avLst>
              <a:gd name="adj1" fmla="val -66057"/>
              <a:gd name="adj2" fmla="val -2193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…книга Дейла Карнеги «Как перестать беспокоиться и начать жить»?</a:t>
            </a:r>
            <a:endParaRPr lang="ru-RU" sz="2000" dirty="0"/>
          </a:p>
        </p:txBody>
      </p:sp>
      <p:sp>
        <p:nvSpPr>
          <p:cNvPr id="10" name="Овальная выноска 9"/>
          <p:cNvSpPr/>
          <p:nvPr/>
        </p:nvSpPr>
        <p:spPr>
          <a:xfrm>
            <a:off x="3338424" y="4684142"/>
            <a:ext cx="4287330" cy="1604513"/>
          </a:xfrm>
          <a:prstGeom prst="wedgeEllipseCallout">
            <a:avLst>
              <a:gd name="adj1" fmla="val -44955"/>
              <a:gd name="adj2" fmla="val -6418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…глава в учебнике про умножение и деление в столбик?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10126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694652" y="327652"/>
            <a:ext cx="765616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Исполнитель алгоритма</a:t>
            </a:r>
            <a:endParaRPr lang="ru-RU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3245" y="1233577"/>
            <a:ext cx="74359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Исполнитель </a:t>
            </a:r>
            <a:r>
              <a:rPr lang="ru-RU" sz="2400" b="1" dirty="0" smtClean="0"/>
              <a:t>алгоритма </a:t>
            </a:r>
            <a:r>
              <a:rPr lang="ru-RU" sz="2400" dirty="0" smtClean="0"/>
              <a:t>– человек или автоматическое устройство, которому предстоит осуществить описываемую последовательность действий.</a:t>
            </a:r>
          </a:p>
          <a:p>
            <a:endParaRPr lang="ru-RU" sz="2400" dirty="0"/>
          </a:p>
          <a:p>
            <a:r>
              <a:rPr lang="ru-RU" sz="2400" dirty="0" smtClean="0"/>
              <a:t>Исполнитель должен: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/>
              <a:t>Хранить алгоритм в памяти.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/>
              <a:t>Распознавать его команды.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/>
              <a:t>Быть в состоянии их исполнять.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585" y="2830622"/>
            <a:ext cx="1504950" cy="3638550"/>
          </a:xfrm>
          <a:prstGeom prst="rect">
            <a:avLst/>
          </a:prstGeom>
        </p:spPr>
      </p:pic>
      <p:sp>
        <p:nvSpPr>
          <p:cNvPr id="5" name="Скругленная прямоугольная выноска 4"/>
          <p:cNvSpPr/>
          <p:nvPr/>
        </p:nvSpPr>
        <p:spPr>
          <a:xfrm>
            <a:off x="7978535" y="862641"/>
            <a:ext cx="3218552" cy="1190445"/>
          </a:xfrm>
          <a:prstGeom prst="wedgeRoundRectCallout">
            <a:avLst>
              <a:gd name="adj1" fmla="val -67201"/>
              <a:gd name="adj2" fmla="val 1795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Является ли кофейный автомат исполнителем алгоритмов?</a:t>
            </a:r>
            <a:endParaRPr lang="ru-RU" sz="2000" dirty="0"/>
          </a:p>
        </p:txBody>
      </p:sp>
      <p:sp>
        <p:nvSpPr>
          <p:cNvPr id="6" name="Скругленная прямоугольная выноска 5"/>
          <p:cNvSpPr/>
          <p:nvPr/>
        </p:nvSpPr>
        <p:spPr>
          <a:xfrm>
            <a:off x="8487494" y="2235399"/>
            <a:ext cx="3218552" cy="1190445"/>
          </a:xfrm>
          <a:prstGeom prst="wedgeRoundRectCallout">
            <a:avLst>
              <a:gd name="adj1" fmla="val -74438"/>
              <a:gd name="adj2" fmla="val 144811"/>
              <a:gd name="adj3" fmla="val 1666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Речь обо всём автомате или о его микропроцессоре?</a:t>
            </a:r>
            <a:endParaRPr lang="ru-RU" sz="2000" dirty="0"/>
          </a:p>
        </p:txBody>
      </p:sp>
      <p:sp>
        <p:nvSpPr>
          <p:cNvPr id="7" name="Скругленная прямоугольная выноска 6"/>
          <p:cNvSpPr/>
          <p:nvPr/>
        </p:nvSpPr>
        <p:spPr>
          <a:xfrm>
            <a:off x="9100867" y="3693263"/>
            <a:ext cx="2717321" cy="1318684"/>
          </a:xfrm>
          <a:prstGeom prst="wedgeRoundRectCallout">
            <a:avLst>
              <a:gd name="adj1" fmla="val -101506"/>
              <a:gd name="adj2" fmla="val 47086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Что является входными данными? А выходными?</a:t>
            </a:r>
            <a:endParaRPr lang="ru-RU" sz="2000" dirty="0"/>
          </a:p>
        </p:txBody>
      </p:sp>
      <p:sp>
        <p:nvSpPr>
          <p:cNvPr id="8" name="Скругленная прямоугольная выноска 7"/>
          <p:cNvSpPr/>
          <p:nvPr/>
        </p:nvSpPr>
        <p:spPr>
          <a:xfrm>
            <a:off x="8738109" y="5348376"/>
            <a:ext cx="2717321" cy="1120795"/>
          </a:xfrm>
          <a:prstGeom prst="wedgeRoundRectCallout">
            <a:avLst>
              <a:gd name="adj1" fmla="val -90077"/>
              <a:gd name="adj2" fmla="val -42196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А какая у него система команд?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0592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694652" y="327652"/>
            <a:ext cx="765616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Свойства алгоритма</a:t>
            </a:r>
            <a:endParaRPr lang="ru-RU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793630" y="1198270"/>
            <a:ext cx="2803586" cy="23126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/>
              <a:t>Дискретность</a:t>
            </a:r>
            <a:r>
              <a:rPr lang="ru-RU" sz="2400" dirty="0" smtClean="0"/>
              <a:t> – состоит из шагов, соответствующих командам исполнителя.</a:t>
            </a:r>
            <a:endParaRPr lang="ru-RU" sz="2400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819509" y="3933645"/>
            <a:ext cx="4925683" cy="223424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/>
              <a:t>Конечность (результативность)</a:t>
            </a:r>
            <a:r>
              <a:rPr lang="ru-RU" sz="2400" dirty="0" smtClean="0"/>
              <a:t> – за конечное число шагов приходит либо к результату, либо к выводу о его недостижимости.</a:t>
            </a:r>
            <a:endParaRPr lang="ru-RU" sz="240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4019908" y="1198270"/>
            <a:ext cx="3502325" cy="231268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/>
              <a:t>Однозначность</a:t>
            </a:r>
            <a:r>
              <a:rPr lang="ru-RU" sz="2400" dirty="0" smtClean="0"/>
              <a:t> – команды и их последовательность не могут быть истолкованы неверно.</a:t>
            </a:r>
            <a:endParaRPr lang="ru-RU" sz="2400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953554" y="1198269"/>
            <a:ext cx="3502325" cy="231268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/>
              <a:t>Массовость</a:t>
            </a:r>
            <a:r>
              <a:rPr lang="ru-RU" sz="2400" dirty="0" smtClean="0"/>
              <a:t> – </a:t>
            </a:r>
            <a:br>
              <a:rPr lang="ru-RU" sz="2400" dirty="0" smtClean="0"/>
            </a:br>
            <a:r>
              <a:rPr lang="ru-RU" sz="2400" dirty="0" smtClean="0"/>
              <a:t>пригодность для решения целого класса задач, а не одной задачи.</a:t>
            </a:r>
            <a:endParaRPr lang="ru-RU" sz="240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461185" y="3933645"/>
            <a:ext cx="4925683" cy="223424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/>
              <a:t>Детерминированность </a:t>
            </a:r>
            <a:r>
              <a:rPr lang="ru-RU" sz="2400" dirty="0" smtClean="0"/>
              <a:t>– </a:t>
            </a:r>
            <a:br>
              <a:rPr lang="ru-RU" sz="2400" dirty="0" smtClean="0"/>
            </a:br>
            <a:r>
              <a:rPr lang="ru-RU" sz="2400" dirty="0" smtClean="0"/>
              <a:t>результат как каждого действия, так и всего алгоритма, зависит только от входных данных.</a:t>
            </a:r>
            <a:endParaRPr lang="ru-RU" sz="24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677" y="453756"/>
            <a:ext cx="1828207" cy="72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94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Вертикальный свиток 2"/>
          <p:cNvSpPr/>
          <p:nvPr/>
        </p:nvSpPr>
        <p:spPr>
          <a:xfrm>
            <a:off x="681487" y="517586"/>
            <a:ext cx="4735901" cy="4649638"/>
          </a:xfrm>
          <a:prstGeom prst="vertic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Есть надежный способ папу</a:t>
            </a:r>
          </a:p>
          <a:p>
            <a:pPr algn="ctr"/>
            <a:r>
              <a:rPr lang="ru-RU" sz="2000" dirty="0"/>
              <a:t> Навсегда свести с ума.</a:t>
            </a:r>
          </a:p>
          <a:p>
            <a:pPr algn="ctr"/>
            <a:r>
              <a:rPr lang="ru-RU" sz="2000" dirty="0"/>
              <a:t>Расскажите папе </a:t>
            </a:r>
            <a:r>
              <a:rPr lang="ru-RU" sz="2000" dirty="0" smtClean="0"/>
              <a:t>честно,</a:t>
            </a:r>
            <a:endParaRPr lang="ru-RU" sz="2000" dirty="0"/>
          </a:p>
          <a:p>
            <a:pPr algn="ctr"/>
            <a:r>
              <a:rPr lang="ru-RU" sz="2000" dirty="0"/>
              <a:t>Что вы делали вчера.</a:t>
            </a:r>
          </a:p>
          <a:p>
            <a:pPr algn="ctr"/>
            <a:r>
              <a:rPr lang="ru-RU" sz="2000" dirty="0"/>
              <a:t>Если он при этом сможет</a:t>
            </a:r>
          </a:p>
          <a:p>
            <a:pPr algn="ctr"/>
            <a:r>
              <a:rPr lang="ru-RU" sz="2000" dirty="0"/>
              <a:t> Удержаться на ногах,</a:t>
            </a:r>
          </a:p>
          <a:p>
            <a:pPr algn="ctr"/>
            <a:r>
              <a:rPr lang="ru-RU" sz="2000" dirty="0" smtClean="0"/>
              <a:t>Объясните, </a:t>
            </a:r>
            <a:r>
              <a:rPr lang="ru-RU" sz="2000" dirty="0"/>
              <a:t>чем заняться</a:t>
            </a:r>
          </a:p>
          <a:p>
            <a:pPr algn="ctr"/>
            <a:r>
              <a:rPr lang="ru-RU" sz="2000" dirty="0"/>
              <a:t> Завтра думаете вы.</a:t>
            </a:r>
          </a:p>
          <a:p>
            <a:pPr algn="ctr"/>
            <a:r>
              <a:rPr lang="ru-RU" sz="2000" dirty="0"/>
              <a:t>И когда с безумным видом</a:t>
            </a:r>
          </a:p>
          <a:p>
            <a:pPr algn="ctr"/>
            <a:r>
              <a:rPr lang="ru-RU" sz="2000" dirty="0"/>
              <a:t> Папа песни запоет,</a:t>
            </a:r>
          </a:p>
          <a:p>
            <a:pPr algn="ctr"/>
            <a:r>
              <a:rPr lang="ru-RU" sz="2000" dirty="0"/>
              <a:t>Вызывайте неотложку,</a:t>
            </a:r>
          </a:p>
          <a:p>
            <a:pPr algn="ctr"/>
            <a:r>
              <a:rPr lang="ru-RU" sz="2000" dirty="0"/>
              <a:t>Телефон ее - ноль три.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026" y="258791"/>
            <a:ext cx="2895832" cy="6259003"/>
          </a:xfrm>
          <a:prstGeom prst="rect">
            <a:avLst/>
          </a:prstGeom>
        </p:spPr>
      </p:pic>
      <p:sp>
        <p:nvSpPr>
          <p:cNvPr id="5" name="Овальная выноска 4"/>
          <p:cNvSpPr/>
          <p:nvPr/>
        </p:nvSpPr>
        <p:spPr>
          <a:xfrm>
            <a:off x="1009291" y="5382882"/>
            <a:ext cx="4028535" cy="1134911"/>
          </a:xfrm>
          <a:prstGeom prst="wedgeEllipseCallout">
            <a:avLst>
              <a:gd name="adj1" fmla="val -24473"/>
              <a:gd name="adj2" fmla="val -102045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Каким из свойств алгоритмов данный </a:t>
            </a:r>
            <a:br>
              <a:rPr lang="ru-RU" sz="2000" dirty="0" smtClean="0"/>
            </a:br>
            <a:r>
              <a:rPr lang="ru-RU" sz="2000" dirty="0" smtClean="0"/>
              <a:t>НЕ ОБЛАДАЕТ?</a:t>
            </a:r>
            <a:endParaRPr lang="ru-RU" sz="2000" dirty="0"/>
          </a:p>
        </p:txBody>
      </p:sp>
      <p:sp>
        <p:nvSpPr>
          <p:cNvPr id="6" name="7-конечная звезда 5"/>
          <p:cNvSpPr/>
          <p:nvPr/>
        </p:nvSpPr>
        <p:spPr>
          <a:xfrm rot="19781794">
            <a:off x="5040423" y="983412"/>
            <a:ext cx="3674853" cy="1311215"/>
          </a:xfrm>
          <a:prstGeom prst="star7">
            <a:avLst>
              <a:gd name="adj" fmla="val 33921"/>
              <a:gd name="hf" fmla="val 102572"/>
              <a:gd name="vf" fmla="val 105210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ДИСКРЕТНОСТЬ!</a:t>
            </a:r>
            <a:endParaRPr lang="ru-RU" dirty="0"/>
          </a:p>
        </p:txBody>
      </p:sp>
      <p:sp>
        <p:nvSpPr>
          <p:cNvPr id="7" name="Овальная выноска 6"/>
          <p:cNvSpPr/>
          <p:nvPr/>
        </p:nvSpPr>
        <p:spPr>
          <a:xfrm>
            <a:off x="5490956" y="3122618"/>
            <a:ext cx="2773788" cy="1134911"/>
          </a:xfrm>
          <a:prstGeom prst="wedgeEllipseCallout">
            <a:avLst>
              <a:gd name="adj1" fmla="val 61362"/>
              <a:gd name="adj2" fmla="val -98244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ОК, ну а теперь?</a:t>
            </a:r>
            <a:endParaRPr lang="ru-RU" sz="2000" dirty="0"/>
          </a:p>
        </p:txBody>
      </p:sp>
      <p:sp>
        <p:nvSpPr>
          <p:cNvPr id="8" name="12-конечная звезда 7"/>
          <p:cNvSpPr/>
          <p:nvPr/>
        </p:nvSpPr>
        <p:spPr>
          <a:xfrm rot="1260391">
            <a:off x="4842014" y="4628069"/>
            <a:ext cx="4071667" cy="1509623"/>
          </a:xfrm>
          <a:prstGeom prst="star12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ОДНОЗНАЧНОСТЬ!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418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58" y="241539"/>
            <a:ext cx="3337170" cy="6055743"/>
          </a:xfrm>
          <a:prstGeom prst="rect">
            <a:avLst/>
          </a:prstGeom>
        </p:spPr>
      </p:pic>
      <p:sp>
        <p:nvSpPr>
          <p:cNvPr id="3" name="Овальная выноска 2"/>
          <p:cNvSpPr/>
          <p:nvPr/>
        </p:nvSpPr>
        <p:spPr>
          <a:xfrm>
            <a:off x="3433314" y="707365"/>
            <a:ext cx="4028535" cy="1134911"/>
          </a:xfrm>
          <a:prstGeom prst="wedgeEllipseCallout">
            <a:avLst>
              <a:gd name="adj1" fmla="val -60447"/>
              <a:gd name="adj2" fmla="val 34772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А теперь?</a:t>
            </a:r>
            <a:endParaRPr lang="ru-RU" sz="2000" dirty="0"/>
          </a:p>
        </p:txBody>
      </p:sp>
      <p:sp>
        <p:nvSpPr>
          <p:cNvPr id="4" name="32-конечная звезда 3"/>
          <p:cNvSpPr/>
          <p:nvPr/>
        </p:nvSpPr>
        <p:spPr>
          <a:xfrm rot="19860179">
            <a:off x="4822166" y="2398143"/>
            <a:ext cx="3191773" cy="1354347"/>
          </a:xfrm>
          <a:prstGeom prst="star32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КОНЕЧНОСТЬ!</a:t>
            </a:r>
            <a:endParaRPr lang="ru-RU" dirty="0"/>
          </a:p>
        </p:txBody>
      </p:sp>
      <p:sp>
        <p:nvSpPr>
          <p:cNvPr id="5" name="Выноска-облако 4"/>
          <p:cNvSpPr/>
          <p:nvPr/>
        </p:nvSpPr>
        <p:spPr>
          <a:xfrm>
            <a:off x="6133381" y="4347713"/>
            <a:ext cx="4632385" cy="1811547"/>
          </a:xfrm>
          <a:prstGeom prst="cloudCallout">
            <a:avLst>
              <a:gd name="adj1" fmla="val 36895"/>
              <a:gd name="adj2" fmla="val -998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Ну и как это можно исправить?</a:t>
            </a:r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677" y="453756"/>
            <a:ext cx="1828207" cy="72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37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694652" y="327652"/>
            <a:ext cx="765616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Формы записи алгоритма</a:t>
            </a:r>
            <a:endParaRPr lang="ru-RU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655607" y="1069674"/>
            <a:ext cx="3743866" cy="25102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Рассмотрим на примере алгоритма нахождения наибольшего общего делителя двух чисел</a:t>
            </a:r>
          </a:p>
          <a:p>
            <a:pPr algn="ctr"/>
            <a:r>
              <a:rPr lang="ru-RU" sz="2400" dirty="0" smtClean="0"/>
              <a:t>(алгоритм Евклида)</a:t>
            </a:r>
            <a:endParaRPr lang="ru-RU" sz="2400" dirty="0"/>
          </a:p>
        </p:txBody>
      </p:sp>
      <p:sp>
        <p:nvSpPr>
          <p:cNvPr id="5" name="Стрелка вправо 4"/>
          <p:cNvSpPr/>
          <p:nvPr/>
        </p:nvSpPr>
        <p:spPr>
          <a:xfrm>
            <a:off x="500332" y="4175185"/>
            <a:ext cx="2173857" cy="1768415"/>
          </a:xfrm>
          <a:prstGeom prst="rightArrow">
            <a:avLst>
              <a:gd name="adj1" fmla="val 78293"/>
              <a:gd name="adj2" fmla="val 37317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Два натуральных числа, А и В</a:t>
            </a:r>
            <a:endParaRPr lang="ru-RU" sz="2000" dirty="0"/>
          </a:p>
        </p:txBody>
      </p:sp>
      <p:sp>
        <p:nvSpPr>
          <p:cNvPr id="6" name="Стрелка вправо 5"/>
          <p:cNvSpPr/>
          <p:nvPr/>
        </p:nvSpPr>
        <p:spPr>
          <a:xfrm>
            <a:off x="5486221" y="4196812"/>
            <a:ext cx="2173857" cy="1768415"/>
          </a:xfrm>
          <a:prstGeom prst="rightArrow">
            <a:avLst>
              <a:gd name="adj1" fmla="val 78293"/>
              <a:gd name="adj2" fmla="val 37317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Натуральное число, НОД(А,В)</a:t>
            </a:r>
            <a:endParaRPr lang="ru-RU" sz="2000" dirty="0"/>
          </a:p>
        </p:txBody>
      </p:sp>
      <p:sp>
        <p:nvSpPr>
          <p:cNvPr id="7" name="Куб 6"/>
          <p:cNvSpPr/>
          <p:nvPr/>
        </p:nvSpPr>
        <p:spPr>
          <a:xfrm>
            <a:off x="2790556" y="3881949"/>
            <a:ext cx="2579298" cy="2398143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/>
              <a:t>Алгоритм</a:t>
            </a:r>
            <a:br>
              <a:rPr lang="ru-RU" sz="2000" b="1" dirty="0" smtClean="0"/>
            </a:br>
            <a:r>
              <a:rPr lang="ru-RU" sz="2000" b="1" dirty="0" smtClean="0"/>
              <a:t>нахождения НОД</a:t>
            </a:r>
            <a:endParaRPr lang="ru-RU" sz="2000" b="1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518" y="650817"/>
            <a:ext cx="3600450" cy="5629275"/>
          </a:xfrm>
          <a:prstGeom prst="rect">
            <a:avLst/>
          </a:prstGeom>
        </p:spPr>
      </p:pic>
      <p:sp>
        <p:nvSpPr>
          <p:cNvPr id="9" name="Выноска-облако 8"/>
          <p:cNvSpPr/>
          <p:nvPr/>
        </p:nvSpPr>
        <p:spPr>
          <a:xfrm>
            <a:off x="4576223" y="973984"/>
            <a:ext cx="3843158" cy="3020046"/>
          </a:xfrm>
          <a:prstGeom prst="cloudCallout">
            <a:avLst>
              <a:gd name="adj1" fmla="val 75955"/>
              <a:gd name="adj2" fmla="val -14079"/>
            </a:avLst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latin typeface="Comic Sans MS" panose="030F0702030302020204" pitchFamily="66" charset="0"/>
              </a:rPr>
              <a:t>- Да легко! </a:t>
            </a:r>
            <a:br>
              <a:rPr lang="ru-RU" sz="2000" dirty="0" smtClean="0">
                <a:latin typeface="Comic Sans MS" panose="030F0702030302020204" pitchFamily="66" charset="0"/>
              </a:rPr>
            </a:br>
            <a:r>
              <a:rPr lang="ru-RU" sz="2000" dirty="0" smtClean="0">
                <a:latin typeface="Comic Sans MS" panose="030F0702030302020204" pitchFamily="66" charset="0"/>
              </a:rPr>
              <a:t>Просто вычитайте из большего меньшее, пока они не сравняются!</a:t>
            </a:r>
            <a:endParaRPr lang="ru-RU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45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35409" y="301773"/>
            <a:ext cx="294614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Словесный</a:t>
            </a:r>
            <a:endParaRPr lang="ru-RU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102" y="1052422"/>
            <a:ext cx="8402128" cy="4478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sz="2400" dirty="0" smtClean="0"/>
              <a:t>Ввести числа А и В. 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ru-RU" sz="2400" dirty="0"/>
              <a:t>Если А=В, то перейти к </a:t>
            </a:r>
            <a:r>
              <a:rPr lang="ru-RU" sz="2400" dirty="0" smtClean="0"/>
              <a:t>п.8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ru-RU" sz="2400" dirty="0" smtClean="0"/>
              <a:t>Если А</a:t>
            </a:r>
            <a:r>
              <a:rPr lang="en-US" sz="2400" dirty="0" smtClean="0"/>
              <a:t>&gt;</a:t>
            </a:r>
            <a:r>
              <a:rPr lang="ru-RU" sz="2400" dirty="0" smtClean="0"/>
              <a:t>В, то перейти к п. 6.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ru-RU" sz="2400" dirty="0" smtClean="0"/>
              <a:t>В:= В - А (вычесть из В значение А, результат записать в В)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ru-RU" sz="2400" dirty="0" smtClean="0"/>
              <a:t>Перейти к п.2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ru-RU" sz="2400" dirty="0" smtClean="0"/>
              <a:t> А:= А </a:t>
            </a:r>
            <a:r>
              <a:rPr lang="ru-RU" sz="2400" dirty="0"/>
              <a:t>- </a:t>
            </a:r>
            <a:r>
              <a:rPr lang="ru-RU" sz="2400" dirty="0" smtClean="0"/>
              <a:t>В </a:t>
            </a:r>
            <a:r>
              <a:rPr lang="ru-RU" sz="2400" dirty="0"/>
              <a:t>(вычесть из </a:t>
            </a:r>
            <a:r>
              <a:rPr lang="ru-RU" sz="2400" dirty="0" smtClean="0"/>
              <a:t>А </a:t>
            </a:r>
            <a:r>
              <a:rPr lang="ru-RU" sz="2400" dirty="0"/>
              <a:t>значение </a:t>
            </a:r>
            <a:r>
              <a:rPr lang="ru-RU" sz="2400" dirty="0" smtClean="0"/>
              <a:t>В, </a:t>
            </a:r>
            <a:r>
              <a:rPr lang="ru-RU" sz="2400" dirty="0"/>
              <a:t>результат записать в </a:t>
            </a:r>
            <a:r>
              <a:rPr lang="ru-RU" sz="2400" dirty="0" smtClean="0"/>
              <a:t>А)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ru-RU" sz="2400" dirty="0" smtClean="0"/>
              <a:t>Перейти к п.2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ru-RU" sz="2400" dirty="0" smtClean="0"/>
              <a:t>Вывести значение А.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ru-RU" sz="2400" dirty="0" smtClean="0"/>
              <a:t>Закончить работу алгоритма.</a:t>
            </a:r>
            <a:endParaRPr lang="ru-RU" sz="2400" dirty="0"/>
          </a:p>
          <a:p>
            <a:pPr marL="342900" indent="-342900">
              <a:buAutoNum type="arabicPeriod"/>
            </a:pPr>
            <a:endParaRPr lang="ru-RU" sz="2400" dirty="0"/>
          </a:p>
        </p:txBody>
      </p:sp>
      <p:sp>
        <p:nvSpPr>
          <p:cNvPr id="3" name="Выноска-облако 2"/>
          <p:cNvSpPr/>
          <p:nvPr/>
        </p:nvSpPr>
        <p:spPr>
          <a:xfrm>
            <a:off x="7880139" y="3502173"/>
            <a:ext cx="3843158" cy="3020046"/>
          </a:xfrm>
          <a:prstGeom prst="cloudCallout">
            <a:avLst>
              <a:gd name="adj1" fmla="val 50367"/>
              <a:gd name="adj2" fmla="val 44477"/>
            </a:avLst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latin typeface="Comic Sans MS" panose="030F0702030302020204" pitchFamily="66" charset="0"/>
              </a:rPr>
              <a:t>- Да легко! </a:t>
            </a:r>
            <a:br>
              <a:rPr lang="ru-RU" sz="2000" dirty="0" smtClean="0">
                <a:latin typeface="Comic Sans MS" panose="030F0702030302020204" pitchFamily="66" charset="0"/>
              </a:rPr>
            </a:br>
            <a:r>
              <a:rPr lang="ru-RU" sz="2000" dirty="0" smtClean="0">
                <a:latin typeface="Comic Sans MS" panose="030F0702030302020204" pitchFamily="66" charset="0"/>
              </a:rPr>
              <a:t>Просто вычитайте из большего меньшее, пока они не сравняются!</a:t>
            </a:r>
            <a:endParaRPr lang="ru-RU" sz="2000" dirty="0">
              <a:latin typeface="Comic Sans MS" panose="030F0702030302020204" pitchFamily="66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677" y="453756"/>
            <a:ext cx="1828207" cy="72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29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35409" y="301773"/>
            <a:ext cx="294614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Блок-схема</a:t>
            </a:r>
            <a:endParaRPr lang="ru-RU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Выноска-облако 2"/>
          <p:cNvSpPr/>
          <p:nvPr/>
        </p:nvSpPr>
        <p:spPr>
          <a:xfrm>
            <a:off x="7811128" y="448173"/>
            <a:ext cx="3843158" cy="3020046"/>
          </a:xfrm>
          <a:prstGeom prst="cloudCallout">
            <a:avLst>
              <a:gd name="adj1" fmla="val 53061"/>
              <a:gd name="adj2" fmla="val -52640"/>
            </a:avLst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latin typeface="Comic Sans MS" panose="030F0702030302020204" pitchFamily="66" charset="0"/>
              </a:rPr>
              <a:t>- Да легко! </a:t>
            </a:r>
            <a:br>
              <a:rPr lang="ru-RU" sz="2000" dirty="0" smtClean="0">
                <a:latin typeface="Comic Sans MS" panose="030F0702030302020204" pitchFamily="66" charset="0"/>
              </a:rPr>
            </a:br>
            <a:r>
              <a:rPr lang="ru-RU" sz="2000" dirty="0" smtClean="0">
                <a:latin typeface="Comic Sans MS" panose="030F0702030302020204" pitchFamily="66" charset="0"/>
              </a:rPr>
              <a:t>Просто вычитайте из большего меньшее, пока они не сравняются!</a:t>
            </a:r>
            <a:endParaRPr lang="ru-RU" sz="2000" dirty="0">
              <a:latin typeface="Comic Sans MS" panose="030F0702030302020204" pitchFamily="66" charset="0"/>
            </a:endParaRPr>
          </a:p>
        </p:txBody>
      </p:sp>
      <p:sp>
        <p:nvSpPr>
          <p:cNvPr id="4" name="Блок-схема: альтернативный процесс 3"/>
          <p:cNvSpPr/>
          <p:nvPr/>
        </p:nvSpPr>
        <p:spPr>
          <a:xfrm>
            <a:off x="4830793" y="577970"/>
            <a:ext cx="1216325" cy="54346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НАЧ</a:t>
            </a:r>
            <a:endParaRPr lang="ru-RU" sz="2000" dirty="0"/>
          </a:p>
        </p:txBody>
      </p:sp>
      <p:sp>
        <p:nvSpPr>
          <p:cNvPr id="5" name="Блок-схема: данные 4"/>
          <p:cNvSpPr/>
          <p:nvPr/>
        </p:nvSpPr>
        <p:spPr>
          <a:xfrm>
            <a:off x="4774716" y="1371600"/>
            <a:ext cx="1449238" cy="586596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Ввод А, В</a:t>
            </a:r>
            <a:endParaRPr lang="ru-RU" dirty="0"/>
          </a:p>
        </p:txBody>
      </p:sp>
      <p:sp>
        <p:nvSpPr>
          <p:cNvPr id="6" name="Блок-схема: решение 5"/>
          <p:cNvSpPr/>
          <p:nvPr/>
        </p:nvSpPr>
        <p:spPr>
          <a:xfrm>
            <a:off x="4619443" y="2342071"/>
            <a:ext cx="1604513" cy="62972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 = В</a:t>
            </a:r>
            <a:endParaRPr lang="ru-RU" dirty="0"/>
          </a:p>
        </p:txBody>
      </p:sp>
      <p:sp>
        <p:nvSpPr>
          <p:cNvPr id="7" name="Блок-схема: решение 6"/>
          <p:cNvSpPr/>
          <p:nvPr/>
        </p:nvSpPr>
        <p:spPr>
          <a:xfrm>
            <a:off x="1908482" y="3303917"/>
            <a:ext cx="1604513" cy="62972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 </a:t>
            </a:r>
            <a:r>
              <a:rPr lang="en-US" dirty="0" smtClean="0"/>
              <a:t>&gt;</a:t>
            </a:r>
            <a:r>
              <a:rPr lang="ru-RU" dirty="0" smtClean="0"/>
              <a:t> В</a:t>
            </a:r>
            <a:endParaRPr lang="ru-RU" dirty="0"/>
          </a:p>
        </p:txBody>
      </p:sp>
      <p:sp>
        <p:nvSpPr>
          <p:cNvPr id="8" name="Блок-схема: данные 7"/>
          <p:cNvSpPr/>
          <p:nvPr/>
        </p:nvSpPr>
        <p:spPr>
          <a:xfrm>
            <a:off x="6625086" y="3325483"/>
            <a:ext cx="1449238" cy="586596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</a:t>
            </a:r>
            <a:r>
              <a:rPr lang="ru-RU" dirty="0"/>
              <a:t>ы</a:t>
            </a:r>
            <a:r>
              <a:rPr lang="ru-RU" dirty="0" smtClean="0"/>
              <a:t>вод А</a:t>
            </a:r>
            <a:endParaRPr lang="ru-RU" dirty="0"/>
          </a:p>
        </p:txBody>
      </p:sp>
      <p:sp>
        <p:nvSpPr>
          <p:cNvPr id="9" name="Блок-схема: альтернативный процесс 8"/>
          <p:cNvSpPr/>
          <p:nvPr/>
        </p:nvSpPr>
        <p:spPr>
          <a:xfrm>
            <a:off x="6741540" y="4761781"/>
            <a:ext cx="1216325" cy="54346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КОН</a:t>
            </a:r>
            <a:endParaRPr lang="ru-RU" sz="2000" dirty="0"/>
          </a:p>
        </p:txBody>
      </p:sp>
      <p:sp>
        <p:nvSpPr>
          <p:cNvPr id="10" name="Блок-схема: процесс 9"/>
          <p:cNvSpPr/>
          <p:nvPr/>
        </p:nvSpPr>
        <p:spPr>
          <a:xfrm>
            <a:off x="1035171" y="4330460"/>
            <a:ext cx="1078302" cy="56934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 := А - В</a:t>
            </a:r>
            <a:endParaRPr lang="ru-RU" dirty="0"/>
          </a:p>
        </p:txBody>
      </p:sp>
      <p:sp>
        <p:nvSpPr>
          <p:cNvPr id="11" name="Блок-схема: процесс 10"/>
          <p:cNvSpPr/>
          <p:nvPr/>
        </p:nvSpPr>
        <p:spPr>
          <a:xfrm>
            <a:off x="3284620" y="4330460"/>
            <a:ext cx="1078302" cy="56934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</a:t>
            </a:r>
            <a:r>
              <a:rPr lang="ru-RU" dirty="0" smtClean="0"/>
              <a:t> := В - А</a:t>
            </a:r>
            <a:endParaRPr lang="ru-RU" dirty="0"/>
          </a:p>
        </p:txBody>
      </p:sp>
      <p:cxnSp>
        <p:nvCxnSpPr>
          <p:cNvPr id="13" name="Прямая со стрелкой 12"/>
          <p:cNvCxnSpPr>
            <a:stCxn id="4" idx="2"/>
          </p:cNvCxnSpPr>
          <p:nvPr/>
        </p:nvCxnSpPr>
        <p:spPr>
          <a:xfrm flipH="1">
            <a:off x="5438953" y="1121434"/>
            <a:ext cx="3" cy="2501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endCxn id="6" idx="0"/>
          </p:cNvCxnSpPr>
          <p:nvPr/>
        </p:nvCxnSpPr>
        <p:spPr>
          <a:xfrm flipH="1">
            <a:off x="5421700" y="1958196"/>
            <a:ext cx="12938" cy="3838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6" idx="1"/>
          </p:cNvCxnSpPr>
          <p:nvPr/>
        </p:nvCxnSpPr>
        <p:spPr>
          <a:xfrm flipH="1" flipV="1">
            <a:off x="2710738" y="2656935"/>
            <a:ext cx="1908705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endCxn id="7" idx="0"/>
          </p:cNvCxnSpPr>
          <p:nvPr/>
        </p:nvCxnSpPr>
        <p:spPr>
          <a:xfrm>
            <a:off x="2710738" y="2656935"/>
            <a:ext cx="1" cy="6469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6" idx="3"/>
          </p:cNvCxnSpPr>
          <p:nvPr/>
        </p:nvCxnSpPr>
        <p:spPr>
          <a:xfrm flipV="1">
            <a:off x="6223956" y="2656935"/>
            <a:ext cx="1125750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7349705" y="2669875"/>
            <a:ext cx="1" cy="6469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7" idx="1"/>
          </p:cNvCxnSpPr>
          <p:nvPr/>
        </p:nvCxnSpPr>
        <p:spPr>
          <a:xfrm flipH="1" flipV="1">
            <a:off x="1574322" y="3618781"/>
            <a:ext cx="334160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flipH="1" flipV="1">
            <a:off x="3512995" y="3623094"/>
            <a:ext cx="334160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endCxn id="10" idx="0"/>
          </p:cNvCxnSpPr>
          <p:nvPr/>
        </p:nvCxnSpPr>
        <p:spPr>
          <a:xfrm flipH="1">
            <a:off x="1574322" y="3623095"/>
            <a:ext cx="2044" cy="7073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 flipH="1">
            <a:off x="3823771" y="3623095"/>
            <a:ext cx="2044" cy="7073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 flipH="1">
            <a:off x="1574322" y="4891177"/>
            <a:ext cx="3227" cy="4054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 flipH="1">
            <a:off x="3851469" y="4899804"/>
            <a:ext cx="3227" cy="4054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flipH="1">
            <a:off x="690113" y="5296618"/>
            <a:ext cx="315704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/>
          <p:nvPr/>
        </p:nvCxnSpPr>
        <p:spPr>
          <a:xfrm flipV="1">
            <a:off x="698740" y="2150133"/>
            <a:ext cx="86264" cy="31551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/>
          <p:nvPr/>
        </p:nvCxnSpPr>
        <p:spPr>
          <a:xfrm>
            <a:off x="785004" y="2150133"/>
            <a:ext cx="46366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/>
          <p:cNvCxnSpPr/>
          <p:nvPr/>
        </p:nvCxnSpPr>
        <p:spPr>
          <a:xfrm>
            <a:off x="7349703" y="3912079"/>
            <a:ext cx="2" cy="8497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476033" y="3197105"/>
            <a:ext cx="6469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accent1"/>
                </a:solidFill>
              </a:rPr>
              <a:t>ДА</a:t>
            </a:r>
            <a:endParaRPr lang="ru-RU" sz="2000" b="1" dirty="0">
              <a:solidFill>
                <a:schemeClr val="accent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357946" y="3197105"/>
            <a:ext cx="770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accent1"/>
                </a:solidFill>
              </a:rPr>
              <a:t>НЕТ</a:t>
            </a:r>
            <a:endParaRPr lang="ru-RU" sz="2000" b="1" dirty="0">
              <a:solidFill>
                <a:schemeClr val="accent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06615" y="2256825"/>
            <a:ext cx="6469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accent1"/>
                </a:solidFill>
              </a:rPr>
              <a:t>ДА</a:t>
            </a:r>
            <a:endParaRPr lang="ru-RU" sz="2000" b="1" dirty="0">
              <a:solidFill>
                <a:schemeClr val="accent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953955" y="2251494"/>
            <a:ext cx="770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accent1"/>
                </a:solidFill>
              </a:rPr>
              <a:t>НЕТ</a:t>
            </a:r>
            <a:endParaRPr lang="ru-RU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29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70049" y="370936"/>
            <a:ext cx="605165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Псевдокод </a:t>
            </a:r>
            <a:br>
              <a:rPr lang="ru-RU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ru-RU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(алгоритмический язык)</a:t>
            </a:r>
            <a:endParaRPr lang="ru-RU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Выноска-облако 2"/>
          <p:cNvSpPr/>
          <p:nvPr/>
        </p:nvSpPr>
        <p:spPr>
          <a:xfrm>
            <a:off x="470049" y="3536679"/>
            <a:ext cx="3843158" cy="3020046"/>
          </a:xfrm>
          <a:prstGeom prst="cloudCallout">
            <a:avLst>
              <a:gd name="adj1" fmla="val -49743"/>
              <a:gd name="adj2" fmla="val 45620"/>
            </a:avLst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latin typeface="Comic Sans MS" panose="030F0702030302020204" pitchFamily="66" charset="0"/>
              </a:rPr>
              <a:t>- Да легко! </a:t>
            </a:r>
            <a:br>
              <a:rPr lang="ru-RU" sz="2000" dirty="0" smtClean="0">
                <a:latin typeface="Comic Sans MS" panose="030F0702030302020204" pitchFamily="66" charset="0"/>
              </a:rPr>
            </a:br>
            <a:r>
              <a:rPr lang="ru-RU" sz="2000" dirty="0" smtClean="0">
                <a:latin typeface="Comic Sans MS" panose="030F0702030302020204" pitchFamily="66" charset="0"/>
              </a:rPr>
              <a:t>Просто вычитайте из большего меньшее, пока они не сравняются!</a:t>
            </a:r>
            <a:endParaRPr lang="ru-RU" sz="2000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13736" y="666662"/>
            <a:ext cx="3191774" cy="57400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2400" b="1" u="sng" dirty="0" smtClean="0"/>
              <a:t>Алг</a:t>
            </a:r>
            <a:r>
              <a:rPr lang="ru-RU" sz="2400" dirty="0" smtClean="0"/>
              <a:t> НОД</a:t>
            </a:r>
          </a:p>
          <a:p>
            <a:pPr>
              <a:spcAft>
                <a:spcPts val="600"/>
              </a:spcAft>
            </a:pPr>
            <a:r>
              <a:rPr lang="ru-RU" sz="2400" dirty="0" smtClean="0"/>
              <a:t>	</a:t>
            </a:r>
            <a:r>
              <a:rPr lang="ru-RU" sz="2400" b="1" u="sng" dirty="0"/>
              <a:t>Цел </a:t>
            </a:r>
            <a:r>
              <a:rPr lang="ru-RU" sz="2400" dirty="0" smtClean="0"/>
              <a:t>А, В</a:t>
            </a:r>
          </a:p>
          <a:p>
            <a:pPr>
              <a:spcAft>
                <a:spcPts val="600"/>
              </a:spcAft>
            </a:pPr>
            <a:r>
              <a:rPr lang="ru-RU" sz="2400" b="1" u="sng" dirty="0"/>
              <a:t>НАЧ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	</a:t>
            </a:r>
            <a:r>
              <a:rPr lang="ru-RU" sz="2400" b="1" u="sng" dirty="0"/>
              <a:t>Ввод</a:t>
            </a:r>
            <a:r>
              <a:rPr lang="ru-RU" sz="2400" dirty="0" smtClean="0"/>
              <a:t> А, В</a:t>
            </a:r>
          </a:p>
          <a:p>
            <a:pPr>
              <a:spcAft>
                <a:spcPts val="600"/>
              </a:spcAft>
            </a:pPr>
            <a:r>
              <a:rPr lang="ru-RU" sz="2400" dirty="0" smtClean="0"/>
              <a:t>	</a:t>
            </a:r>
            <a:r>
              <a:rPr lang="ru-RU" sz="2400" b="1" u="sng" dirty="0"/>
              <a:t>Пока</a:t>
            </a:r>
            <a:r>
              <a:rPr lang="ru-RU" sz="2400" dirty="0" smtClean="0"/>
              <a:t> А ≠ В </a:t>
            </a:r>
            <a:r>
              <a:rPr lang="ru-RU" sz="2400" b="1" u="sng" dirty="0"/>
              <a:t>НЦ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dirty="0" smtClean="0"/>
              <a:t>	</a:t>
            </a:r>
            <a:r>
              <a:rPr lang="ru-RU" sz="2400" b="1" u="sng" dirty="0"/>
              <a:t>Если</a:t>
            </a:r>
            <a:r>
              <a:rPr lang="ru-RU" sz="2400" dirty="0" smtClean="0"/>
              <a:t> </a:t>
            </a:r>
            <a:r>
              <a:rPr lang="en-US" sz="2400" dirty="0" smtClean="0"/>
              <a:t>A &gt; B </a:t>
            </a:r>
            <a:r>
              <a:rPr lang="ru-RU" sz="2400" b="1" u="sng" dirty="0"/>
              <a:t>То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dirty="0" smtClean="0"/>
              <a:t>		А </a:t>
            </a:r>
            <a:r>
              <a:rPr lang="en-US" sz="2400" dirty="0" smtClean="0"/>
              <a:t>:= </a:t>
            </a:r>
            <a:r>
              <a:rPr lang="ru-RU" sz="2400" dirty="0" smtClean="0"/>
              <a:t>А – В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dirty="0" smtClean="0"/>
              <a:t>	</a:t>
            </a:r>
            <a:r>
              <a:rPr lang="ru-RU" sz="2400" b="1" u="sng" dirty="0"/>
              <a:t>Иначе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dirty="0" smtClean="0"/>
              <a:t>		В := В – А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dirty="0" smtClean="0"/>
              <a:t>	</a:t>
            </a:r>
            <a:r>
              <a:rPr lang="ru-RU" sz="2400" b="1" u="sng" dirty="0"/>
              <a:t>Всё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b="1" u="sng" dirty="0"/>
              <a:t>КЦ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b="1" u="sng" dirty="0"/>
              <a:t>Вывод</a:t>
            </a:r>
            <a:r>
              <a:rPr lang="ru-RU" sz="2400" dirty="0" smtClean="0"/>
              <a:t> А</a:t>
            </a:r>
          </a:p>
          <a:p>
            <a:pPr>
              <a:spcAft>
                <a:spcPts val="600"/>
              </a:spcAft>
            </a:pPr>
            <a:r>
              <a:rPr lang="ru-RU" sz="2400" b="1" u="sng" dirty="0"/>
              <a:t>КОН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677" y="453756"/>
            <a:ext cx="1828207" cy="72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1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355" y="2029881"/>
            <a:ext cx="5945284" cy="39913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Прямоугольник 2"/>
          <p:cNvSpPr/>
          <p:nvPr/>
        </p:nvSpPr>
        <p:spPr>
          <a:xfrm>
            <a:off x="470049" y="370936"/>
            <a:ext cx="605165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Язык программирования </a:t>
            </a:r>
            <a:br>
              <a:rPr lang="ru-RU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ru-RU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(</a:t>
            </a:r>
            <a: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Python</a:t>
            </a:r>
            <a:r>
              <a:rPr lang="ru-RU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)</a:t>
            </a:r>
            <a:endParaRPr lang="ru-RU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" name="Выноска-облако 3"/>
          <p:cNvSpPr/>
          <p:nvPr/>
        </p:nvSpPr>
        <p:spPr>
          <a:xfrm>
            <a:off x="470049" y="3536679"/>
            <a:ext cx="3843158" cy="3020046"/>
          </a:xfrm>
          <a:prstGeom prst="cloudCallout">
            <a:avLst>
              <a:gd name="adj1" fmla="val -49743"/>
              <a:gd name="adj2" fmla="val 45620"/>
            </a:avLst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latin typeface="Comic Sans MS" panose="030F0702030302020204" pitchFamily="66" charset="0"/>
              </a:rPr>
              <a:t>- Да легко! </a:t>
            </a:r>
            <a:br>
              <a:rPr lang="ru-RU" sz="2000" dirty="0" smtClean="0">
                <a:latin typeface="Comic Sans MS" panose="030F0702030302020204" pitchFamily="66" charset="0"/>
              </a:rPr>
            </a:br>
            <a:r>
              <a:rPr lang="ru-RU" sz="2000" dirty="0" smtClean="0">
                <a:latin typeface="Comic Sans MS" panose="030F0702030302020204" pitchFamily="66" charset="0"/>
              </a:rPr>
              <a:t>Просто вычитайте из большего меньшее, пока они не сравняются!</a:t>
            </a:r>
            <a:endParaRPr lang="ru-RU" sz="2000" dirty="0">
              <a:latin typeface="Comic Sans MS" panose="030F0702030302020204" pitchFamily="66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677" y="453756"/>
            <a:ext cx="1828207" cy="72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Базис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>
    <a:lnDef>
      <a:spPr>
        <a:ln w="28575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Основа</Template>
  <TotalTime>507</TotalTime>
  <Words>500</Words>
  <Application>Microsoft Office PowerPoint</Application>
  <PresentationFormat>Широкоэкранный</PresentationFormat>
  <Paragraphs>107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Comic Sans MS</vt:lpstr>
      <vt:lpstr>Corbel</vt:lpstr>
      <vt:lpstr>Базис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FST SPbSPU ISMI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LocalAdmin</dc:creator>
  <cp:lastModifiedBy>Dmitriy</cp:lastModifiedBy>
  <cp:revision>28</cp:revision>
  <dcterms:created xsi:type="dcterms:W3CDTF">2017-07-29T04:35:29Z</dcterms:created>
  <dcterms:modified xsi:type="dcterms:W3CDTF">2025-09-09T17:44:45Z</dcterms:modified>
</cp:coreProperties>
</file>