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17B"/>
    <a:srgbClr val="036A90"/>
    <a:srgbClr val="060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6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64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98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6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02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80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09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20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59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6A74D-00E2-4053-844B-0BA1E7F4399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09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y.itmo.ru/programs/52628?p=chapter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Sources/&#1055;&#1086;&#1082;&#1080;&#1076;&#1086;&#1074;_&#1048;&#1056;_&#1086;&#1089;&#1077;&#1085;&#1100;%202025_&#1073;&#1072;&#1082;&#1072;&#1083;&#1072;&#1074;&#1088;&#1099;.xlsx" TargetMode="External"/><Relationship Id="rId5" Type="http://schemas.openxmlformats.org/officeDocument/2006/relationships/hyperlink" Target="https://my.itmo.ru/programs/52629?p=mainRPD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086976" y="1329334"/>
            <a:ext cx="6664175" cy="1942390"/>
          </a:xfrm>
        </p:spPr>
        <p:txBody>
          <a:bodyPr>
            <a:noAutofit/>
          </a:bodyPr>
          <a:lstStyle/>
          <a:p>
            <a:pPr algn="l"/>
            <a:r>
              <a:rPr lang="ru-RU" sz="4000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Times New Roman" panose="02020603050405020304" pitchFamily="18" charset="0"/>
              </a:rPr>
              <a:t>ПРОГРАММИРОВАНИЕ </a:t>
            </a:r>
            <a:r>
              <a:rPr lang="en-US" sz="4000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Times New Roman" panose="02020603050405020304" pitchFamily="18" charset="0"/>
              </a:rPr>
              <a:t/>
            </a:r>
            <a:br>
              <a:rPr lang="en-US" sz="4000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Times New Roman" panose="02020603050405020304" pitchFamily="18" charset="0"/>
              </a:rPr>
            </a:br>
            <a:r>
              <a:rPr lang="ru-RU" sz="4000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Times New Roman" panose="02020603050405020304" pitchFamily="18" charset="0"/>
              </a:rPr>
              <a:t>И ОБРАБОТКА ДАННЫХ </a:t>
            </a:r>
            <a:r>
              <a:rPr lang="en-US" sz="4000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Times New Roman" panose="02020603050405020304" pitchFamily="18" charset="0"/>
              </a:rPr>
              <a:t/>
            </a:r>
            <a:br>
              <a:rPr lang="en-US" sz="4000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Times New Roman" panose="02020603050405020304" pitchFamily="18" charset="0"/>
              </a:rPr>
            </a:br>
            <a:r>
              <a:rPr lang="ru-RU" sz="4000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Times New Roman" panose="02020603050405020304" pitchFamily="18" charset="0"/>
              </a:rPr>
              <a:t>НА PYTHON</a:t>
            </a:r>
            <a:endParaRPr lang="ru-RU" sz="4000" b="1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086976" y="4438982"/>
            <a:ext cx="4562060" cy="1271801"/>
          </a:xfrm>
        </p:spPr>
        <p:txBody>
          <a:bodyPr/>
          <a:lstStyle/>
          <a:p>
            <a:pPr algn="l"/>
            <a:r>
              <a:rPr lang="ru-RU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Инженер и преподаватель, Институт дизайна </a:t>
            </a:r>
            <a:br>
              <a:rPr lang="ru-RU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</a:br>
            <a:r>
              <a:rPr lang="ru-RU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и урбанистки ИТМО</a:t>
            </a:r>
            <a:endParaRPr lang="ru-RU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529" y="241405"/>
            <a:ext cx="2684820" cy="980683"/>
          </a:xfrm>
          <a:prstGeom prst="rect">
            <a:avLst/>
          </a:prstGeom>
        </p:spPr>
      </p:pic>
      <p:sp>
        <p:nvSpPr>
          <p:cNvPr id="4" name="Скругленный прямоугольник 3"/>
          <p:cNvSpPr/>
          <p:nvPr/>
        </p:nvSpPr>
        <p:spPr>
          <a:xfrm>
            <a:off x="5156550" y="3378970"/>
            <a:ext cx="4248553" cy="85050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36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 smtClean="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Дмитрий Константинович </a:t>
            </a:r>
          </a:p>
          <a:p>
            <a:r>
              <a:rPr lang="ru-RU" sz="2400" dirty="0" err="1" smtClean="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Покидов</a:t>
            </a:r>
            <a:endParaRPr lang="ru-RU" sz="2000" dirty="0">
              <a:solidFill>
                <a:schemeClr val="tx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3" b="11258"/>
          <a:stretch/>
        </p:blipFill>
        <p:spPr>
          <a:xfrm>
            <a:off x="974034" y="1145796"/>
            <a:ext cx="3250095" cy="4753832"/>
          </a:xfrm>
          <a:prstGeom prst="rect">
            <a:avLst/>
          </a:prstGeom>
          <a:solidFill>
            <a:srgbClr val="FFFFFF">
              <a:shade val="85000"/>
            </a:srgbClr>
          </a:solidFill>
          <a:ln w="50800" cap="sq">
            <a:solidFill>
              <a:srgbClr val="036A9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6481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821" y="436977"/>
            <a:ext cx="6635398" cy="1325563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solidFill>
                  <a:srgbClr val="2A017B"/>
                </a:solidFill>
              </a:rPr>
              <a:t>Как будем заниматься? 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11" name="TextBox 10"/>
          <p:cNvSpPr txBox="1"/>
          <p:nvPr/>
        </p:nvSpPr>
        <p:spPr>
          <a:xfrm>
            <a:off x="6863871" y="5807153"/>
            <a:ext cx="1345852" cy="45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>
                <a:solidFill>
                  <a:srgbClr val="2A017B"/>
                </a:solidFill>
                <a:latin typeface="Golos Text" panose="020B0503020202020204" pitchFamily="34" charset="0"/>
                <a:ea typeface="Golos Text" panose="020B0503020202020204" pitchFamily="34" charset="0"/>
                <a:hlinkClick r:id="rId3"/>
              </a:rPr>
              <a:t>1 семестр</a:t>
            </a:r>
            <a:endParaRPr lang="ru-RU" sz="2400" dirty="0">
              <a:solidFill>
                <a:srgbClr val="2A017B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21" y="1762540"/>
            <a:ext cx="11403016" cy="3772426"/>
          </a:xfrm>
          <a:prstGeom prst="rect">
            <a:avLst/>
          </a:prstGeom>
          <a:ln w="38100">
            <a:solidFill>
              <a:srgbClr val="036A9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hlinkClick r:id="rId5"/>
          </p:cNvPr>
          <p:cNvSpPr txBox="1"/>
          <p:nvPr/>
        </p:nvSpPr>
        <p:spPr>
          <a:xfrm>
            <a:off x="8616471" y="5807153"/>
            <a:ext cx="1345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>
                <a:solidFill>
                  <a:srgbClr val="2A017B"/>
                </a:solidFill>
                <a:latin typeface="Golos Text" panose="020B0503020202020204" pitchFamily="34" charset="0"/>
                <a:ea typeface="Golos Text" panose="020B0503020202020204" pitchFamily="34" charset="0"/>
                <a:hlinkClick r:id="rId3"/>
              </a:rPr>
              <a:t>2 семестр</a:t>
            </a:r>
            <a:endParaRPr lang="ru-RU" sz="2400" dirty="0">
              <a:solidFill>
                <a:srgbClr val="2A017B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9" name="TextBox 8">
            <a:hlinkClick r:id="rId5"/>
          </p:cNvPr>
          <p:cNvSpPr txBox="1"/>
          <p:nvPr/>
        </p:nvSpPr>
        <p:spPr>
          <a:xfrm>
            <a:off x="10299787" y="5800228"/>
            <a:ext cx="1607049" cy="45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>
                <a:solidFill>
                  <a:srgbClr val="2A017B"/>
                </a:solidFill>
                <a:latin typeface="Golos Text" panose="020B0503020202020204" pitchFamily="34" charset="0"/>
                <a:ea typeface="Golos Text" panose="020B0503020202020204" pitchFamily="34" charset="0"/>
                <a:hlinkClick r:id="rId6" action="ppaction://hlinkfile"/>
              </a:rPr>
              <a:t>Расписание</a:t>
            </a:r>
            <a:endParaRPr lang="ru-RU" sz="2400" dirty="0">
              <a:solidFill>
                <a:srgbClr val="2A017B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23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721" y="773376"/>
            <a:ext cx="8264409" cy="1325563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solidFill>
                  <a:srgbClr val="2A017B"/>
                </a:solidFill>
              </a:rPr>
              <a:t>Как будет оцениваться работа?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261625"/>
              </p:ext>
            </p:extLst>
          </p:nvPr>
        </p:nvGraphicFramePr>
        <p:xfrm>
          <a:off x="1097721" y="2020957"/>
          <a:ext cx="9566965" cy="427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3122">
                  <a:extLst>
                    <a:ext uri="{9D8B030D-6E8A-4147-A177-3AD203B41FA5}">
                      <a16:colId xmlns:a16="http://schemas.microsoft.com/office/drawing/2014/main" val="885190102"/>
                    </a:ext>
                  </a:extLst>
                </a:gridCol>
                <a:gridCol w="4045226">
                  <a:extLst>
                    <a:ext uri="{9D8B030D-6E8A-4147-A177-3AD203B41FA5}">
                      <a16:colId xmlns:a16="http://schemas.microsoft.com/office/drawing/2014/main" val="4203563040"/>
                    </a:ext>
                  </a:extLst>
                </a:gridCol>
                <a:gridCol w="1858617">
                  <a:extLst>
                    <a:ext uri="{9D8B030D-6E8A-4147-A177-3AD203B41FA5}">
                      <a16:colId xmlns:a16="http://schemas.microsoft.com/office/drawing/2014/main" val="2448795385"/>
                    </a:ext>
                  </a:extLst>
                </a:gridCol>
              </a:tblGrid>
              <a:tr h="561686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Баллы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Оценка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Буквенное обозначение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меньше 60 баллов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"неудовлетворительно"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FX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294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60 баллов и более 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зачтено (при недифференцированной оценке)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821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 от 60 до 67 баллов включительно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"удовлетворительно"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E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008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более 67 и до 74 баллов включительно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"удовлетворительно"</a:t>
                      </a:r>
                    </a:p>
                    <a:p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D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86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более 74 и до 83 баллов включительно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"</a:t>
                      </a:r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хорошо</a:t>
                      </a:r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"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C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06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более 83 и до 90 баллов включительно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"хорошо"</a:t>
                      </a:r>
                    </a:p>
                    <a:p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B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6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более 90 и до 103 баллов включительно 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«отлично"</a:t>
                      </a:r>
                    </a:p>
                    <a:p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Golos Text" panose="020B0503020202020204" pitchFamily="34" charset="0"/>
                          <a:ea typeface="Golos Text" panose="020B0503020202020204" pitchFamily="34" charset="0"/>
                        </a:rPr>
                        <a:t>А</a:t>
                      </a:r>
                      <a:endParaRPr lang="ru-RU" sz="1600" dirty="0">
                        <a:latin typeface="Golos Text" panose="020B0503020202020204" pitchFamily="34" charset="0"/>
                        <a:ea typeface="Golos T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146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14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93</Words>
  <Application>Microsoft Office PowerPoint</Application>
  <PresentationFormat>Широкоэкранный</PresentationFormat>
  <Paragraphs>32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Golos Text</vt:lpstr>
      <vt:lpstr>Times New Roman</vt:lpstr>
      <vt:lpstr>Тема Office</vt:lpstr>
      <vt:lpstr>ПРОГРАММИРОВАНИЕ  И ОБРАБОТКА ДАННЫХ  НА PYTHON</vt:lpstr>
      <vt:lpstr>Как будем заниматься? </vt:lpstr>
      <vt:lpstr>Как будет оцениваться работа?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и информационные процессы</dc:title>
  <dc:creator>Dmitriy</dc:creator>
  <cp:lastModifiedBy>Dmitriy</cp:lastModifiedBy>
  <cp:revision>11</cp:revision>
  <dcterms:created xsi:type="dcterms:W3CDTF">2025-09-04T18:56:29Z</dcterms:created>
  <dcterms:modified xsi:type="dcterms:W3CDTF">2025-09-09T17:44:05Z</dcterms:modified>
</cp:coreProperties>
</file>