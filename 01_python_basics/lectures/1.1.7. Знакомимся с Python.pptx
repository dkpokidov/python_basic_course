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A90"/>
    <a:srgbClr val="2A017B"/>
    <a:srgbClr val="060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63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5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55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649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983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6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202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980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091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20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4593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6A74D-00E2-4053-844B-0BA1E7F43998}" type="datetimeFigureOut">
              <a:rPr lang="ru-RU" smtClean="0"/>
              <a:t>12.09.2025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C5EA1-3743-4E2A-B765-A6D62A8FE19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092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33939" y="1678954"/>
            <a:ext cx="9144000" cy="2387600"/>
          </a:xfrm>
        </p:spPr>
        <p:txBody>
          <a:bodyPr>
            <a:no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Знакомимся с </a:t>
            </a:r>
            <a:r>
              <a:rPr lang="en-US" b="1" dirty="0" smtClean="0">
                <a:solidFill>
                  <a:schemeClr val="bg1"/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Python</a:t>
            </a:r>
            <a:endParaRPr lang="ru-RU" b="1" dirty="0">
              <a:solidFill>
                <a:schemeClr val="bg1"/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5529" y="241405"/>
            <a:ext cx="2684820" cy="9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1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FB99A32-B210-4CD8-AD6C-EB89632A3F30}"/>
              </a:ext>
            </a:extLst>
          </p:cNvPr>
          <p:cNvSpPr/>
          <p:nvPr/>
        </p:nvSpPr>
        <p:spPr>
          <a:xfrm>
            <a:off x="6286249" y="898362"/>
            <a:ext cx="46364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Принцип философии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400" dirty="0" err="1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который можно обобщить </a:t>
            </a:r>
            <a:b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следующим образом.</a:t>
            </a:r>
            <a:endParaRPr lang="en-US" sz="2400" dirty="0">
              <a:ln w="0"/>
              <a:solidFill>
                <a:schemeClr val="tx2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3F5CC63-3B8B-426F-9F48-4CABC9C838D8}"/>
              </a:ext>
            </a:extLst>
          </p:cNvPr>
          <p:cNvSpPr/>
          <p:nvPr/>
        </p:nvSpPr>
        <p:spPr>
          <a:xfrm>
            <a:off x="770535" y="2784263"/>
            <a:ext cx="57805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Guido</a:t>
            </a: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van</a:t>
            </a:r>
            <a:r>
              <a:rPr lang="ru-RU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Rossum</a:t>
            </a: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) — </a:t>
            </a: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нидерландский программист,</a:t>
            </a:r>
            <a:b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автор </a:t>
            </a:r>
            <a:r>
              <a:rPr lang="ru-RU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языка</a:t>
            </a: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программирования </a:t>
            </a:r>
            <a:r>
              <a:rPr lang="ru-RU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lang="ru-RU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endParaRPr lang="ru-RU" dirty="0"/>
          </a:p>
        </p:txBody>
      </p:sp>
      <p:sp>
        <p:nvSpPr>
          <p:cNvPr id="2" name="Блок-схема: карточка 1">
            <a:extLst>
              <a:ext uri="{FF2B5EF4-FFF2-40B4-BE49-F238E27FC236}">
                <a16:creationId xmlns:a16="http://schemas.microsoft.com/office/drawing/2014/main" id="{C8CC2641-3E76-41AE-B75A-5B7663F58498}"/>
              </a:ext>
            </a:extLst>
          </p:cNvPr>
          <p:cNvSpPr/>
          <p:nvPr/>
        </p:nvSpPr>
        <p:spPr>
          <a:xfrm>
            <a:off x="657654" y="504562"/>
            <a:ext cx="3492843" cy="2108886"/>
          </a:xfrm>
          <a:prstGeom prst="flowChartPunchedCard">
            <a:avLst/>
          </a:prstGeom>
          <a:blipFill>
            <a:blip r:embed="rId2"/>
            <a:srcRect/>
            <a:stretch>
              <a:fillRect l="1113" t="-1537" r="-1113" b="-2273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E7991C-0195-4959-80B6-A5C631E894DD}"/>
              </a:ext>
            </a:extLst>
          </p:cNvPr>
          <p:cNvSpPr/>
          <p:nvPr/>
        </p:nvSpPr>
        <p:spPr>
          <a:xfrm>
            <a:off x="5748706" y="2613448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inionPro-Regular" panose="02040503050201020203" pitchFamily="18" charset="0"/>
              </a:rPr>
              <a:t> </a:t>
            </a: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  <a:t>Красивое лучше, чем уродливое.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Myriad Pro Cond" panose="020B05060304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  <a:t> Явное лучше, чем неявное.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Myriad Pro Cond" panose="020B05060304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  <a:t> Простое лучше, чем сложное.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Myriad Pro Cond" panose="020B05060304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  <a:t> Сложное лучше, чем запутанное.</a:t>
            </a:r>
            <a:endParaRPr lang="en-US" sz="3200" dirty="0">
              <a:solidFill>
                <a:schemeClr val="tx2">
                  <a:lumMod val="50000"/>
                </a:schemeClr>
              </a:solidFill>
              <a:latin typeface="Myriad Pro Cond" panose="020B0506030403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  <a:t> Читаемость имеет значение. </a:t>
            </a:r>
            <a:br>
              <a:rPr lang="ru-RU" sz="3200" dirty="0">
                <a:solidFill>
                  <a:schemeClr val="tx2">
                    <a:lumMod val="50000"/>
                  </a:schemeClr>
                </a:solidFill>
                <a:latin typeface="Myriad Pro Cond" panose="020B0506030403020204" pitchFamily="34" charset="0"/>
              </a:rPr>
            </a:br>
            <a:endParaRPr lang="ru-RU" sz="3200" dirty="0">
              <a:solidFill>
                <a:schemeClr val="tx2">
                  <a:lumMod val="50000"/>
                </a:schemeClr>
              </a:solidFill>
              <a:latin typeface="Myriad Pro Cond" panose="020B0506030403020204" pitchFamily="34" charset="0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079268A-5E98-4DF3-8F65-D0E675B0C961}"/>
              </a:ext>
            </a:extLst>
          </p:cNvPr>
          <p:cNvSpPr/>
          <p:nvPr/>
        </p:nvSpPr>
        <p:spPr>
          <a:xfrm>
            <a:off x="657654" y="4112023"/>
            <a:ext cx="4112946" cy="1950720"/>
          </a:xfrm>
          <a:prstGeom prst="roundRect">
            <a:avLst/>
          </a:prstGeom>
          <a:solidFill>
            <a:srgbClr val="036A9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является высокоуровневым («</a:t>
            </a:r>
            <a:r>
              <a:rPr lang="ru-RU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человекочитаемым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») языком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программирования, который для вывода результатов использует интерпретатор.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32" y="114873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200817-A46A-49D3-A728-F8069551DD4D}"/>
              </a:ext>
            </a:extLst>
          </p:cNvPr>
          <p:cNvSpPr/>
          <p:nvPr/>
        </p:nvSpPr>
        <p:spPr>
          <a:xfrm>
            <a:off x="904240" y="1744880"/>
            <a:ext cx="3352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61616"/>
                </a:solidFill>
                <a:latin typeface="MyriadPro-Regular"/>
              </a:rPr>
              <a:t>Название языку </a:t>
            </a:r>
            <a:r>
              <a:rPr lang="ru-RU" dirty="0" err="1">
                <a:solidFill>
                  <a:srgbClr val="161616"/>
                </a:solidFill>
                <a:latin typeface="MyriadPro-Regular"/>
              </a:rPr>
              <a:t>Python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> было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>
                <a:solidFill>
                  <a:srgbClr val="161616"/>
                </a:solidFill>
                <a:latin typeface="MyriadPro-Regular"/>
              </a:rPr>
              <a:t>дано в честь популярного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>
                <a:solidFill>
                  <a:srgbClr val="161616"/>
                </a:solidFill>
                <a:latin typeface="MyriadPro-Regular"/>
              </a:rPr>
              <a:t>британского комедийного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>
                <a:solidFill>
                  <a:srgbClr val="161616"/>
                </a:solidFill>
                <a:latin typeface="MyriadPro-Regular"/>
              </a:rPr>
              <a:t>шоу «Летающий цирк Монти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 err="1">
                <a:solidFill>
                  <a:srgbClr val="161616"/>
                </a:solidFill>
                <a:latin typeface="MyriadPro-Regular"/>
              </a:rPr>
              <a:t>Пайтона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>» (</a:t>
            </a:r>
            <a:r>
              <a:rPr lang="ru-RU" dirty="0" err="1">
                <a:solidFill>
                  <a:srgbClr val="161616"/>
                </a:solidFill>
                <a:latin typeface="MyriadPro-Regular"/>
              </a:rPr>
              <a:t>Monty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> </a:t>
            </a:r>
            <a:r>
              <a:rPr lang="ru-RU" dirty="0" err="1">
                <a:solidFill>
                  <a:srgbClr val="161616"/>
                </a:solidFill>
                <a:latin typeface="MyriadPro-Regular"/>
              </a:rPr>
              <a:t>Python's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/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 err="1">
                <a:solidFill>
                  <a:srgbClr val="161616"/>
                </a:solidFill>
                <a:latin typeface="MyriadPro-Regular"/>
              </a:rPr>
              <a:t>Flying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> </a:t>
            </a:r>
            <a:r>
              <a:rPr lang="ru-RU" dirty="0" err="1">
                <a:solidFill>
                  <a:srgbClr val="161616"/>
                </a:solidFill>
                <a:latin typeface="MyriadPro-Regular"/>
              </a:rPr>
              <a:t>Circus</a:t>
            </a:r>
            <a:r>
              <a:rPr lang="ru-RU" dirty="0">
                <a:solidFill>
                  <a:srgbClr val="161616"/>
                </a:solidFill>
                <a:latin typeface="MyriadPro-Regular"/>
              </a:rPr>
              <a:t>) — вы можете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>
                <a:solidFill>
                  <a:srgbClr val="161616"/>
                </a:solidFill>
                <a:latin typeface="MyriadPro-Regular"/>
              </a:rPr>
              <a:t>найти упоминание об этом</a:t>
            </a:r>
            <a:br>
              <a:rPr lang="ru-RU" dirty="0">
                <a:solidFill>
                  <a:srgbClr val="161616"/>
                </a:solidFill>
                <a:latin typeface="MyriadPro-Regular"/>
              </a:rPr>
            </a:br>
            <a:r>
              <a:rPr lang="ru-RU" dirty="0">
                <a:solidFill>
                  <a:srgbClr val="161616"/>
                </a:solidFill>
                <a:latin typeface="MyriadPro-Regular"/>
              </a:rPr>
              <a:t>в документации по языку.</a:t>
            </a:r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2AC578-2052-4F25-952E-7A4B49FD3CB2}"/>
              </a:ext>
            </a:extLst>
          </p:cNvPr>
          <p:cNvSpPr txBox="1"/>
          <p:nvPr/>
        </p:nvSpPr>
        <p:spPr>
          <a:xfrm>
            <a:off x="1036320" y="1081741"/>
            <a:ext cx="2682240" cy="461665"/>
          </a:xfrm>
          <a:prstGeom prst="rect">
            <a:avLst/>
          </a:prstGeom>
          <a:noFill/>
        </p:spPr>
        <p:txBody>
          <a:bodyPr wrap="square" rtlCol="0">
            <a:prstTxWarp prst="textChevron">
              <a:avLst/>
            </a:prstTxWarp>
            <a:spAutoFit/>
          </a:bodyPr>
          <a:lstStyle/>
          <a:p>
            <a:r>
              <a:rPr lang="ru-RU" sz="2400" dirty="0">
                <a:ln w="0"/>
                <a:solidFill>
                  <a:schemeClr val="tx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На заметку</a:t>
            </a:r>
          </a:p>
        </p:txBody>
      </p:sp>
      <p:pic>
        <p:nvPicPr>
          <p:cNvPr id="1028" name="Picture 4" descr="Монти Пайтон: Летающий цирк (Monty Python's Flying Circus, 1969 ...">
            <a:extLst>
              <a:ext uri="{FF2B5EF4-FFF2-40B4-BE49-F238E27FC236}">
                <a16:creationId xmlns:a16="http://schemas.microsoft.com/office/drawing/2014/main" id="{4C8568F8-0691-450F-A3D0-E98969D13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390" y="1169997"/>
            <a:ext cx="6279933" cy="471373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Летающий цирк Монти Пайтона Сезон 2 - все серии онлайн">
            <a:extLst>
              <a:ext uri="{FF2B5EF4-FFF2-40B4-BE49-F238E27FC236}">
                <a16:creationId xmlns:a16="http://schemas.microsoft.com/office/drawing/2014/main" id="{EA9F4903-541B-411B-A0AF-F32F45133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02" y="4340680"/>
            <a:ext cx="2962275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32" y="114873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12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381E408-F8A4-497B-A14C-7719ED3FA814}"/>
              </a:ext>
            </a:extLst>
          </p:cNvPr>
          <p:cNvSpPr/>
          <p:nvPr/>
        </p:nvSpPr>
        <p:spPr>
          <a:xfrm>
            <a:off x="264160" y="137442"/>
            <a:ext cx="9966960" cy="5930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бесплатен — это свободно распространяемое программное обеспечение с открытым исходным кодом.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легок в изучении — он имеет простой синтаксис.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легок в обслуживании — имеет модульную структуру.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располагает богатым «арсеналом» — он предлагает большую стандартную библиотеку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портируемый — его можно запустить на обширном множестве различных платформ, и везде он будет иметь один и тот же интерфейс.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интерпретируемый — компиляция не требуется.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универсален — поддерживает как процедурный, так и </a:t>
            </a:r>
            <a:r>
              <a:rPr lang="ru-RU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объектно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ориентированный методы программирования.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ru-RU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гибок в использовании — с его помощью можно создавать консольные программы, приложения графического интерфейса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332" y="114873"/>
            <a:ext cx="1828207" cy="72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3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167</Words>
  <Application>Microsoft Office PowerPoint</Application>
  <PresentationFormat>Широкоэкранный</PresentationFormat>
  <Paragraphs>19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4" baseType="lpstr">
      <vt:lpstr>Arial</vt:lpstr>
      <vt:lpstr>Arial</vt:lpstr>
      <vt:lpstr>Calibri</vt:lpstr>
      <vt:lpstr>Calibri Light</vt:lpstr>
      <vt:lpstr>Golos Text</vt:lpstr>
      <vt:lpstr>MinionPro-Regular</vt:lpstr>
      <vt:lpstr>Myriad Pro Cond</vt:lpstr>
      <vt:lpstr>MyriadPro-Regular</vt:lpstr>
      <vt:lpstr>Times New Roman</vt:lpstr>
      <vt:lpstr>Тема Office</vt:lpstr>
      <vt:lpstr>Знакомимся с Python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и информационные процессы</dc:title>
  <dc:creator>Dmitriy</dc:creator>
  <cp:lastModifiedBy>Dmitriy</cp:lastModifiedBy>
  <cp:revision>8</cp:revision>
  <dcterms:created xsi:type="dcterms:W3CDTF">2025-09-04T18:56:29Z</dcterms:created>
  <dcterms:modified xsi:type="dcterms:W3CDTF">2025-09-12T19:42:42Z</dcterms:modified>
</cp:coreProperties>
</file>