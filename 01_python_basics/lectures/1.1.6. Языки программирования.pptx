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17B"/>
    <a:srgbClr val="036A90"/>
    <a:srgbClr val="060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17" autoAdjust="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D8F57C-14C5-431F-BB0C-F53CA57E613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E5B4EC1-F2C8-4CDA-95FA-7E59DFDC2E56}">
      <dgm:prSet phldrT="[Текст]"/>
      <dgm:spPr/>
      <dgm:t>
        <a:bodyPr/>
        <a:lstStyle/>
        <a:p>
          <a:r>
            <a:rPr lang="ru-RU" dirty="0" smtClean="0"/>
            <a:t>Языки программирования</a:t>
          </a:r>
          <a:endParaRPr lang="ru-RU" dirty="0"/>
        </a:p>
      </dgm:t>
    </dgm:pt>
    <dgm:pt modelId="{E4FCAE79-8F75-4B52-9133-4AB894D8C2B5}" type="parTrans" cxnId="{DC06ECDA-052B-43DB-B760-9A3728FD049A}">
      <dgm:prSet/>
      <dgm:spPr/>
      <dgm:t>
        <a:bodyPr/>
        <a:lstStyle/>
        <a:p>
          <a:endParaRPr lang="ru-RU"/>
        </a:p>
      </dgm:t>
    </dgm:pt>
    <dgm:pt modelId="{1AA74C2D-80AF-4746-B3A9-DF70979B3961}" type="sibTrans" cxnId="{DC06ECDA-052B-43DB-B760-9A3728FD049A}">
      <dgm:prSet/>
      <dgm:spPr/>
      <dgm:t>
        <a:bodyPr/>
        <a:lstStyle/>
        <a:p>
          <a:endParaRPr lang="ru-RU"/>
        </a:p>
      </dgm:t>
    </dgm:pt>
    <dgm:pt modelId="{019F4E51-655E-4101-B97C-CD30E4494385}">
      <dgm:prSet phldrT="[Текст]"/>
      <dgm:spPr/>
      <dgm:t>
        <a:bodyPr/>
        <a:lstStyle/>
        <a:p>
          <a:r>
            <a:rPr lang="ru-RU" b="1" dirty="0" smtClean="0"/>
            <a:t>Компиляция</a:t>
          </a:r>
          <a:endParaRPr lang="ru-RU" dirty="0"/>
        </a:p>
      </dgm:t>
    </dgm:pt>
    <dgm:pt modelId="{1C75043C-019C-4E85-B51C-CAC1407E7AEF}" type="parTrans" cxnId="{FFA2542A-B23C-4846-9DFC-7921AD77B249}">
      <dgm:prSet/>
      <dgm:spPr/>
      <dgm:t>
        <a:bodyPr/>
        <a:lstStyle/>
        <a:p>
          <a:endParaRPr lang="ru-RU"/>
        </a:p>
      </dgm:t>
    </dgm:pt>
    <dgm:pt modelId="{A5C16521-079E-4BAD-9DD8-2C563184B0B9}" type="sibTrans" cxnId="{FFA2542A-B23C-4846-9DFC-7921AD77B249}">
      <dgm:prSet/>
      <dgm:spPr/>
      <dgm:t>
        <a:bodyPr/>
        <a:lstStyle/>
        <a:p>
          <a:endParaRPr lang="ru-RU"/>
        </a:p>
      </dgm:t>
    </dgm:pt>
    <dgm:pt modelId="{BEFCA7AC-00A3-4141-906C-DE2D5EE45025}">
      <dgm:prSet phldrT="[Текст]"/>
      <dgm:spPr/>
      <dgm:t>
        <a:bodyPr/>
        <a:lstStyle/>
        <a:p>
          <a:r>
            <a:rPr lang="ru-RU" b="1" dirty="0" smtClean="0"/>
            <a:t>Интерпретация</a:t>
          </a:r>
          <a:endParaRPr lang="ru-RU" dirty="0"/>
        </a:p>
      </dgm:t>
    </dgm:pt>
    <dgm:pt modelId="{E24C223E-8963-41FF-A4D4-6C38AB417B99}" type="parTrans" cxnId="{4FB0BF44-5AAA-4A7F-A289-82C2C445742F}">
      <dgm:prSet/>
      <dgm:spPr/>
      <dgm:t>
        <a:bodyPr/>
        <a:lstStyle/>
        <a:p>
          <a:endParaRPr lang="ru-RU"/>
        </a:p>
      </dgm:t>
    </dgm:pt>
    <dgm:pt modelId="{F56F139B-D512-46A0-BCF0-FF0F5812FDC3}" type="sibTrans" cxnId="{4FB0BF44-5AAA-4A7F-A289-82C2C445742F}">
      <dgm:prSet/>
      <dgm:spPr/>
      <dgm:t>
        <a:bodyPr/>
        <a:lstStyle/>
        <a:p>
          <a:endParaRPr lang="ru-RU"/>
        </a:p>
      </dgm:t>
    </dgm:pt>
    <dgm:pt modelId="{D6873957-042E-489C-88A9-78FCA434E10D}" type="pres">
      <dgm:prSet presAssocID="{1CD8F57C-14C5-431F-BB0C-F53CA57E61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805EA5CF-43A2-4C3A-96C6-4CE2091D64A9}" type="pres">
      <dgm:prSet presAssocID="{BE5B4EC1-F2C8-4CDA-95FA-7E59DFDC2E56}" presName="hierRoot1" presStyleCnt="0">
        <dgm:presLayoutVars>
          <dgm:hierBranch val="init"/>
        </dgm:presLayoutVars>
      </dgm:prSet>
      <dgm:spPr/>
    </dgm:pt>
    <dgm:pt modelId="{1E48F295-4998-4C66-B15D-716649FC629B}" type="pres">
      <dgm:prSet presAssocID="{BE5B4EC1-F2C8-4CDA-95FA-7E59DFDC2E56}" presName="rootComposite1" presStyleCnt="0"/>
      <dgm:spPr/>
    </dgm:pt>
    <dgm:pt modelId="{9F0A5E2A-7A83-4327-A0D3-AF677CAAF968}" type="pres">
      <dgm:prSet presAssocID="{BE5B4EC1-F2C8-4CDA-95FA-7E59DFDC2E56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23A0FA8-0FB8-47F5-844E-A388C11C159E}" type="pres">
      <dgm:prSet presAssocID="{BE5B4EC1-F2C8-4CDA-95FA-7E59DFDC2E56}" presName="rootConnector1" presStyleLbl="node1" presStyleIdx="0" presStyleCnt="0"/>
      <dgm:spPr/>
      <dgm:t>
        <a:bodyPr/>
        <a:lstStyle/>
        <a:p>
          <a:endParaRPr lang="ru-RU"/>
        </a:p>
      </dgm:t>
    </dgm:pt>
    <dgm:pt modelId="{EAE7B2F1-5E6B-4663-9E2B-A4863C65CBCB}" type="pres">
      <dgm:prSet presAssocID="{BE5B4EC1-F2C8-4CDA-95FA-7E59DFDC2E56}" presName="hierChild2" presStyleCnt="0"/>
      <dgm:spPr/>
    </dgm:pt>
    <dgm:pt modelId="{4C7F0B8F-AD00-4070-A8E0-26EBB4694E6A}" type="pres">
      <dgm:prSet presAssocID="{1C75043C-019C-4E85-B51C-CAC1407E7AEF}" presName="Name37" presStyleLbl="parChTrans1D2" presStyleIdx="0" presStyleCnt="2"/>
      <dgm:spPr/>
      <dgm:t>
        <a:bodyPr/>
        <a:lstStyle/>
        <a:p>
          <a:endParaRPr lang="ru-RU"/>
        </a:p>
      </dgm:t>
    </dgm:pt>
    <dgm:pt modelId="{19AFE788-FDF9-406C-A8C1-B1A7280D5CC3}" type="pres">
      <dgm:prSet presAssocID="{019F4E51-655E-4101-B97C-CD30E4494385}" presName="hierRoot2" presStyleCnt="0">
        <dgm:presLayoutVars>
          <dgm:hierBranch val="init"/>
        </dgm:presLayoutVars>
      </dgm:prSet>
      <dgm:spPr/>
    </dgm:pt>
    <dgm:pt modelId="{CFABD35E-EB3A-48B9-9F5A-F5CC44BA6B41}" type="pres">
      <dgm:prSet presAssocID="{019F4E51-655E-4101-B97C-CD30E4494385}" presName="rootComposite" presStyleCnt="0"/>
      <dgm:spPr/>
    </dgm:pt>
    <dgm:pt modelId="{842EF92E-5B0B-4928-90EF-18D13A703D42}" type="pres">
      <dgm:prSet presAssocID="{019F4E51-655E-4101-B97C-CD30E4494385}" presName="rootText" presStyleLbl="node2" presStyleIdx="0" presStyleCnt="2" custLinFactNeighborX="-1066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A40FD3B-E8E7-458A-93D1-C0CB23B7A520}" type="pres">
      <dgm:prSet presAssocID="{019F4E51-655E-4101-B97C-CD30E4494385}" presName="rootConnector" presStyleLbl="node2" presStyleIdx="0" presStyleCnt="2"/>
      <dgm:spPr/>
      <dgm:t>
        <a:bodyPr/>
        <a:lstStyle/>
        <a:p>
          <a:endParaRPr lang="ru-RU"/>
        </a:p>
      </dgm:t>
    </dgm:pt>
    <dgm:pt modelId="{FA163E95-6B94-4242-8275-6CAC5E50E7B5}" type="pres">
      <dgm:prSet presAssocID="{019F4E51-655E-4101-B97C-CD30E4494385}" presName="hierChild4" presStyleCnt="0"/>
      <dgm:spPr/>
    </dgm:pt>
    <dgm:pt modelId="{F8917F54-ABF9-4728-8F3E-9FBA8BB16903}" type="pres">
      <dgm:prSet presAssocID="{019F4E51-655E-4101-B97C-CD30E4494385}" presName="hierChild5" presStyleCnt="0"/>
      <dgm:spPr/>
    </dgm:pt>
    <dgm:pt modelId="{DA4FDF32-E9BD-4246-9E92-0CDCD6355AF2}" type="pres">
      <dgm:prSet presAssocID="{E24C223E-8963-41FF-A4D4-6C38AB417B99}" presName="Name37" presStyleLbl="parChTrans1D2" presStyleIdx="1" presStyleCnt="2"/>
      <dgm:spPr/>
      <dgm:t>
        <a:bodyPr/>
        <a:lstStyle/>
        <a:p>
          <a:endParaRPr lang="ru-RU"/>
        </a:p>
      </dgm:t>
    </dgm:pt>
    <dgm:pt modelId="{4104C8EF-3650-4F66-91AD-0AEEEA9E3A3D}" type="pres">
      <dgm:prSet presAssocID="{BEFCA7AC-00A3-4141-906C-DE2D5EE45025}" presName="hierRoot2" presStyleCnt="0">
        <dgm:presLayoutVars>
          <dgm:hierBranch val="init"/>
        </dgm:presLayoutVars>
      </dgm:prSet>
      <dgm:spPr/>
    </dgm:pt>
    <dgm:pt modelId="{B7787BE4-4C32-48EC-81A2-535182FF39E5}" type="pres">
      <dgm:prSet presAssocID="{BEFCA7AC-00A3-4141-906C-DE2D5EE45025}" presName="rootComposite" presStyleCnt="0"/>
      <dgm:spPr/>
    </dgm:pt>
    <dgm:pt modelId="{EA3FEF46-B981-4296-9A6A-10DAE2E98250}" type="pres">
      <dgm:prSet presAssocID="{BEFCA7AC-00A3-4141-906C-DE2D5EE45025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12B49AB-8CDB-4B02-9964-F2F2A771BD49}" type="pres">
      <dgm:prSet presAssocID="{BEFCA7AC-00A3-4141-906C-DE2D5EE45025}" presName="rootConnector" presStyleLbl="node2" presStyleIdx="1" presStyleCnt="2"/>
      <dgm:spPr/>
      <dgm:t>
        <a:bodyPr/>
        <a:lstStyle/>
        <a:p>
          <a:endParaRPr lang="ru-RU"/>
        </a:p>
      </dgm:t>
    </dgm:pt>
    <dgm:pt modelId="{11F85F5D-8103-4012-BD5E-A23A364A87E7}" type="pres">
      <dgm:prSet presAssocID="{BEFCA7AC-00A3-4141-906C-DE2D5EE45025}" presName="hierChild4" presStyleCnt="0"/>
      <dgm:spPr/>
    </dgm:pt>
    <dgm:pt modelId="{DC9A5EEC-A1F5-4D14-9243-8A60EE3B75F4}" type="pres">
      <dgm:prSet presAssocID="{BEFCA7AC-00A3-4141-906C-DE2D5EE45025}" presName="hierChild5" presStyleCnt="0"/>
      <dgm:spPr/>
    </dgm:pt>
    <dgm:pt modelId="{D7A5532B-81C0-44A4-802A-76C974B47B52}" type="pres">
      <dgm:prSet presAssocID="{BE5B4EC1-F2C8-4CDA-95FA-7E59DFDC2E56}" presName="hierChild3" presStyleCnt="0"/>
      <dgm:spPr/>
    </dgm:pt>
  </dgm:ptLst>
  <dgm:cxnLst>
    <dgm:cxn modelId="{2540616F-6B8C-43DB-B64F-C211505D0F9D}" type="presOf" srcId="{BEFCA7AC-00A3-4141-906C-DE2D5EE45025}" destId="{112B49AB-8CDB-4B02-9964-F2F2A771BD49}" srcOrd="1" destOrd="0" presId="urn:microsoft.com/office/officeart/2005/8/layout/orgChart1"/>
    <dgm:cxn modelId="{75347545-82C0-44E0-9CE1-346F75DE501A}" type="presOf" srcId="{1CD8F57C-14C5-431F-BB0C-F53CA57E613E}" destId="{D6873957-042E-489C-88A9-78FCA434E10D}" srcOrd="0" destOrd="0" presId="urn:microsoft.com/office/officeart/2005/8/layout/orgChart1"/>
    <dgm:cxn modelId="{E9160B02-C04E-47FC-893B-880C5454332B}" type="presOf" srcId="{019F4E51-655E-4101-B97C-CD30E4494385}" destId="{1A40FD3B-E8E7-458A-93D1-C0CB23B7A520}" srcOrd="1" destOrd="0" presId="urn:microsoft.com/office/officeart/2005/8/layout/orgChart1"/>
    <dgm:cxn modelId="{C324A8AD-7DFB-45B7-9509-033B157070C7}" type="presOf" srcId="{E24C223E-8963-41FF-A4D4-6C38AB417B99}" destId="{DA4FDF32-E9BD-4246-9E92-0CDCD6355AF2}" srcOrd="0" destOrd="0" presId="urn:microsoft.com/office/officeart/2005/8/layout/orgChart1"/>
    <dgm:cxn modelId="{4FB0BF44-5AAA-4A7F-A289-82C2C445742F}" srcId="{BE5B4EC1-F2C8-4CDA-95FA-7E59DFDC2E56}" destId="{BEFCA7AC-00A3-4141-906C-DE2D5EE45025}" srcOrd="1" destOrd="0" parTransId="{E24C223E-8963-41FF-A4D4-6C38AB417B99}" sibTransId="{F56F139B-D512-46A0-BCF0-FF0F5812FDC3}"/>
    <dgm:cxn modelId="{6786A4A5-BBE9-4CB4-8C71-584F5D6DAAFD}" type="presOf" srcId="{019F4E51-655E-4101-B97C-CD30E4494385}" destId="{842EF92E-5B0B-4928-90EF-18D13A703D42}" srcOrd="0" destOrd="0" presId="urn:microsoft.com/office/officeart/2005/8/layout/orgChart1"/>
    <dgm:cxn modelId="{85ABDA46-CAF3-4AA2-9AB4-F133D92AD9DE}" type="presOf" srcId="{BE5B4EC1-F2C8-4CDA-95FA-7E59DFDC2E56}" destId="{323A0FA8-0FB8-47F5-844E-A388C11C159E}" srcOrd="1" destOrd="0" presId="urn:microsoft.com/office/officeart/2005/8/layout/orgChart1"/>
    <dgm:cxn modelId="{FFA2542A-B23C-4846-9DFC-7921AD77B249}" srcId="{BE5B4EC1-F2C8-4CDA-95FA-7E59DFDC2E56}" destId="{019F4E51-655E-4101-B97C-CD30E4494385}" srcOrd="0" destOrd="0" parTransId="{1C75043C-019C-4E85-B51C-CAC1407E7AEF}" sibTransId="{A5C16521-079E-4BAD-9DD8-2C563184B0B9}"/>
    <dgm:cxn modelId="{DC06ECDA-052B-43DB-B760-9A3728FD049A}" srcId="{1CD8F57C-14C5-431F-BB0C-F53CA57E613E}" destId="{BE5B4EC1-F2C8-4CDA-95FA-7E59DFDC2E56}" srcOrd="0" destOrd="0" parTransId="{E4FCAE79-8F75-4B52-9133-4AB894D8C2B5}" sibTransId="{1AA74C2D-80AF-4746-B3A9-DF70979B3961}"/>
    <dgm:cxn modelId="{13F3790D-DAB2-4D9E-AE6A-070D1C55272F}" type="presOf" srcId="{BE5B4EC1-F2C8-4CDA-95FA-7E59DFDC2E56}" destId="{9F0A5E2A-7A83-4327-A0D3-AF677CAAF968}" srcOrd="0" destOrd="0" presId="urn:microsoft.com/office/officeart/2005/8/layout/orgChart1"/>
    <dgm:cxn modelId="{32FC3459-3664-49D6-B37E-8FE2DFD586C6}" type="presOf" srcId="{BEFCA7AC-00A3-4141-906C-DE2D5EE45025}" destId="{EA3FEF46-B981-4296-9A6A-10DAE2E98250}" srcOrd="0" destOrd="0" presId="urn:microsoft.com/office/officeart/2005/8/layout/orgChart1"/>
    <dgm:cxn modelId="{9F23555F-A30A-414A-A55D-8F155E32FA94}" type="presOf" srcId="{1C75043C-019C-4E85-B51C-CAC1407E7AEF}" destId="{4C7F0B8F-AD00-4070-A8E0-26EBB4694E6A}" srcOrd="0" destOrd="0" presId="urn:microsoft.com/office/officeart/2005/8/layout/orgChart1"/>
    <dgm:cxn modelId="{7EBAAD0D-1D38-4B5C-9599-DE490C530091}" type="presParOf" srcId="{D6873957-042E-489C-88A9-78FCA434E10D}" destId="{805EA5CF-43A2-4C3A-96C6-4CE2091D64A9}" srcOrd="0" destOrd="0" presId="urn:microsoft.com/office/officeart/2005/8/layout/orgChart1"/>
    <dgm:cxn modelId="{F1FFF525-A6C4-4B2D-8373-3E58E3CAB283}" type="presParOf" srcId="{805EA5CF-43A2-4C3A-96C6-4CE2091D64A9}" destId="{1E48F295-4998-4C66-B15D-716649FC629B}" srcOrd="0" destOrd="0" presId="urn:microsoft.com/office/officeart/2005/8/layout/orgChart1"/>
    <dgm:cxn modelId="{CFC5D0FD-70F9-459D-9D7D-713D843D3E43}" type="presParOf" srcId="{1E48F295-4998-4C66-B15D-716649FC629B}" destId="{9F0A5E2A-7A83-4327-A0D3-AF677CAAF968}" srcOrd="0" destOrd="0" presId="urn:microsoft.com/office/officeart/2005/8/layout/orgChart1"/>
    <dgm:cxn modelId="{141E1EF5-0928-4831-B9F6-1F40FB7218B8}" type="presParOf" srcId="{1E48F295-4998-4C66-B15D-716649FC629B}" destId="{323A0FA8-0FB8-47F5-844E-A388C11C159E}" srcOrd="1" destOrd="0" presId="urn:microsoft.com/office/officeart/2005/8/layout/orgChart1"/>
    <dgm:cxn modelId="{87C9AE6D-FACE-42A5-89E7-249C90299616}" type="presParOf" srcId="{805EA5CF-43A2-4C3A-96C6-4CE2091D64A9}" destId="{EAE7B2F1-5E6B-4663-9E2B-A4863C65CBCB}" srcOrd="1" destOrd="0" presId="urn:microsoft.com/office/officeart/2005/8/layout/orgChart1"/>
    <dgm:cxn modelId="{E2BFCBBC-8B26-4C54-A1CB-EC10BA9F6527}" type="presParOf" srcId="{EAE7B2F1-5E6B-4663-9E2B-A4863C65CBCB}" destId="{4C7F0B8F-AD00-4070-A8E0-26EBB4694E6A}" srcOrd="0" destOrd="0" presId="urn:microsoft.com/office/officeart/2005/8/layout/orgChart1"/>
    <dgm:cxn modelId="{87F8FC29-819E-49C7-B674-A4519F708C58}" type="presParOf" srcId="{EAE7B2F1-5E6B-4663-9E2B-A4863C65CBCB}" destId="{19AFE788-FDF9-406C-A8C1-B1A7280D5CC3}" srcOrd="1" destOrd="0" presId="urn:microsoft.com/office/officeart/2005/8/layout/orgChart1"/>
    <dgm:cxn modelId="{F880A52F-40EB-4488-9226-A50CD0C153B3}" type="presParOf" srcId="{19AFE788-FDF9-406C-A8C1-B1A7280D5CC3}" destId="{CFABD35E-EB3A-48B9-9F5A-F5CC44BA6B41}" srcOrd="0" destOrd="0" presId="urn:microsoft.com/office/officeart/2005/8/layout/orgChart1"/>
    <dgm:cxn modelId="{D57E9BA0-1E22-464E-B044-F8221C3DA446}" type="presParOf" srcId="{CFABD35E-EB3A-48B9-9F5A-F5CC44BA6B41}" destId="{842EF92E-5B0B-4928-90EF-18D13A703D42}" srcOrd="0" destOrd="0" presId="urn:microsoft.com/office/officeart/2005/8/layout/orgChart1"/>
    <dgm:cxn modelId="{698DEDB7-CFEA-478B-B587-6731C499FC81}" type="presParOf" srcId="{CFABD35E-EB3A-48B9-9F5A-F5CC44BA6B41}" destId="{1A40FD3B-E8E7-458A-93D1-C0CB23B7A520}" srcOrd="1" destOrd="0" presId="urn:microsoft.com/office/officeart/2005/8/layout/orgChart1"/>
    <dgm:cxn modelId="{EF666BF6-DAB3-470F-B1F7-BE30457FFA71}" type="presParOf" srcId="{19AFE788-FDF9-406C-A8C1-B1A7280D5CC3}" destId="{FA163E95-6B94-4242-8275-6CAC5E50E7B5}" srcOrd="1" destOrd="0" presId="urn:microsoft.com/office/officeart/2005/8/layout/orgChart1"/>
    <dgm:cxn modelId="{4CA0A6C8-9F82-45A0-9A7E-3B8A0C87AC2E}" type="presParOf" srcId="{19AFE788-FDF9-406C-A8C1-B1A7280D5CC3}" destId="{F8917F54-ABF9-4728-8F3E-9FBA8BB16903}" srcOrd="2" destOrd="0" presId="urn:microsoft.com/office/officeart/2005/8/layout/orgChart1"/>
    <dgm:cxn modelId="{DACC20F1-1490-4225-97E4-E739935508DE}" type="presParOf" srcId="{EAE7B2F1-5E6B-4663-9E2B-A4863C65CBCB}" destId="{DA4FDF32-E9BD-4246-9E92-0CDCD6355AF2}" srcOrd="2" destOrd="0" presId="urn:microsoft.com/office/officeart/2005/8/layout/orgChart1"/>
    <dgm:cxn modelId="{F8855A34-08DB-4103-B444-7D30000CA97F}" type="presParOf" srcId="{EAE7B2F1-5E6B-4663-9E2B-A4863C65CBCB}" destId="{4104C8EF-3650-4F66-91AD-0AEEEA9E3A3D}" srcOrd="3" destOrd="0" presId="urn:microsoft.com/office/officeart/2005/8/layout/orgChart1"/>
    <dgm:cxn modelId="{82AC3884-94BE-4CC6-B03E-11D61FB751A0}" type="presParOf" srcId="{4104C8EF-3650-4F66-91AD-0AEEEA9E3A3D}" destId="{B7787BE4-4C32-48EC-81A2-535182FF39E5}" srcOrd="0" destOrd="0" presId="urn:microsoft.com/office/officeart/2005/8/layout/orgChart1"/>
    <dgm:cxn modelId="{D8ECB186-4DBA-4416-8852-B8134B2F0A7F}" type="presParOf" srcId="{B7787BE4-4C32-48EC-81A2-535182FF39E5}" destId="{EA3FEF46-B981-4296-9A6A-10DAE2E98250}" srcOrd="0" destOrd="0" presId="urn:microsoft.com/office/officeart/2005/8/layout/orgChart1"/>
    <dgm:cxn modelId="{83F3777D-1FA8-4554-BE0C-C0DFB103D2BF}" type="presParOf" srcId="{B7787BE4-4C32-48EC-81A2-535182FF39E5}" destId="{112B49AB-8CDB-4B02-9964-F2F2A771BD49}" srcOrd="1" destOrd="0" presId="urn:microsoft.com/office/officeart/2005/8/layout/orgChart1"/>
    <dgm:cxn modelId="{513AD702-E8E9-43AC-97F4-99055D693E01}" type="presParOf" srcId="{4104C8EF-3650-4F66-91AD-0AEEEA9E3A3D}" destId="{11F85F5D-8103-4012-BD5E-A23A364A87E7}" srcOrd="1" destOrd="0" presId="urn:microsoft.com/office/officeart/2005/8/layout/orgChart1"/>
    <dgm:cxn modelId="{DD1CA6CB-1A4D-4495-80D8-1C6DB135DD95}" type="presParOf" srcId="{4104C8EF-3650-4F66-91AD-0AEEEA9E3A3D}" destId="{DC9A5EEC-A1F5-4D14-9243-8A60EE3B75F4}" srcOrd="2" destOrd="0" presId="urn:microsoft.com/office/officeart/2005/8/layout/orgChart1"/>
    <dgm:cxn modelId="{244C8E5F-7F90-46F5-A219-CF7D294646EF}" type="presParOf" srcId="{805EA5CF-43A2-4C3A-96C6-4CE2091D64A9}" destId="{D7A5532B-81C0-44A4-802A-76C974B47B5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4FDF32-E9BD-4246-9E92-0CDCD6355AF2}">
      <dsp:nvSpPr>
        <dsp:cNvPr id="0" name=""/>
        <dsp:cNvSpPr/>
      </dsp:nvSpPr>
      <dsp:spPr>
        <a:xfrm>
          <a:off x="2626773" y="1600373"/>
          <a:ext cx="1437494" cy="4989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482"/>
              </a:lnTo>
              <a:lnTo>
                <a:pt x="1437494" y="249482"/>
              </a:lnTo>
              <a:lnTo>
                <a:pt x="1437494" y="4989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7F0B8F-AD00-4070-A8E0-26EBB4694E6A}">
      <dsp:nvSpPr>
        <dsp:cNvPr id="0" name=""/>
        <dsp:cNvSpPr/>
      </dsp:nvSpPr>
      <dsp:spPr>
        <a:xfrm>
          <a:off x="1188012" y="1600373"/>
          <a:ext cx="1438761" cy="498965"/>
        </a:xfrm>
        <a:custGeom>
          <a:avLst/>
          <a:gdLst/>
          <a:ahLst/>
          <a:cxnLst/>
          <a:rect l="0" t="0" r="0" b="0"/>
          <a:pathLst>
            <a:path>
              <a:moveTo>
                <a:pt x="1438761" y="0"/>
              </a:moveTo>
              <a:lnTo>
                <a:pt x="1438761" y="249482"/>
              </a:lnTo>
              <a:lnTo>
                <a:pt x="0" y="249482"/>
              </a:lnTo>
              <a:lnTo>
                <a:pt x="0" y="4989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0A5E2A-7A83-4327-A0D3-AF677CAAF968}">
      <dsp:nvSpPr>
        <dsp:cNvPr id="0" name=""/>
        <dsp:cNvSpPr/>
      </dsp:nvSpPr>
      <dsp:spPr>
        <a:xfrm>
          <a:off x="1438761" y="412361"/>
          <a:ext cx="2376024" cy="1188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Языки программирования</a:t>
          </a:r>
          <a:endParaRPr lang="ru-RU" sz="2200" kern="1200" dirty="0"/>
        </a:p>
      </dsp:txBody>
      <dsp:txXfrm>
        <a:off x="1438761" y="412361"/>
        <a:ext cx="2376024" cy="1188012"/>
      </dsp:txXfrm>
    </dsp:sp>
    <dsp:sp modelId="{842EF92E-5B0B-4928-90EF-18D13A703D42}">
      <dsp:nvSpPr>
        <dsp:cNvPr id="0" name=""/>
        <dsp:cNvSpPr/>
      </dsp:nvSpPr>
      <dsp:spPr>
        <a:xfrm>
          <a:off x="0" y="2099339"/>
          <a:ext cx="2376024" cy="1188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1" kern="1200" dirty="0" smtClean="0"/>
            <a:t>Компиляция</a:t>
          </a:r>
          <a:endParaRPr lang="ru-RU" sz="2200" kern="1200" dirty="0"/>
        </a:p>
      </dsp:txBody>
      <dsp:txXfrm>
        <a:off x="0" y="2099339"/>
        <a:ext cx="2376024" cy="1188012"/>
      </dsp:txXfrm>
    </dsp:sp>
    <dsp:sp modelId="{EA3FEF46-B981-4296-9A6A-10DAE2E98250}">
      <dsp:nvSpPr>
        <dsp:cNvPr id="0" name=""/>
        <dsp:cNvSpPr/>
      </dsp:nvSpPr>
      <dsp:spPr>
        <a:xfrm>
          <a:off x="2876256" y="2099339"/>
          <a:ext cx="2376024" cy="1188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1" kern="1200" dirty="0" smtClean="0"/>
            <a:t>Интерпретация</a:t>
          </a:r>
          <a:endParaRPr lang="ru-RU" sz="2200" kern="1200" dirty="0"/>
        </a:p>
      </dsp:txBody>
      <dsp:txXfrm>
        <a:off x="2876256" y="2099339"/>
        <a:ext cx="2376024" cy="1188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FFEA8-ACCC-4CA9-B797-F0426E0EA8ED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1D387-7EC7-402F-9543-B97E105A5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02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91D387-7EC7-402F-9543-B97E105A5F5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14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06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55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64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983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46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026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80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09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20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59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09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33939" y="1678954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Два слова о программировании</a:t>
            </a:r>
            <a:endParaRPr lang="ru-RU" b="1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33939" y="4158629"/>
            <a:ext cx="9144000" cy="1655762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Ну, ладно, не два - немного больше, </a:t>
            </a:r>
          </a:p>
          <a:p>
            <a:r>
              <a:rPr lang="ru-RU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зато они полезные</a:t>
            </a:r>
            <a:endParaRPr lang="ru-RU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529" y="241405"/>
            <a:ext cx="2684820" cy="9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1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6728" y="641597"/>
            <a:ext cx="7347737" cy="1325563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solidFill>
                  <a:srgbClr val="2A017B"/>
                </a:solidFill>
              </a:rPr>
              <a:t>Что </a:t>
            </a:r>
            <a:r>
              <a:rPr lang="ru-RU" sz="4800" b="1" dirty="0">
                <a:solidFill>
                  <a:srgbClr val="2A017B"/>
                </a:solidFill>
              </a:rPr>
              <a:t>такое язык программирования?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06" r="16643"/>
          <a:stretch/>
        </p:blipFill>
        <p:spPr>
          <a:xfrm>
            <a:off x="1166949" y="2033898"/>
            <a:ext cx="4593086" cy="38705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7670" y="2091784"/>
            <a:ext cx="58617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Язык программирования  </a:t>
            </a:r>
            <a:r>
              <a:rPr lang="ru-RU" sz="2000" dirty="0" smtClean="0"/>
              <a:t>- формальная знаковая система, используемая для связи человека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>с процессором. </a:t>
            </a:r>
            <a:endParaRPr lang="en-US" sz="2000" dirty="0" smtClean="0"/>
          </a:p>
          <a:p>
            <a:endParaRPr lang="en-US" sz="2000" dirty="0"/>
          </a:p>
          <a:p>
            <a:r>
              <a:rPr lang="ru-RU" sz="2000" dirty="0"/>
              <a:t>Язык программирования определяет набор лексических, синтаксических и семантических правил.</a:t>
            </a:r>
          </a:p>
          <a:p>
            <a:endParaRPr lang="ru-RU" sz="20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35" y="4460944"/>
            <a:ext cx="3063141" cy="16056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5806" y="4460944"/>
            <a:ext cx="2714269" cy="10778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6"/>
          <a:srcRect t="1073" r="8706" b="1"/>
          <a:stretch/>
        </p:blipFill>
        <p:spPr>
          <a:xfrm>
            <a:off x="8975806" y="5577195"/>
            <a:ext cx="2714269" cy="49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3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0862" y="366531"/>
            <a:ext cx="6635398" cy="1325563"/>
          </a:xfrm>
        </p:spPr>
        <p:txBody>
          <a:bodyPr>
            <a:noAutofit/>
          </a:bodyPr>
          <a:lstStyle/>
          <a:p>
            <a:r>
              <a:rPr lang="ru-RU" b="1" dirty="0" smtClean="0">
                <a:solidFill>
                  <a:srgbClr val="2A017B"/>
                </a:solidFill>
              </a:rPr>
              <a:t>Два </a:t>
            </a:r>
            <a:r>
              <a:rPr lang="ru-RU" b="1" dirty="0">
                <a:solidFill>
                  <a:srgbClr val="2A017B"/>
                </a:solidFill>
              </a:rPr>
              <a:t>основных способа выполнения кода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655877293"/>
              </p:ext>
            </p:extLst>
          </p:nvPr>
        </p:nvGraphicFramePr>
        <p:xfrm>
          <a:off x="938247" y="1663755"/>
          <a:ext cx="5253547" cy="3699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10817" y="1916083"/>
            <a:ext cx="5351419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Компилируемые языки (например, C, C++, </a:t>
            </a:r>
            <a:r>
              <a:rPr lang="ru-RU" sz="1600" dirty="0" err="1">
                <a:latin typeface="Golos Text" panose="020B0503020202020204" pitchFamily="34" charset="0"/>
                <a:ea typeface="Golos Text" panose="020B0503020202020204" pitchFamily="34" charset="0"/>
              </a:rPr>
              <a:t>Go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, </a:t>
            </a:r>
            <a:r>
              <a:rPr lang="ru-RU" sz="1600" dirty="0" err="1">
                <a:latin typeface="Golos Text" panose="020B0503020202020204" pitchFamily="34" charset="0"/>
                <a:ea typeface="Golos Text" panose="020B0503020202020204" pitchFamily="34" charset="0"/>
              </a:rPr>
              <a:t>Rust</a:t>
            </a:r>
            <a:r>
              <a:rPr lang="ru-RU" sz="16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), как перевод 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всей книги на другой язык перед </a:t>
            </a:r>
            <a:r>
              <a:rPr lang="ru-RU" sz="16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публикацией. </a:t>
            </a:r>
            <a:r>
              <a:rPr lang="ru-RU" sz="1600" b="1" dirty="0">
                <a:latin typeface="Golos Text" panose="020B0503020202020204" pitchFamily="34" charset="0"/>
                <a:ea typeface="Golos Text" panose="020B0503020202020204" pitchFamily="34" charset="0"/>
              </a:rPr>
              <a:t>Компилятор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  </a:t>
            </a:r>
            <a:r>
              <a:rPr lang="ru-RU" sz="1600" i="1" dirty="0">
                <a:latin typeface="Golos Text" panose="020B0503020202020204" pitchFamily="34" charset="0"/>
                <a:ea typeface="Golos Text" panose="020B0503020202020204" pitchFamily="34" charset="0"/>
              </a:rPr>
              <a:t>целиком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 читает код, проверяет его на ошибки и преобразует в машинный код — исполняемый </a:t>
            </a:r>
            <a:r>
              <a:rPr lang="ru-RU" sz="16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файл .</a:t>
            </a:r>
            <a:r>
              <a:rPr lang="en-US" sz="16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exe</a:t>
            </a:r>
            <a:endParaRPr lang="ru-RU" sz="1600" dirty="0" smtClean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 smtClean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16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Интерпретируемые 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языки (например, </a:t>
            </a:r>
            <a:r>
              <a:rPr lang="ru-RU" sz="1600" dirty="0" err="1">
                <a:latin typeface="Golos Text" panose="020B0503020202020204" pitchFamily="34" charset="0"/>
                <a:ea typeface="Golos Text" panose="020B0503020202020204" pitchFamily="34" charset="0"/>
              </a:rPr>
              <a:t>Python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, </a:t>
            </a:r>
            <a:r>
              <a:rPr lang="ru-RU" sz="1600" dirty="0" err="1">
                <a:latin typeface="Golos Text" panose="020B0503020202020204" pitchFamily="34" charset="0"/>
                <a:ea typeface="Golos Text" panose="020B0503020202020204" pitchFamily="34" charset="0"/>
              </a:rPr>
              <a:t>JavaScript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, PHP</a:t>
            </a:r>
            <a:r>
              <a:rPr lang="ru-RU" sz="16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), как синхронный 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переводчик, который переводит речь предложение за предложением</a:t>
            </a:r>
            <a:r>
              <a:rPr lang="ru-RU" sz="16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. </a:t>
            </a:r>
            <a:r>
              <a:rPr lang="ru-RU" sz="1600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Интерпретатор 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читает код </a:t>
            </a:r>
            <a:r>
              <a:rPr lang="ru-RU" sz="1600" i="1" dirty="0">
                <a:latin typeface="Golos Text" panose="020B0503020202020204" pitchFamily="34" charset="0"/>
                <a:ea typeface="Golos Text" panose="020B0503020202020204" pitchFamily="34" charset="0"/>
              </a:rPr>
              <a:t>построчно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, сразу выполняет его и выдает результат.</a:t>
            </a:r>
            <a:r>
              <a:rPr lang="ru-RU" b="1" dirty="0" smtClean="0"/>
              <a:t>	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48" y="5390605"/>
            <a:ext cx="763780" cy="54133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086" y="6247920"/>
            <a:ext cx="670542" cy="2386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8247" y="5472940"/>
            <a:ext cx="2601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Высокая скорость выполнения.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247" y="5997910"/>
            <a:ext cx="2797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Нужно компилировать под каждую </a:t>
            </a:r>
            <a:r>
              <a:rPr lang="ru-RU" sz="1400" dirty="0" smtClean="0"/>
              <a:t>ОС отдельно</a:t>
            </a:r>
            <a:r>
              <a:rPr lang="ru-RU" sz="1400" dirty="0"/>
              <a:t>.</a:t>
            </a:r>
            <a:endParaRPr lang="ru-RU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3766467" y="5472940"/>
            <a:ext cx="2601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Кроссплатформенность, проще писать.</a:t>
            </a:r>
            <a:endParaRPr lang="ru-RU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3775048" y="5996160"/>
            <a:ext cx="2797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Более </a:t>
            </a:r>
            <a:r>
              <a:rPr lang="ru-RU" sz="1400" dirty="0"/>
              <a:t>низкая скорость выполнения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28314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2227" y="436977"/>
            <a:ext cx="7526649" cy="1325563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rgbClr val="2A017B"/>
                </a:solidFill>
              </a:rPr>
              <a:t>Почему языков так много?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11" name="TextBox 10"/>
          <p:cNvSpPr txBox="1"/>
          <p:nvPr/>
        </p:nvSpPr>
        <p:spPr>
          <a:xfrm>
            <a:off x="7010019" y="3910172"/>
            <a:ext cx="41931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Java</a:t>
            </a:r>
            <a:r>
              <a:rPr lang="ru-RU" dirty="0"/>
              <a:t> </a:t>
            </a:r>
            <a:r>
              <a:rPr lang="ru-RU" dirty="0" smtClean="0"/>
              <a:t>для мобильных </a:t>
            </a:r>
            <a:r>
              <a:rPr lang="ru-RU" dirty="0"/>
              <a:t>приложений, веб-сервисов, корпоративных </a:t>
            </a:r>
            <a:r>
              <a:rPr lang="ru-RU" dirty="0" smtClean="0"/>
              <a:t>систем.</a:t>
            </a:r>
            <a:endParaRPr lang="ru-RU" b="1" dirty="0" smtClean="0"/>
          </a:p>
          <a:p>
            <a:r>
              <a:rPr lang="en-US" b="1" dirty="0" smtClean="0"/>
              <a:t>J</a:t>
            </a:r>
            <a:r>
              <a:rPr lang="ru-RU" b="1" dirty="0" err="1" smtClean="0"/>
              <a:t>avaScript</a:t>
            </a:r>
            <a:r>
              <a:rPr lang="ru-RU" dirty="0"/>
              <a:t> — для веб-страниц.</a:t>
            </a:r>
          </a:p>
          <a:p>
            <a:r>
              <a:rPr lang="ru-RU" b="1" dirty="0" err="1" smtClean="0"/>
              <a:t>Python</a:t>
            </a:r>
            <a:r>
              <a:rPr lang="ru-RU" dirty="0"/>
              <a:t> — для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science</a:t>
            </a:r>
            <a:r>
              <a:rPr lang="ru-RU" dirty="0"/>
              <a:t> и AI.</a:t>
            </a:r>
          </a:p>
          <a:p>
            <a:r>
              <a:rPr lang="ru-RU" b="1" dirty="0" err="1"/>
              <a:t>Swift</a:t>
            </a:r>
            <a:r>
              <a:rPr lang="ru-RU" b="1" dirty="0"/>
              <a:t>/</a:t>
            </a:r>
            <a:r>
              <a:rPr lang="ru-RU" b="1" dirty="0" err="1"/>
              <a:t>Kotlin</a:t>
            </a:r>
            <a:r>
              <a:rPr lang="ru-RU" dirty="0"/>
              <a:t> — для мобильных приложений.</a:t>
            </a:r>
          </a:p>
          <a:p>
            <a:r>
              <a:rPr lang="ru-RU" b="1" dirty="0"/>
              <a:t>C/C++</a:t>
            </a:r>
            <a:r>
              <a:rPr lang="ru-RU" dirty="0"/>
              <a:t> — для ОС, драйверов, игр (где важна скорость</a:t>
            </a:r>
            <a:r>
              <a:rPr lang="ru-RU" dirty="0" smtClean="0"/>
              <a:t>).</a:t>
            </a:r>
            <a:endParaRPr lang="en-US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4213" r="7832"/>
          <a:stretch/>
        </p:blipFill>
        <p:spPr>
          <a:xfrm>
            <a:off x="680332" y="2099464"/>
            <a:ext cx="5406431" cy="4119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83827" y="1971180"/>
            <a:ext cx="484556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/>
              <a:t>Разные </a:t>
            </a:r>
            <a:r>
              <a:rPr lang="ru-RU" sz="2000" dirty="0"/>
              <a:t>философии и </a:t>
            </a:r>
            <a:r>
              <a:rPr lang="ru-RU" sz="2000" dirty="0" smtClean="0"/>
              <a:t>парадигмы</a:t>
            </a:r>
            <a:r>
              <a:rPr lang="en-US" sz="20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Технологический </a:t>
            </a:r>
            <a:r>
              <a:rPr lang="ru-RU" sz="2000" dirty="0" smtClean="0"/>
              <a:t>прогресс</a:t>
            </a:r>
            <a:r>
              <a:rPr lang="en-US" sz="20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Экосистема и </a:t>
            </a:r>
            <a:r>
              <a:rPr lang="ru-RU" sz="2000" dirty="0" smtClean="0"/>
              <a:t>сообщество.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Разные </a:t>
            </a:r>
            <a:r>
              <a:rPr lang="ru-RU" sz="2000" dirty="0" smtClean="0"/>
              <a:t>цели: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95232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2227" y="436977"/>
            <a:ext cx="7526649" cy="1325563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rgbClr val="2A017B"/>
                </a:solidFill>
              </a:rPr>
              <a:t>Основные понятия языка программирования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7" name="TextBox 6"/>
          <p:cNvSpPr txBox="1"/>
          <p:nvPr/>
        </p:nvSpPr>
        <p:spPr>
          <a:xfrm>
            <a:off x="5409488" y="2090226"/>
            <a:ext cx="63570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 smtClean="0"/>
              <a:t>Имена</a:t>
            </a:r>
            <a:r>
              <a:rPr lang="ru-RU" dirty="0"/>
              <a:t> (идентификаторы) — </a:t>
            </a:r>
            <a:r>
              <a:rPr lang="ru-RU" b="1" dirty="0" smtClean="0"/>
              <a:t>употребляются </a:t>
            </a:r>
            <a:r>
              <a:rPr lang="ru-RU" b="1" dirty="0"/>
              <a:t>для обозначения объектов </a:t>
            </a:r>
            <a:r>
              <a:rPr lang="ru-RU" b="1" dirty="0" smtClean="0"/>
              <a:t>программы</a:t>
            </a:r>
            <a:r>
              <a:rPr lang="ru-RU" b="1" dirty="0"/>
              <a:t> </a:t>
            </a:r>
            <a:r>
              <a:rPr lang="ru-RU" dirty="0" smtClean="0"/>
              <a:t>(переменных, </a:t>
            </a:r>
            <a:r>
              <a:rPr lang="ru-RU" dirty="0"/>
              <a:t>массивов (списков) , функций и </a:t>
            </a:r>
            <a:r>
              <a:rPr lang="ru-RU" dirty="0" smtClean="0"/>
              <a:t>др.)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ru-RU" b="1" dirty="0" err="1"/>
              <a:t>Опеpации</a:t>
            </a:r>
            <a:r>
              <a:rPr lang="ru-RU" dirty="0"/>
              <a:t>. Типы операций: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 err="1"/>
              <a:t>аpифметические</a:t>
            </a:r>
            <a:r>
              <a:rPr lang="ru-RU" dirty="0"/>
              <a:t> </a:t>
            </a:r>
            <a:r>
              <a:rPr lang="ru-RU" dirty="0" err="1"/>
              <a:t>опеpации</a:t>
            </a:r>
            <a:r>
              <a:rPr lang="ru-RU" dirty="0"/>
              <a:t>   +   ,   —   ,   *   ,   /  , %, </a:t>
            </a:r>
            <a:r>
              <a:rPr lang="ru-RU" dirty="0" smtClean="0"/>
              <a:t>**;</a:t>
            </a:r>
            <a:r>
              <a:rPr lang="ru-RU" dirty="0"/>
              <a:t>  </a:t>
            </a:r>
            <a:endParaRPr lang="ru-RU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 smtClean="0"/>
              <a:t>логические</a:t>
            </a:r>
            <a:r>
              <a:rPr lang="ru-RU" dirty="0"/>
              <a:t> </a:t>
            </a:r>
            <a:r>
              <a:rPr lang="ru-RU" dirty="0" err="1"/>
              <a:t>опеpации</a:t>
            </a:r>
            <a:r>
              <a:rPr lang="ru-RU" dirty="0"/>
              <a:t>   </a:t>
            </a:r>
            <a:r>
              <a:rPr lang="ru-RU" b="1" dirty="0"/>
              <a:t>и,   или,   не </a:t>
            </a:r>
            <a:r>
              <a:rPr lang="ru-RU" dirty="0" smtClean="0"/>
              <a:t>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 smtClean="0"/>
              <a:t>опеpации</a:t>
            </a:r>
            <a:r>
              <a:rPr lang="ru-RU" dirty="0" smtClean="0"/>
              <a:t> </a:t>
            </a:r>
            <a:r>
              <a:rPr lang="ru-RU" b="1" dirty="0" smtClean="0"/>
              <a:t>отношения</a:t>
            </a:r>
            <a:r>
              <a:rPr lang="ru-RU" dirty="0" smtClean="0"/>
              <a:t>   &lt;,   &gt;,   &lt;=,   &gt;=,   ==,   !=;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 smtClean="0"/>
              <a:t>опеpация</a:t>
            </a:r>
            <a:r>
              <a:rPr lang="ru-RU" dirty="0"/>
              <a:t> </a:t>
            </a:r>
            <a:r>
              <a:rPr lang="ru-RU" b="1" dirty="0"/>
              <a:t>сцепки</a:t>
            </a:r>
            <a:r>
              <a:rPr lang="ru-RU" dirty="0"/>
              <a:t> (иначе,   "присоединения",   "конкатенации"  ) 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ru-RU" b="1" dirty="0"/>
              <a:t>Данные</a:t>
            </a:r>
            <a:r>
              <a:rPr lang="ru-RU" dirty="0"/>
              <a:t> — величины, об</a:t>
            </a:r>
            <a:r>
              <a:rPr lang="en-US" dirty="0"/>
              <a:t>p</a:t>
            </a:r>
            <a:r>
              <a:rPr lang="ru-RU" dirty="0" err="1"/>
              <a:t>абатываемые</a:t>
            </a:r>
            <a:r>
              <a:rPr lang="ru-RU" dirty="0"/>
              <a:t> п</a:t>
            </a:r>
            <a:r>
              <a:rPr lang="en-US" dirty="0"/>
              <a:t>p</a:t>
            </a:r>
            <a:r>
              <a:rPr lang="ru-RU" dirty="0" err="1"/>
              <a:t>ог</a:t>
            </a:r>
            <a:r>
              <a:rPr lang="en-US" dirty="0"/>
              <a:t>p</a:t>
            </a:r>
            <a:r>
              <a:rPr lang="ru-RU" dirty="0" err="1" smtClean="0"/>
              <a:t>аммой</a:t>
            </a:r>
            <a:r>
              <a:rPr lang="ru-RU" dirty="0" smtClean="0"/>
              <a:t>, бывают разных типов. 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 err="1" smtClean="0"/>
              <a:t>Выpажения</a:t>
            </a:r>
            <a:r>
              <a:rPr lang="ru-RU" dirty="0" smtClean="0"/>
              <a:t>, </a:t>
            </a:r>
            <a:r>
              <a:rPr lang="ru-RU" dirty="0"/>
              <a:t>состоят из констант, </a:t>
            </a:r>
            <a:r>
              <a:rPr lang="ru-RU" dirty="0" err="1"/>
              <a:t>пеpеменных</a:t>
            </a:r>
            <a:r>
              <a:rPr lang="ru-RU" dirty="0"/>
              <a:t>, указателей функций (</a:t>
            </a:r>
            <a:r>
              <a:rPr lang="ru-RU" dirty="0" err="1"/>
              <a:t>напpимеp</a:t>
            </a:r>
            <a:r>
              <a:rPr lang="ru-RU" dirty="0"/>
              <a:t>, </a:t>
            </a:r>
            <a:r>
              <a:rPr lang="ru-RU" dirty="0" err="1"/>
              <a:t>exp</a:t>
            </a:r>
            <a:r>
              <a:rPr lang="ru-RU" dirty="0"/>
              <a:t>(x)), объединенных знаками </a:t>
            </a:r>
            <a:r>
              <a:rPr lang="ru-RU" dirty="0" err="1"/>
              <a:t>опеpаций</a:t>
            </a:r>
            <a:r>
              <a:rPr lang="ru-RU" dirty="0" smtClean="0"/>
              <a:t>.</a:t>
            </a:r>
            <a:endParaRPr lang="en-US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83" y="2090226"/>
            <a:ext cx="4518839" cy="401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11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5" r="20951"/>
          <a:stretch/>
        </p:blipFill>
        <p:spPr>
          <a:xfrm>
            <a:off x="591277" y="1728007"/>
            <a:ext cx="4626348" cy="419250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054" y="324239"/>
            <a:ext cx="7526649" cy="1325563"/>
          </a:xfrm>
        </p:spPr>
        <p:txBody>
          <a:bodyPr>
            <a:noAutofit/>
          </a:bodyPr>
          <a:lstStyle/>
          <a:p>
            <a:r>
              <a:rPr lang="ru-RU" b="1" dirty="0">
                <a:solidFill>
                  <a:srgbClr val="2A017B"/>
                </a:solidFill>
              </a:rPr>
              <a:t>Почему </a:t>
            </a:r>
            <a:r>
              <a:rPr lang="ru-RU" b="1" dirty="0" smtClean="0">
                <a:solidFill>
                  <a:srgbClr val="2A017B"/>
                </a:solidFill>
              </a:rPr>
              <a:t>мы учим </a:t>
            </a:r>
            <a:r>
              <a:rPr lang="ru-RU" b="1" dirty="0" err="1" smtClean="0">
                <a:solidFill>
                  <a:srgbClr val="2A017B"/>
                </a:solidFill>
              </a:rPr>
              <a:t>Python</a:t>
            </a:r>
            <a:r>
              <a:rPr lang="ru-RU" b="1" dirty="0">
                <a:solidFill>
                  <a:srgbClr val="2A017B"/>
                </a:solidFill>
              </a:rPr>
              <a:t>?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11" name="TextBox 10"/>
          <p:cNvSpPr txBox="1"/>
          <p:nvPr/>
        </p:nvSpPr>
        <p:spPr>
          <a:xfrm>
            <a:off x="5624946" y="1575200"/>
            <a:ext cx="54309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Читаемый синтаксис:</a:t>
            </a:r>
            <a:r>
              <a:rPr lang="ru-RU" dirty="0"/>
              <a:t> Код похож на псевдокод. Минимум лишних символов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b="1" dirty="0"/>
              <a:t>Низкий порог входа:</a:t>
            </a:r>
            <a:r>
              <a:rPr lang="ru-RU" dirty="0"/>
              <a:t> Можно быстро начать и получить первый результат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b="1" dirty="0"/>
              <a:t>Огромная стандартная библиотека и сообщество:</a:t>
            </a:r>
            <a:r>
              <a:rPr lang="ru-RU" dirty="0"/>
              <a:t> </a:t>
            </a:r>
          </a:p>
          <a:p>
            <a:r>
              <a:rPr lang="ru-RU" dirty="0" smtClean="0"/>
              <a:t>Для </a:t>
            </a:r>
            <a:r>
              <a:rPr lang="ru-RU" dirty="0"/>
              <a:t>большинства задач уже есть готовые решения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b="1" dirty="0" smtClean="0"/>
              <a:t>Универсальность: </a:t>
            </a:r>
            <a:r>
              <a:rPr lang="ru-RU" dirty="0" smtClean="0"/>
              <a:t>подходит и для анализа пространственных данных</a:t>
            </a:r>
            <a:r>
              <a:rPr lang="en-US" dirty="0"/>
              <a:t>,</a:t>
            </a:r>
            <a:r>
              <a:rPr lang="ru-RU" dirty="0" smtClean="0"/>
              <a:t> и для разработки программных модулей</a:t>
            </a:r>
            <a:r>
              <a:rPr lang="en-US" dirty="0" smtClean="0"/>
              <a:t>,</a:t>
            </a:r>
            <a:r>
              <a:rPr lang="ru-RU" dirty="0" smtClean="0"/>
              <a:t> и для </a:t>
            </a:r>
            <a:r>
              <a:rPr lang="en-US" dirty="0" smtClean="0"/>
              <a:t>AI. </a:t>
            </a:r>
            <a:endParaRPr lang="ru-RU" dirty="0"/>
          </a:p>
          <a:p>
            <a:r>
              <a:rPr lang="ru-RU" dirty="0" smtClean="0"/>
              <a:t>	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717310" y="5177829"/>
            <a:ext cx="2623126" cy="1313978"/>
          </a:xfrm>
          <a:prstGeom prst="roundRect">
            <a:avLst/>
          </a:prstGeom>
          <a:solidFill>
            <a:srgbClr val="036A9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ВОПРОС!</a:t>
            </a:r>
          </a:p>
          <a:p>
            <a:r>
              <a:rPr lang="ru-RU" dirty="0">
                <a:latin typeface="Golos Text" panose="020B0503020202020204" pitchFamily="34" charset="0"/>
                <a:ea typeface="Golos Text" panose="020B0503020202020204" pitchFamily="34" charset="0"/>
              </a:rPr>
              <a:t>А какой язык 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/>
            </a:r>
            <a:b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</a:b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самый </a:t>
            </a:r>
            <a:r>
              <a:rPr lang="ru-RU" dirty="0">
                <a:latin typeface="Golos Text" panose="020B0503020202020204" pitchFamily="34" charset="0"/>
                <a:ea typeface="Golos Text" panose="020B0503020202020204" pitchFamily="34" charset="0"/>
              </a:rPr>
              <a:t>лучший?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806" y="4835501"/>
            <a:ext cx="2167514" cy="160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137</Words>
  <Application>Microsoft Office PowerPoint</Application>
  <PresentationFormat>Широкоэкранный</PresentationFormat>
  <Paragraphs>50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Golos Text</vt:lpstr>
      <vt:lpstr>Тема Office</vt:lpstr>
      <vt:lpstr>Два слова о программировании</vt:lpstr>
      <vt:lpstr>Что такое язык программирования?</vt:lpstr>
      <vt:lpstr>Два основных способа выполнения кода</vt:lpstr>
      <vt:lpstr>Почему языков так много?</vt:lpstr>
      <vt:lpstr>Основные понятия языка программирования</vt:lpstr>
      <vt:lpstr>Почему мы учим Python?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и информационные процессы</dc:title>
  <dc:creator>Dmitriy</dc:creator>
  <cp:lastModifiedBy>Dmitriy</cp:lastModifiedBy>
  <cp:revision>17</cp:revision>
  <dcterms:created xsi:type="dcterms:W3CDTF">2025-09-04T18:56:29Z</dcterms:created>
  <dcterms:modified xsi:type="dcterms:W3CDTF">2025-09-14T13:07:12Z</dcterms:modified>
</cp:coreProperties>
</file>