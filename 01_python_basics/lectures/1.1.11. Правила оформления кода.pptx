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9" r:id="rId3"/>
    <p:sldId id="257" r:id="rId4"/>
    <p:sldId id="260" r:id="rId5"/>
    <p:sldId id="261" r:id="rId6"/>
    <p:sldId id="262" r:id="rId7"/>
    <p:sldId id="263" r:id="rId8"/>
    <p:sldId id="265" r:id="rId9"/>
    <p:sldId id="264" r:id="rId10"/>
    <p:sldId id="258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A017B"/>
    <a:srgbClr val="036A90"/>
    <a:srgbClr val="0601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17" autoAdjust="0"/>
  </p:normalViewPr>
  <p:slideViewPr>
    <p:cSldViewPr snapToGrid="0">
      <p:cViewPr varScale="1">
        <p:scale>
          <a:sx n="83" d="100"/>
          <a:sy n="83" d="100"/>
        </p:scale>
        <p:origin x="68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5FFEA8-ACCC-4CA9-B797-F0426E0EA8ED}" type="datetimeFigureOut">
              <a:rPr lang="ru-RU" smtClean="0"/>
              <a:t>14.09.2025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91D387-7EC7-402F-9543-B97E105A5F5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0023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A74D-00E2-4053-844B-0BA1E7F43998}" type="datetimeFigureOut">
              <a:rPr lang="ru-RU" smtClean="0"/>
              <a:t>14.09.2025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C5EA1-3743-4E2A-B765-A6D62A8FE1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80633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A74D-00E2-4053-844B-0BA1E7F43998}" type="datetimeFigureOut">
              <a:rPr lang="ru-RU" smtClean="0"/>
              <a:t>14.09.2025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C5EA1-3743-4E2A-B765-A6D62A8FE1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50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A74D-00E2-4053-844B-0BA1E7F43998}" type="datetimeFigureOut">
              <a:rPr lang="ru-RU" smtClean="0"/>
              <a:t>14.09.2025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C5EA1-3743-4E2A-B765-A6D62A8FE1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95543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A74D-00E2-4053-844B-0BA1E7F43998}" type="datetimeFigureOut">
              <a:rPr lang="ru-RU" smtClean="0"/>
              <a:t>14.09.2025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C5EA1-3743-4E2A-B765-A6D62A8FE1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4649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A74D-00E2-4053-844B-0BA1E7F43998}" type="datetimeFigureOut">
              <a:rPr lang="ru-RU" smtClean="0"/>
              <a:t>14.09.2025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C5EA1-3743-4E2A-B765-A6D62A8FE1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6983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A74D-00E2-4053-844B-0BA1E7F43998}" type="datetimeFigureOut">
              <a:rPr lang="ru-RU" smtClean="0"/>
              <a:t>14.09.2025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C5EA1-3743-4E2A-B765-A6D62A8FE1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4461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A74D-00E2-4053-844B-0BA1E7F43998}" type="datetimeFigureOut">
              <a:rPr lang="ru-RU" smtClean="0"/>
              <a:t>14.09.2025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C5EA1-3743-4E2A-B765-A6D62A8FE1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2026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A74D-00E2-4053-844B-0BA1E7F43998}" type="datetimeFigureOut">
              <a:rPr lang="ru-RU" smtClean="0"/>
              <a:t>14.09.2025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C5EA1-3743-4E2A-B765-A6D62A8FE1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98038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A74D-00E2-4053-844B-0BA1E7F43998}" type="datetimeFigureOut">
              <a:rPr lang="ru-RU" smtClean="0"/>
              <a:t>14.09.2025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C5EA1-3743-4E2A-B765-A6D62A8FE1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9091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A74D-00E2-4053-844B-0BA1E7F43998}" type="datetimeFigureOut">
              <a:rPr lang="ru-RU" smtClean="0"/>
              <a:t>14.09.2025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C5EA1-3743-4E2A-B765-A6D62A8FE1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4208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A74D-00E2-4053-844B-0BA1E7F43998}" type="datetimeFigureOut">
              <a:rPr lang="ru-RU" smtClean="0"/>
              <a:t>14.09.2025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C5EA1-3743-4E2A-B765-A6D62A8FE1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4593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46A74D-00E2-4053-844B-0BA1E7F43998}" type="datetimeFigureOut">
              <a:rPr lang="ru-RU" smtClean="0"/>
              <a:t>14.09.2025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CC5EA1-3743-4E2A-B765-A6D62A8FE1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5092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ython.org/dev/peps/pep-0008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33939" y="1678954"/>
            <a:ext cx="9144000" cy="2387600"/>
          </a:xfrm>
        </p:spPr>
        <p:txBody>
          <a:bodyPr>
            <a:noAutofit/>
          </a:bodyPr>
          <a:lstStyle/>
          <a:p>
            <a:r>
              <a:rPr lang="ru-RU" b="1" dirty="0">
                <a:solidFill>
                  <a:schemeClr val="bg1"/>
                </a:solidFill>
                <a:latin typeface="Golos Text" panose="020B0503020202020204" pitchFamily="34" charset="0"/>
                <a:ea typeface="Golos Text" panose="020B0503020202020204" pitchFamily="34" charset="0"/>
              </a:rPr>
              <a:t>Правила </a:t>
            </a:r>
            <a:r>
              <a:rPr lang="ru-RU" b="1" dirty="0" smtClean="0">
                <a:solidFill>
                  <a:schemeClr val="bg1"/>
                </a:solidFill>
                <a:latin typeface="Golos Text" panose="020B0503020202020204" pitchFamily="34" charset="0"/>
                <a:ea typeface="Golos Text" panose="020B0503020202020204" pitchFamily="34" charset="0"/>
              </a:rPr>
              <a:t/>
            </a:r>
            <a:br>
              <a:rPr lang="ru-RU" b="1" dirty="0" smtClean="0">
                <a:solidFill>
                  <a:schemeClr val="bg1"/>
                </a:solidFill>
                <a:latin typeface="Golos Text" panose="020B0503020202020204" pitchFamily="34" charset="0"/>
                <a:ea typeface="Golos Text" panose="020B0503020202020204" pitchFamily="34" charset="0"/>
              </a:rPr>
            </a:br>
            <a:r>
              <a:rPr lang="ru-RU" b="1" dirty="0" smtClean="0">
                <a:solidFill>
                  <a:schemeClr val="bg1"/>
                </a:solidFill>
                <a:latin typeface="Golos Text" panose="020B0503020202020204" pitchFamily="34" charset="0"/>
                <a:ea typeface="Golos Text" panose="020B0503020202020204" pitchFamily="34" charset="0"/>
              </a:rPr>
              <a:t>оформления </a:t>
            </a:r>
            <a:r>
              <a:rPr lang="ru-RU" b="1" dirty="0">
                <a:solidFill>
                  <a:schemeClr val="bg1"/>
                </a:solidFill>
                <a:latin typeface="Golos Text" panose="020B0503020202020204" pitchFamily="34" charset="0"/>
                <a:ea typeface="Golos Text" panose="020B0503020202020204" pitchFamily="34" charset="0"/>
              </a:rPr>
              <a:t>кода</a:t>
            </a:r>
            <a:endParaRPr lang="ru-RU" b="1" dirty="0">
              <a:solidFill>
                <a:schemeClr val="bg1"/>
              </a:solidFill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33939" y="4158629"/>
            <a:ext cx="9144000" cy="1655762"/>
          </a:xfrm>
        </p:spPr>
        <p:txBody>
          <a:bodyPr/>
          <a:lstStyle/>
          <a:p>
            <a:r>
              <a:rPr lang="ru-RU" dirty="0" smtClean="0">
                <a:solidFill>
                  <a:schemeClr val="bg1"/>
                </a:solidFill>
                <a:latin typeface="Golos Text" panose="020B0503020202020204" pitchFamily="34" charset="0"/>
                <a:ea typeface="Golos Text" panose="020B0503020202020204" pitchFamily="34" charset="0"/>
              </a:rPr>
              <a:t>Или как сделать так, чтобы </a:t>
            </a:r>
          </a:p>
          <a:p>
            <a:r>
              <a:rPr lang="ru-RU" dirty="0" smtClean="0">
                <a:solidFill>
                  <a:schemeClr val="bg1"/>
                </a:solidFill>
                <a:latin typeface="Golos Text" panose="020B0503020202020204" pitchFamily="34" charset="0"/>
                <a:ea typeface="Golos Text" panose="020B0503020202020204" pitchFamily="34" charset="0"/>
              </a:rPr>
              <a:t>другие разработчики вас понимали</a:t>
            </a:r>
            <a:endParaRPr lang="ru-RU" dirty="0">
              <a:solidFill>
                <a:schemeClr val="bg1"/>
              </a:solidFill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5529" y="241405"/>
            <a:ext cx="2684820" cy="980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815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67200" y="559731"/>
            <a:ext cx="7347737" cy="1325563"/>
          </a:xfrm>
        </p:spPr>
        <p:txBody>
          <a:bodyPr>
            <a:noAutofit/>
          </a:bodyPr>
          <a:lstStyle/>
          <a:p>
            <a:r>
              <a:rPr lang="ru-RU" sz="4800" b="1" dirty="0">
                <a:solidFill>
                  <a:srgbClr val="2A017B"/>
                </a:solidFill>
              </a:rPr>
              <a:t>Стиль программирования </a:t>
            </a:r>
            <a:endParaRPr lang="ru-RU" sz="4800" dirty="0">
              <a:solidFill>
                <a:srgbClr val="2A017B"/>
              </a:solidFill>
            </a:endParaRPr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0184" y="324239"/>
            <a:ext cx="2459208" cy="898274"/>
          </a:xfrm>
        </p:spPr>
      </p:pic>
      <p:sp>
        <p:nvSpPr>
          <p:cNvPr id="8" name="TextBox 7"/>
          <p:cNvSpPr txBox="1"/>
          <p:nvPr/>
        </p:nvSpPr>
        <p:spPr>
          <a:xfrm>
            <a:off x="5809672" y="1919206"/>
            <a:ext cx="5892800" cy="44781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b="1" dirty="0">
                <a:latin typeface="Golos Text" panose="020B0503020202020204" pitchFamily="34" charset="0"/>
                <a:ea typeface="Golos Text" panose="020B0503020202020204" pitchFamily="34" charset="0"/>
              </a:rPr>
              <a:t>Стиль </a:t>
            </a:r>
            <a:r>
              <a:rPr lang="ru-RU" b="1" dirty="0" smtClean="0">
                <a:latin typeface="Golos Text" panose="020B0503020202020204" pitchFamily="34" charset="0"/>
                <a:ea typeface="Golos Text" panose="020B0503020202020204" pitchFamily="34" charset="0"/>
              </a:rPr>
              <a:t>программирования</a:t>
            </a:r>
            <a:r>
              <a:rPr lang="ru-RU" dirty="0">
                <a:latin typeface="Golos Text" panose="020B0503020202020204" pitchFamily="34" charset="0"/>
                <a:ea typeface="Golos Text" panose="020B0503020202020204" pitchFamily="34" charset="0"/>
              </a:rPr>
              <a:t> </a:t>
            </a:r>
            <a:r>
              <a:rPr lang="ru-RU" dirty="0" smtClean="0">
                <a:latin typeface="Golos Text" panose="020B0503020202020204" pitchFamily="34" charset="0"/>
                <a:ea typeface="Golos Text" panose="020B0503020202020204" pitchFamily="34" charset="0"/>
              </a:rPr>
              <a:t>-</a:t>
            </a:r>
            <a:r>
              <a:rPr lang="ru-RU" sz="1600" dirty="0" smtClean="0">
                <a:latin typeface="Golos Text" panose="020B0503020202020204" pitchFamily="34" charset="0"/>
                <a:ea typeface="Golos Text" panose="020B0503020202020204" pitchFamily="34" charset="0"/>
              </a:rPr>
              <a:t> </a:t>
            </a:r>
            <a:r>
              <a:rPr lang="ru-RU" sz="1600" dirty="0">
                <a:latin typeface="Golos Text" panose="020B0503020202020204" pitchFamily="34" charset="0"/>
                <a:ea typeface="Golos Text" panose="020B0503020202020204" pitchFamily="34" charset="0"/>
              </a:rPr>
              <a:t>дополнительные ограничения, накладываемые на структуру и вид программного кода группой совместно работающих программистов с целью получения удобных для применения, легко читаемых и эффективных программ</a:t>
            </a:r>
            <a:r>
              <a:rPr lang="ru-RU" sz="1600" dirty="0" smtClean="0">
                <a:latin typeface="Golos Text" panose="020B0503020202020204" pitchFamily="34" charset="0"/>
                <a:ea typeface="Golos Text" panose="020B0503020202020204" pitchFamily="34" charset="0"/>
              </a:rPr>
              <a:t>.</a:t>
            </a:r>
            <a:endParaRPr lang="en-US" sz="1600" dirty="0" smtClean="0">
              <a:latin typeface="Golos Text" panose="020B0503020202020204" pitchFamily="34" charset="0"/>
              <a:ea typeface="Golos Text" panose="020B0503020202020204" pitchFamily="34" charset="0"/>
            </a:endParaRPr>
          </a:p>
          <a:p>
            <a:pPr>
              <a:lnSpc>
                <a:spcPct val="150000"/>
              </a:lnSpc>
            </a:pPr>
            <a:endParaRPr lang="en-US" dirty="0" smtClean="0"/>
          </a:p>
          <a:p>
            <a:pPr>
              <a:lnSpc>
                <a:spcPct val="150000"/>
              </a:lnSpc>
            </a:pPr>
            <a:r>
              <a:rPr lang="ru-RU" dirty="0" smtClean="0"/>
              <a:t>Рекомендации </a:t>
            </a:r>
            <a:r>
              <a:rPr lang="ru-RU" dirty="0"/>
              <a:t>по написанию "правильного" </a:t>
            </a:r>
            <a:r>
              <a:rPr lang="ru-RU" dirty="0" err="1"/>
              <a:t>Py</a:t>
            </a:r>
            <a:r>
              <a:rPr lang="ru-RU" dirty="0"/>
              <a:t>-кода создатели языка изложили в документе</a:t>
            </a:r>
            <a:r>
              <a:rPr lang="ru-RU" dirty="0">
                <a:hlinkClick r:id="rId3"/>
              </a:rPr>
              <a:t> PEP8 - </a:t>
            </a:r>
            <a:r>
              <a:rPr lang="ru-RU" dirty="0" err="1">
                <a:hlinkClick r:id="rId3"/>
              </a:rPr>
              <a:t>Style</a:t>
            </a:r>
            <a:r>
              <a:rPr lang="ru-RU" dirty="0">
                <a:hlinkClick r:id="rId3"/>
              </a:rPr>
              <a:t> </a:t>
            </a:r>
            <a:r>
              <a:rPr lang="ru-RU" dirty="0" err="1">
                <a:hlinkClick r:id="rId3"/>
              </a:rPr>
              <a:t>Guide</a:t>
            </a:r>
            <a:r>
              <a:rPr lang="ru-RU" dirty="0">
                <a:hlinkClick r:id="rId3"/>
              </a:rPr>
              <a:t> </a:t>
            </a:r>
            <a:r>
              <a:rPr lang="ru-RU" dirty="0" err="1">
                <a:hlinkClick r:id="rId3"/>
              </a:rPr>
              <a:t>for</a:t>
            </a:r>
            <a:r>
              <a:rPr lang="ru-RU" dirty="0">
                <a:hlinkClick r:id="rId3"/>
              </a:rPr>
              <a:t> </a:t>
            </a:r>
            <a:r>
              <a:rPr lang="ru-RU" dirty="0" err="1">
                <a:hlinkClick r:id="rId3"/>
              </a:rPr>
              <a:t>Python</a:t>
            </a:r>
            <a:r>
              <a:rPr lang="ru-RU" dirty="0">
                <a:hlinkClick r:id="rId3"/>
              </a:rPr>
              <a:t> </a:t>
            </a:r>
            <a:r>
              <a:rPr lang="ru-RU" dirty="0" err="1">
                <a:hlinkClick r:id="rId3"/>
              </a:rPr>
              <a:t>Code</a:t>
            </a:r>
            <a:r>
              <a:rPr lang="ru-RU" dirty="0" smtClean="0">
                <a:hlinkClick r:id="rId3"/>
              </a:rPr>
              <a:t>*</a:t>
            </a:r>
            <a:r>
              <a:rPr lang="ru-RU" dirty="0" smtClean="0"/>
              <a:t> (</a:t>
            </a:r>
            <a:r>
              <a:rPr lang="ru-RU" dirty="0"/>
              <a:t>Сокращение PEP означает "</a:t>
            </a:r>
            <a:r>
              <a:rPr lang="ru-RU" dirty="0" err="1"/>
              <a:t>Python</a:t>
            </a:r>
            <a:r>
              <a:rPr lang="ru-RU" dirty="0"/>
              <a:t> </a:t>
            </a:r>
            <a:r>
              <a:rPr lang="ru-RU" dirty="0" err="1"/>
              <a:t>Enhancement</a:t>
            </a:r>
            <a:r>
              <a:rPr lang="ru-RU" dirty="0"/>
              <a:t> </a:t>
            </a:r>
            <a:r>
              <a:rPr lang="ru-RU" dirty="0" err="1"/>
              <a:t>Proposal</a:t>
            </a:r>
            <a:r>
              <a:rPr lang="ru-RU" dirty="0"/>
              <a:t>", то есть "Предложение по улучшению </a:t>
            </a:r>
            <a:r>
              <a:rPr lang="ru-RU" dirty="0" err="1"/>
              <a:t>Python</a:t>
            </a:r>
            <a:r>
              <a:rPr lang="ru-RU" dirty="0" smtClean="0"/>
              <a:t>") </a:t>
            </a:r>
            <a:r>
              <a:rPr lang="ru-RU" dirty="0"/>
              <a:t>  </a:t>
            </a:r>
            <a:r>
              <a:rPr lang="ru-RU" sz="1600" dirty="0">
                <a:latin typeface="Golos Text" panose="020B0503020202020204" pitchFamily="34" charset="0"/>
                <a:ea typeface="Golos Text" panose="020B0503020202020204" pitchFamily="34" charset="0"/>
              </a:rPr>
              <a:t> </a:t>
            </a:r>
            <a:r>
              <a:rPr lang="ru-RU" dirty="0" smtClean="0">
                <a:latin typeface="Golos Text" panose="020B0503020202020204" pitchFamily="34" charset="0"/>
                <a:ea typeface="Golos Text" panose="020B0503020202020204" pitchFamily="34" charset="0"/>
              </a:rPr>
              <a:t> </a:t>
            </a:r>
            <a:endParaRPr lang="en-US" dirty="0"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4413" y="1981937"/>
            <a:ext cx="4025659" cy="4415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168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67200" y="559731"/>
            <a:ext cx="7347737" cy="1325563"/>
          </a:xfrm>
        </p:spPr>
        <p:txBody>
          <a:bodyPr>
            <a:noAutofit/>
          </a:bodyPr>
          <a:lstStyle/>
          <a:p>
            <a:r>
              <a:rPr lang="ru-RU" sz="4800" b="1" dirty="0">
                <a:solidFill>
                  <a:srgbClr val="2A017B"/>
                </a:solidFill>
              </a:rPr>
              <a:t>Правила стиля, которые нужны прямо сейчас</a:t>
            </a:r>
            <a:endParaRPr lang="ru-RU" sz="4800" dirty="0">
              <a:solidFill>
                <a:srgbClr val="2A017B"/>
              </a:solidFill>
            </a:endParaRPr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0184" y="324239"/>
            <a:ext cx="2459208" cy="898274"/>
          </a:xfrm>
        </p:spPr>
      </p:pic>
      <p:sp>
        <p:nvSpPr>
          <p:cNvPr id="8" name="TextBox 7"/>
          <p:cNvSpPr txBox="1"/>
          <p:nvPr/>
        </p:nvSpPr>
        <p:spPr>
          <a:xfrm>
            <a:off x="840508" y="2845541"/>
            <a:ext cx="7065819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dirty="0" smtClean="0"/>
              <a:t>Бинарные </a:t>
            </a:r>
            <a:r>
              <a:rPr lang="ru-RU" dirty="0"/>
              <a:t>операторы всегда окружаются одним пробелом с каждой стороны. Под бинарными операторами подразумеваются: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операторы присваивания (=, +=, -=, *= и др</a:t>
            </a:r>
            <a:r>
              <a:rPr lang="ru-RU" dirty="0" smtClean="0"/>
              <a:t>.),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 smtClean="0"/>
              <a:t>операторы </a:t>
            </a:r>
            <a:r>
              <a:rPr lang="ru-RU" dirty="0"/>
              <a:t>сравнения (==, &lt;, &gt;, !=,  &lt;=, &gt;=, </a:t>
            </a:r>
            <a:r>
              <a:rPr lang="ru-RU" dirty="0" err="1"/>
              <a:t>in</a:t>
            </a:r>
            <a:r>
              <a:rPr lang="ru-RU" dirty="0"/>
              <a:t>, </a:t>
            </a:r>
            <a:r>
              <a:rPr lang="ru-RU" dirty="0" err="1"/>
              <a:t>not</a:t>
            </a:r>
            <a:r>
              <a:rPr lang="ru-RU" dirty="0"/>
              <a:t> </a:t>
            </a:r>
            <a:r>
              <a:rPr lang="ru-RU" dirty="0" err="1"/>
              <a:t>in</a:t>
            </a:r>
            <a:r>
              <a:rPr lang="ru-RU" dirty="0"/>
              <a:t>, </a:t>
            </a:r>
            <a:r>
              <a:rPr lang="ru-RU" dirty="0" err="1"/>
              <a:t>is</a:t>
            </a:r>
            <a:r>
              <a:rPr lang="ru-RU" dirty="0"/>
              <a:t>, </a:t>
            </a:r>
            <a:r>
              <a:rPr lang="ru-RU" dirty="0" err="1"/>
              <a:t>is</a:t>
            </a:r>
            <a:r>
              <a:rPr lang="ru-RU" dirty="0"/>
              <a:t> </a:t>
            </a:r>
            <a:r>
              <a:rPr lang="ru-RU" dirty="0" err="1"/>
              <a:t>not</a:t>
            </a:r>
            <a:r>
              <a:rPr lang="ru-RU" dirty="0" smtClean="0"/>
              <a:t>),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 smtClean="0"/>
              <a:t>логические </a:t>
            </a:r>
            <a:r>
              <a:rPr lang="ru-RU" dirty="0"/>
              <a:t>операторы (</a:t>
            </a:r>
            <a:r>
              <a:rPr lang="ru-RU" dirty="0" err="1"/>
              <a:t>and</a:t>
            </a:r>
            <a:r>
              <a:rPr lang="ru-RU" dirty="0"/>
              <a:t>, </a:t>
            </a:r>
            <a:r>
              <a:rPr lang="ru-RU" dirty="0" err="1"/>
              <a:t>or</a:t>
            </a:r>
            <a:r>
              <a:rPr lang="ru-RU" dirty="0"/>
              <a:t>, </a:t>
            </a:r>
            <a:r>
              <a:rPr lang="ru-RU" dirty="0" err="1"/>
              <a:t>not</a:t>
            </a:r>
            <a:r>
              <a:rPr lang="ru-RU" dirty="0" smtClean="0"/>
              <a:t>)</a:t>
            </a:r>
          </a:p>
          <a:p>
            <a:endParaRPr lang="ru-RU" dirty="0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6327" y="2845541"/>
            <a:ext cx="3761818" cy="2026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238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95926" y="559731"/>
            <a:ext cx="7908945" cy="1325563"/>
          </a:xfrm>
        </p:spPr>
        <p:txBody>
          <a:bodyPr>
            <a:noAutofit/>
          </a:bodyPr>
          <a:lstStyle/>
          <a:p>
            <a:r>
              <a:rPr lang="ru-RU" sz="4800" b="1" dirty="0">
                <a:solidFill>
                  <a:srgbClr val="2A017B"/>
                </a:solidFill>
              </a:rPr>
              <a:t>Правила </a:t>
            </a:r>
            <a:r>
              <a:rPr lang="ru-RU" sz="4800" b="1" dirty="0" smtClean="0">
                <a:solidFill>
                  <a:srgbClr val="2A017B"/>
                </a:solidFill>
              </a:rPr>
              <a:t>стиля: арифметические операторы </a:t>
            </a:r>
            <a:endParaRPr lang="ru-RU" sz="4800" dirty="0">
              <a:solidFill>
                <a:srgbClr val="2A017B"/>
              </a:solidFill>
            </a:endParaRPr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0184" y="324239"/>
            <a:ext cx="2459208" cy="898274"/>
          </a:xfrm>
        </p:spPr>
      </p:pic>
      <p:sp>
        <p:nvSpPr>
          <p:cNvPr id="8" name="TextBox 7"/>
          <p:cNvSpPr txBox="1"/>
          <p:nvPr/>
        </p:nvSpPr>
        <p:spPr>
          <a:xfrm>
            <a:off x="895926" y="2346777"/>
            <a:ext cx="5994401" cy="3831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dirty="0"/>
              <a:t> В отношении арифметических операторов (+, -, *, **, %, //) рекомендация более тонкая. </a:t>
            </a:r>
            <a:endParaRPr lang="ru-RU" dirty="0" smtClean="0"/>
          </a:p>
          <a:p>
            <a:pPr>
              <a:lnSpc>
                <a:spcPct val="150000"/>
              </a:lnSpc>
            </a:pPr>
            <a:endParaRPr lang="ru-RU" dirty="0"/>
          </a:p>
          <a:p>
            <a:pPr>
              <a:lnSpc>
                <a:spcPct val="150000"/>
              </a:lnSpc>
            </a:pPr>
            <a:r>
              <a:rPr lang="ru-RU" dirty="0" smtClean="0"/>
              <a:t>Если </a:t>
            </a:r>
            <a:r>
              <a:rPr lang="ru-RU" dirty="0"/>
              <a:t>используются операторы с разными приоритетами, рассмотрите возможность добавления пробелов вокруг операторов с наименьшим </a:t>
            </a:r>
            <a:r>
              <a:rPr lang="ru-RU" dirty="0" smtClean="0"/>
              <a:t>приоритетом. Никогда </a:t>
            </a:r>
            <a:r>
              <a:rPr lang="ru-RU" dirty="0"/>
              <a:t>не используйте больше одного пробела и всегда </a:t>
            </a:r>
            <a:r>
              <a:rPr lang="ru-RU" dirty="0" smtClean="0"/>
              <a:t>ставьте </a:t>
            </a:r>
            <a:r>
              <a:rPr lang="ru-RU" dirty="0"/>
              <a:t>одинаковое количество пробелов с обеих сторон двоичного </a:t>
            </a:r>
            <a:r>
              <a:rPr lang="ru-RU" dirty="0" smtClean="0"/>
              <a:t>оператора</a:t>
            </a:r>
            <a:r>
              <a:rPr lang="ru-RU" dirty="0"/>
              <a:t>.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1229" y="2974107"/>
            <a:ext cx="5190932" cy="2549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287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95926" y="559731"/>
            <a:ext cx="7908945" cy="1325563"/>
          </a:xfrm>
        </p:spPr>
        <p:txBody>
          <a:bodyPr>
            <a:noAutofit/>
          </a:bodyPr>
          <a:lstStyle/>
          <a:p>
            <a:r>
              <a:rPr lang="ru-RU" sz="4800" b="1" dirty="0">
                <a:solidFill>
                  <a:srgbClr val="2A017B"/>
                </a:solidFill>
              </a:rPr>
              <a:t>Правила </a:t>
            </a:r>
            <a:r>
              <a:rPr lang="ru-RU" sz="4800" b="1" dirty="0" smtClean="0">
                <a:solidFill>
                  <a:srgbClr val="2A017B"/>
                </a:solidFill>
              </a:rPr>
              <a:t>стиля: </a:t>
            </a:r>
            <a:br>
              <a:rPr lang="ru-RU" sz="4800" b="1" dirty="0" smtClean="0">
                <a:solidFill>
                  <a:srgbClr val="2A017B"/>
                </a:solidFill>
              </a:rPr>
            </a:br>
            <a:r>
              <a:rPr lang="ru-RU" sz="4800" b="1" dirty="0" err="1" smtClean="0">
                <a:solidFill>
                  <a:srgbClr val="2A017B"/>
                </a:solidFill>
              </a:rPr>
              <a:t>зна</a:t>
            </a:r>
            <a:r>
              <a:rPr lang="ru-RU" sz="4800" b="1" dirty="0" smtClean="0">
                <a:solidFill>
                  <a:srgbClr val="2A017B"/>
                </a:solidFill>
              </a:rPr>
              <a:t>	к «равно»</a:t>
            </a:r>
            <a:endParaRPr lang="ru-RU" sz="4800" dirty="0">
              <a:solidFill>
                <a:srgbClr val="2A017B"/>
              </a:solidFill>
            </a:endParaRPr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0184" y="324239"/>
            <a:ext cx="2459208" cy="898274"/>
          </a:xfrm>
        </p:spPr>
      </p:pic>
      <p:sp>
        <p:nvSpPr>
          <p:cNvPr id="8" name="TextBox 7"/>
          <p:cNvSpPr txBox="1"/>
          <p:nvPr/>
        </p:nvSpPr>
        <p:spPr>
          <a:xfrm>
            <a:off x="988290" y="2356242"/>
            <a:ext cx="507666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dirty="0"/>
              <a:t>Если знак "=" используется для обозначения именованного аргумента или значения по умолчанию (это бывает внутри скобок), то пробелы вокруг него не ставятся. 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6714" y="2356242"/>
            <a:ext cx="4572638" cy="133368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88290" y="4408540"/>
            <a:ext cx="507666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dirty="0" smtClean="0"/>
              <a:t>Перед </a:t>
            </a:r>
            <a:r>
              <a:rPr lang="ru-RU" dirty="0"/>
              <a:t>запятой и двоеточием пробел не ставится, а после ставится (это правило совпадает с правилами набора текста в текстовом редакторе).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5320" y="4487313"/>
            <a:ext cx="4315427" cy="1381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743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95926" y="559731"/>
            <a:ext cx="7908945" cy="1325563"/>
          </a:xfrm>
        </p:spPr>
        <p:txBody>
          <a:bodyPr>
            <a:noAutofit/>
          </a:bodyPr>
          <a:lstStyle/>
          <a:p>
            <a:r>
              <a:rPr lang="ru-RU" sz="4800" b="1" dirty="0">
                <a:solidFill>
                  <a:srgbClr val="2A017B"/>
                </a:solidFill>
              </a:rPr>
              <a:t>Правила </a:t>
            </a:r>
            <a:r>
              <a:rPr lang="ru-RU" sz="4800" b="1" dirty="0" smtClean="0">
                <a:solidFill>
                  <a:srgbClr val="2A017B"/>
                </a:solidFill>
              </a:rPr>
              <a:t>стиля</a:t>
            </a:r>
            <a:r>
              <a:rPr lang="ru-RU" sz="4800" b="1" dirty="0">
                <a:solidFill>
                  <a:srgbClr val="2A017B"/>
                </a:solidFill>
              </a:rPr>
              <a:t>: </a:t>
            </a:r>
            <a:r>
              <a:rPr lang="ru-RU" sz="4800" b="1" dirty="0" smtClean="0">
                <a:solidFill>
                  <a:srgbClr val="2A017B"/>
                </a:solidFill>
              </a:rPr>
              <a:t/>
            </a:r>
            <a:br>
              <a:rPr lang="ru-RU" sz="4800" b="1" dirty="0" smtClean="0">
                <a:solidFill>
                  <a:srgbClr val="2A017B"/>
                </a:solidFill>
              </a:rPr>
            </a:br>
            <a:r>
              <a:rPr lang="ru-RU" sz="4800" b="1" dirty="0" smtClean="0">
                <a:solidFill>
                  <a:srgbClr val="2A017B"/>
                </a:solidFill>
              </a:rPr>
              <a:t>комментарий</a:t>
            </a:r>
            <a:endParaRPr lang="ru-RU" sz="4800" dirty="0">
              <a:solidFill>
                <a:srgbClr val="2A017B"/>
              </a:solidFill>
            </a:endParaRPr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0184" y="324239"/>
            <a:ext cx="2459208" cy="898274"/>
          </a:xfrm>
        </p:spPr>
      </p:pic>
      <p:sp>
        <p:nvSpPr>
          <p:cNvPr id="8" name="TextBox 7"/>
          <p:cNvSpPr txBox="1"/>
          <p:nvPr/>
        </p:nvSpPr>
        <p:spPr>
          <a:xfrm>
            <a:off x="895926" y="2651577"/>
            <a:ext cx="11009747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dirty="0" smtClean="0"/>
              <a:t>Комментарий </a:t>
            </a:r>
            <a:r>
              <a:rPr lang="ru-RU" dirty="0"/>
              <a:t>лучше писать в отдельной строке, он начинается со знака "#"  и пробела. Строка комментария не должна быть длиннее 72-х </a:t>
            </a:r>
            <a:r>
              <a:rPr lang="ru-RU" dirty="0" smtClean="0"/>
              <a:t>символов. Если </a:t>
            </a:r>
            <a:r>
              <a:rPr lang="ru-RU" dirty="0"/>
              <a:t>всё таки нужно использовать комментарий в той же строке, что и инструкция, то он отделяется по </a:t>
            </a:r>
            <a:r>
              <a:rPr lang="ru-RU" dirty="0" smtClean="0"/>
              <a:t>крайней </a:t>
            </a:r>
            <a:r>
              <a:rPr lang="ru-RU" dirty="0"/>
              <a:t>мере двумя пробелами.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563" y="4138491"/>
            <a:ext cx="10190324" cy="1514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260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95926" y="559731"/>
            <a:ext cx="7908945" cy="1325563"/>
          </a:xfrm>
        </p:spPr>
        <p:txBody>
          <a:bodyPr>
            <a:noAutofit/>
          </a:bodyPr>
          <a:lstStyle/>
          <a:p>
            <a:r>
              <a:rPr lang="ru-RU" sz="4800" b="1" dirty="0">
                <a:solidFill>
                  <a:srgbClr val="2A017B"/>
                </a:solidFill>
              </a:rPr>
              <a:t>Правила </a:t>
            </a:r>
            <a:r>
              <a:rPr lang="ru-RU" sz="4800" b="1" dirty="0" smtClean="0">
                <a:solidFill>
                  <a:srgbClr val="2A017B"/>
                </a:solidFill>
              </a:rPr>
              <a:t>стиля</a:t>
            </a:r>
            <a:r>
              <a:rPr lang="ru-RU" sz="4800" b="1" dirty="0">
                <a:solidFill>
                  <a:srgbClr val="2A017B"/>
                </a:solidFill>
              </a:rPr>
              <a:t>: </a:t>
            </a:r>
            <a:r>
              <a:rPr lang="ru-RU" sz="4800" b="1" dirty="0" smtClean="0">
                <a:solidFill>
                  <a:srgbClr val="2A017B"/>
                </a:solidFill>
              </a:rPr>
              <a:t/>
            </a:r>
            <a:br>
              <a:rPr lang="ru-RU" sz="4800" b="1" dirty="0" smtClean="0">
                <a:solidFill>
                  <a:srgbClr val="2A017B"/>
                </a:solidFill>
              </a:rPr>
            </a:br>
            <a:r>
              <a:rPr lang="ru-RU" sz="4800" b="1" dirty="0" smtClean="0">
                <a:solidFill>
                  <a:srgbClr val="2A017B"/>
                </a:solidFill>
              </a:rPr>
              <a:t>отступы решают</a:t>
            </a:r>
            <a:endParaRPr lang="ru-RU" sz="4800" dirty="0">
              <a:solidFill>
                <a:srgbClr val="2A017B"/>
              </a:solidFill>
            </a:endParaRPr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0184" y="324239"/>
            <a:ext cx="2459208" cy="898274"/>
          </a:xfrm>
        </p:spPr>
      </p:pic>
      <p:sp>
        <p:nvSpPr>
          <p:cNvPr id="8" name="TextBox 7"/>
          <p:cNvSpPr txBox="1"/>
          <p:nvPr/>
        </p:nvSpPr>
        <p:spPr>
          <a:xfrm>
            <a:off x="895926" y="2420668"/>
            <a:ext cx="565265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dirty="0" smtClean="0"/>
              <a:t>Рекомендуется </a:t>
            </a:r>
            <a:r>
              <a:rPr lang="ru-RU" dirty="0"/>
              <a:t>использовать отступы в 4 пробела. </a:t>
            </a:r>
            <a:endParaRPr lang="ru-RU" dirty="0" smtClean="0"/>
          </a:p>
          <a:p>
            <a:pPr>
              <a:lnSpc>
                <a:spcPct val="150000"/>
              </a:lnSpc>
            </a:pPr>
            <a:r>
              <a:rPr lang="ru-RU" dirty="0" smtClean="0"/>
              <a:t>В </a:t>
            </a:r>
            <a:r>
              <a:rPr lang="ru-RU" dirty="0" err="1"/>
              <a:t>Python</a:t>
            </a:r>
            <a:r>
              <a:rPr lang="ru-RU" dirty="0"/>
              <a:t> уровень вложенности определяется только отступами, поэтому количество отступов в многострочных конструкциях важно. Нарушение этого правила может привести к сообщению об ошибке при попытке запуска, и это хорошо, хуже, если программа не сообщит об ошибке, а выполнит неверно написанный код. 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0903" y="2752437"/>
            <a:ext cx="4638560" cy="2660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448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95926" y="559731"/>
            <a:ext cx="7908945" cy="1325563"/>
          </a:xfrm>
        </p:spPr>
        <p:txBody>
          <a:bodyPr>
            <a:noAutofit/>
          </a:bodyPr>
          <a:lstStyle/>
          <a:p>
            <a:r>
              <a:rPr lang="ru-RU" sz="4800" b="1" dirty="0">
                <a:solidFill>
                  <a:srgbClr val="2A017B"/>
                </a:solidFill>
              </a:rPr>
              <a:t>Правила </a:t>
            </a:r>
            <a:r>
              <a:rPr lang="ru-RU" sz="4800" b="1" dirty="0" smtClean="0">
                <a:solidFill>
                  <a:srgbClr val="2A017B"/>
                </a:solidFill>
              </a:rPr>
              <a:t>стиля</a:t>
            </a:r>
            <a:r>
              <a:rPr lang="ru-RU" sz="4800" b="1" dirty="0">
                <a:solidFill>
                  <a:srgbClr val="2A017B"/>
                </a:solidFill>
              </a:rPr>
              <a:t>: </a:t>
            </a:r>
            <a:r>
              <a:rPr lang="ru-RU" sz="4800" b="1" dirty="0" smtClean="0">
                <a:solidFill>
                  <a:srgbClr val="2A017B"/>
                </a:solidFill>
              </a:rPr>
              <a:t/>
            </a:r>
            <a:br>
              <a:rPr lang="ru-RU" sz="4800" b="1" dirty="0" smtClean="0">
                <a:solidFill>
                  <a:srgbClr val="2A017B"/>
                </a:solidFill>
              </a:rPr>
            </a:br>
            <a:r>
              <a:rPr lang="ru-RU" sz="4800" b="1" dirty="0" smtClean="0">
                <a:solidFill>
                  <a:srgbClr val="2A017B"/>
                </a:solidFill>
              </a:rPr>
              <a:t>перенос строки</a:t>
            </a:r>
            <a:endParaRPr lang="ru-RU" sz="4800" dirty="0">
              <a:solidFill>
                <a:srgbClr val="2A017B"/>
              </a:solidFill>
            </a:endParaRPr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0184" y="324239"/>
            <a:ext cx="2459208" cy="898274"/>
          </a:xfrm>
        </p:spPr>
      </p:pic>
      <p:sp>
        <p:nvSpPr>
          <p:cNvPr id="8" name="TextBox 7"/>
          <p:cNvSpPr txBox="1"/>
          <p:nvPr/>
        </p:nvSpPr>
        <p:spPr>
          <a:xfrm>
            <a:off x="969817" y="2485323"/>
            <a:ext cx="478443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dirty="0"/>
              <a:t>Длина строки кода не должна превышать 79 символов. Длинные строки следует разбивать. </a:t>
            </a:r>
            <a:r>
              <a:rPr lang="ru-RU" dirty="0" smtClean="0"/>
              <a:t>Разбивать </a:t>
            </a:r>
            <a:r>
              <a:rPr lang="ru-RU" dirty="0"/>
              <a:t>можно неявно,  внутри </a:t>
            </a:r>
            <a:r>
              <a:rPr lang="ru-RU" dirty="0" smtClean="0"/>
              <a:t>скобок или </a:t>
            </a:r>
            <a:r>
              <a:rPr lang="ru-RU" dirty="0"/>
              <a:t>явно, с помощью </a:t>
            </a:r>
            <a:r>
              <a:rPr lang="ru-RU" dirty="0" err="1"/>
              <a:t>Enter</a:t>
            </a:r>
            <a:r>
              <a:rPr lang="ru-RU" dirty="0"/>
              <a:t>. </a:t>
            </a:r>
            <a:endParaRPr lang="ru-RU" dirty="0" smtClean="0"/>
          </a:p>
          <a:p>
            <a:pPr>
              <a:lnSpc>
                <a:spcPct val="150000"/>
              </a:lnSpc>
            </a:pPr>
            <a:endParaRPr lang="ru-RU" dirty="0"/>
          </a:p>
          <a:p>
            <a:pPr>
              <a:lnSpc>
                <a:spcPct val="150000"/>
              </a:lnSpc>
            </a:pPr>
            <a:r>
              <a:rPr lang="ru-RU" dirty="0" smtClean="0"/>
              <a:t>Если </a:t>
            </a:r>
            <a:r>
              <a:rPr lang="ru-RU" dirty="0"/>
              <a:t>смысл оператора при этом становится неочевидным, или такое разбиение невозможно, то используется обратный </a:t>
            </a:r>
            <a:r>
              <a:rPr lang="ru-RU" dirty="0" err="1" smtClean="0"/>
              <a:t>слэш</a:t>
            </a:r>
            <a:r>
              <a:rPr lang="ru-RU" dirty="0" smtClean="0"/>
              <a:t>.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8902" y="2213485"/>
            <a:ext cx="3688589" cy="1750349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6551" y="3963834"/>
            <a:ext cx="5245775" cy="2364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266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95926" y="559731"/>
            <a:ext cx="7908945" cy="1325563"/>
          </a:xfrm>
        </p:spPr>
        <p:txBody>
          <a:bodyPr>
            <a:noAutofit/>
          </a:bodyPr>
          <a:lstStyle/>
          <a:p>
            <a:r>
              <a:rPr lang="ru-RU" sz="4800" b="1" dirty="0">
                <a:solidFill>
                  <a:srgbClr val="2A017B"/>
                </a:solidFill>
              </a:rPr>
              <a:t>Правила </a:t>
            </a:r>
            <a:r>
              <a:rPr lang="ru-RU" sz="4800" b="1" dirty="0" smtClean="0">
                <a:solidFill>
                  <a:srgbClr val="2A017B"/>
                </a:solidFill>
              </a:rPr>
              <a:t>стиля</a:t>
            </a:r>
            <a:r>
              <a:rPr lang="ru-RU" sz="4800" b="1" dirty="0">
                <a:solidFill>
                  <a:srgbClr val="2A017B"/>
                </a:solidFill>
              </a:rPr>
              <a:t>: </a:t>
            </a:r>
            <a:r>
              <a:rPr lang="ru-RU" sz="4800" b="1" dirty="0" smtClean="0">
                <a:solidFill>
                  <a:srgbClr val="2A017B"/>
                </a:solidFill>
              </a:rPr>
              <a:t/>
            </a:r>
            <a:br>
              <a:rPr lang="ru-RU" sz="4800" b="1" dirty="0" smtClean="0">
                <a:solidFill>
                  <a:srgbClr val="2A017B"/>
                </a:solidFill>
              </a:rPr>
            </a:br>
            <a:r>
              <a:rPr lang="ru-RU" sz="4800" b="1" dirty="0" smtClean="0">
                <a:solidFill>
                  <a:srgbClr val="2A017B"/>
                </a:solidFill>
              </a:rPr>
              <a:t>нерекомендуемые символы</a:t>
            </a:r>
            <a:endParaRPr lang="ru-RU" sz="4800" dirty="0">
              <a:solidFill>
                <a:srgbClr val="2A017B"/>
              </a:solidFill>
            </a:endParaRPr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0184" y="324239"/>
            <a:ext cx="2459208" cy="898274"/>
          </a:xfrm>
        </p:spPr>
      </p:pic>
      <p:sp>
        <p:nvSpPr>
          <p:cNvPr id="8" name="TextBox 7"/>
          <p:cNvSpPr txBox="1"/>
          <p:nvPr/>
        </p:nvSpPr>
        <p:spPr>
          <a:xfrm>
            <a:off x="907779" y="2065837"/>
            <a:ext cx="994494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dirty="0"/>
              <a:t>Не рекомендуется использовать символы "l" (строчная буква "эл"), " O " (прописная  буква "</a:t>
            </a:r>
            <a:r>
              <a:rPr lang="ru-RU" dirty="0" err="1"/>
              <a:t>оу</a:t>
            </a:r>
            <a:r>
              <a:rPr lang="ru-RU" dirty="0"/>
              <a:t>"), или "I" (заглавная буква "ай") в качестве </a:t>
            </a:r>
            <a:r>
              <a:rPr lang="ru-RU" dirty="0" err="1" smtClean="0"/>
              <a:t>односимвольных</a:t>
            </a:r>
            <a:r>
              <a:rPr lang="ru-RU" dirty="0" smtClean="0"/>
              <a:t> </a:t>
            </a:r>
            <a:r>
              <a:rPr lang="ru-RU" dirty="0"/>
              <a:t>имён переменных. </a:t>
            </a:r>
            <a:endParaRPr lang="ru-RU" dirty="0" smtClean="0"/>
          </a:p>
          <a:p>
            <a:pPr>
              <a:lnSpc>
                <a:spcPct val="150000"/>
              </a:lnSpc>
            </a:pPr>
            <a:endParaRPr lang="ru-RU" dirty="0"/>
          </a:p>
          <a:p>
            <a:pPr>
              <a:lnSpc>
                <a:spcPct val="150000"/>
              </a:lnSpc>
            </a:pPr>
            <a:r>
              <a:rPr lang="ru-RU" dirty="0"/>
              <a:t>Создатели PEP 8 объясняют это тем, что "в некоторых шрифтах эти символы неотличимы от цифры один и ноль" и предлагают "когда возникает искушение использовать букву "l" (строчная буква "эл"), используйте вместо нее букву "L".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779" y="4651160"/>
            <a:ext cx="5345220" cy="1805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4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60862" y="559731"/>
            <a:ext cx="6635398" cy="1325563"/>
          </a:xfrm>
        </p:spPr>
        <p:txBody>
          <a:bodyPr>
            <a:noAutofit/>
          </a:bodyPr>
          <a:lstStyle/>
          <a:p>
            <a:r>
              <a:rPr lang="ru-RU" b="1" dirty="0" smtClean="0">
                <a:solidFill>
                  <a:srgbClr val="2A017B"/>
                </a:solidFill>
              </a:rPr>
              <a:t>Правила стиля</a:t>
            </a:r>
            <a:r>
              <a:rPr lang="en-US" b="1" dirty="0" smtClean="0">
                <a:solidFill>
                  <a:srgbClr val="2A017B"/>
                </a:solidFill>
              </a:rPr>
              <a:t>:</a:t>
            </a:r>
            <a:br>
              <a:rPr lang="en-US" b="1" dirty="0" smtClean="0">
                <a:solidFill>
                  <a:srgbClr val="2A017B"/>
                </a:solidFill>
              </a:rPr>
            </a:br>
            <a:r>
              <a:rPr lang="ru-RU" b="1" dirty="0" smtClean="0">
                <a:solidFill>
                  <a:srgbClr val="2A017B"/>
                </a:solidFill>
              </a:rPr>
              <a:t>не баг, а </a:t>
            </a:r>
            <a:r>
              <a:rPr lang="ru-RU" b="1" dirty="0" err="1" smtClean="0">
                <a:solidFill>
                  <a:srgbClr val="2A017B"/>
                </a:solidFill>
              </a:rPr>
              <a:t>фича</a:t>
            </a:r>
            <a:endParaRPr lang="ru-RU" sz="4800" dirty="0">
              <a:solidFill>
                <a:srgbClr val="2A017B"/>
              </a:solidFill>
            </a:endParaRPr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0184" y="324239"/>
            <a:ext cx="2459208" cy="898274"/>
          </a:xfrm>
        </p:spPr>
      </p:pic>
      <p:sp>
        <p:nvSpPr>
          <p:cNvPr id="7" name="TextBox 6"/>
          <p:cNvSpPr txBox="1"/>
          <p:nvPr/>
        </p:nvSpPr>
        <p:spPr>
          <a:xfrm>
            <a:off x="960862" y="2895432"/>
            <a:ext cx="5338617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dirty="0"/>
              <a:t>Последней строкой в модуле с программой должна быть пустая строка. Можно просто запомнить: </a:t>
            </a:r>
            <a:endParaRPr lang="ru-RU" dirty="0" smtClean="0"/>
          </a:p>
          <a:p>
            <a:pPr>
              <a:lnSpc>
                <a:spcPct val="150000"/>
              </a:lnSpc>
            </a:pPr>
            <a:r>
              <a:rPr lang="ru-RU" dirty="0" smtClean="0"/>
              <a:t>в </a:t>
            </a:r>
            <a:r>
              <a:rPr lang="ru-RU" dirty="0"/>
              <a:t>текстовых редакторах пустой параграф в конце текста - нарушение правил, а в </a:t>
            </a:r>
            <a:r>
              <a:rPr lang="ru-RU" dirty="0" err="1"/>
              <a:t>Python</a:t>
            </a:r>
            <a:r>
              <a:rPr lang="ru-RU" dirty="0"/>
              <a:t>  пустая строка в конце программы, это правило. </a:t>
            </a:r>
            <a:endParaRPr lang="ru-RU" dirty="0"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  <p:grpSp>
        <p:nvGrpSpPr>
          <p:cNvPr id="3" name="Группа 2"/>
          <p:cNvGrpSpPr/>
          <p:nvPr/>
        </p:nvGrpSpPr>
        <p:grpSpPr>
          <a:xfrm>
            <a:off x="7256770" y="2128299"/>
            <a:ext cx="3452371" cy="3813542"/>
            <a:chOff x="1206951" y="2294553"/>
            <a:chExt cx="3452371" cy="3813542"/>
          </a:xfrm>
        </p:grpSpPr>
        <p:pic>
          <p:nvPicPr>
            <p:cNvPr id="15" name="Рисунок 14"/>
            <p:cNvPicPr>
              <a:picLocks noChangeAspect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8013" b="100000" l="19149" r="79283"/>
                      </a14:imgEffect>
                    </a14:imgLayer>
                  </a14:imgProps>
                </a:ext>
              </a:extLst>
            </a:blip>
            <a:srcRect l="16840" r="19901"/>
            <a:stretch/>
          </p:blipFill>
          <p:spPr>
            <a:xfrm>
              <a:off x="1206951" y="2294553"/>
              <a:ext cx="3452371" cy="3813542"/>
            </a:xfrm>
            <a:prstGeom prst="rect">
              <a:avLst/>
            </a:prstGeom>
          </p:spPr>
        </p:pic>
        <p:sp>
          <p:nvSpPr>
            <p:cNvPr id="16" name="TextBox 15"/>
            <p:cNvSpPr txBox="1"/>
            <p:nvPr/>
          </p:nvSpPr>
          <p:spPr>
            <a:xfrm>
              <a:off x="1739741" y="2646188"/>
              <a:ext cx="253882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b="1" dirty="0">
                  <a:solidFill>
                    <a:srgbClr val="2A017B"/>
                  </a:solidFill>
                </a:rPr>
                <a:t>п</a:t>
              </a:r>
              <a:r>
                <a:rPr lang="ru-RU" sz="2400" b="1" dirty="0" smtClean="0">
                  <a:solidFill>
                    <a:srgbClr val="2A017B"/>
                  </a:solidFill>
                </a:rPr>
                <a:t>росто </a:t>
              </a:r>
              <a:r>
                <a:rPr lang="en-US" sz="2400" b="1" dirty="0" smtClean="0">
                  <a:solidFill>
                    <a:srgbClr val="2A017B"/>
                  </a:solidFill>
                </a:rPr>
                <a:t>fun to remember</a:t>
              </a:r>
              <a:endParaRPr lang="ru-RU" sz="2400" b="1" dirty="0">
                <a:solidFill>
                  <a:srgbClr val="2A017B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83149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372</Words>
  <Application>Microsoft Office PowerPoint</Application>
  <PresentationFormat>Широкоэкранный</PresentationFormat>
  <Paragraphs>36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Golos Text</vt:lpstr>
      <vt:lpstr>Тема Office</vt:lpstr>
      <vt:lpstr>Правила  оформления кода</vt:lpstr>
      <vt:lpstr>Стиль программирования </vt:lpstr>
      <vt:lpstr>Правила стиля, которые нужны прямо сейчас</vt:lpstr>
      <vt:lpstr>Правила стиля: арифметические операторы </vt:lpstr>
      <vt:lpstr>Правила стиля:  зна к «равно»</vt:lpstr>
      <vt:lpstr>Правила стиля:  комментарий</vt:lpstr>
      <vt:lpstr>Правила стиля:  отступы решают</vt:lpstr>
      <vt:lpstr>Правила стиля:  перенос строки</vt:lpstr>
      <vt:lpstr>Правила стиля:  нерекомендуемые символы</vt:lpstr>
      <vt:lpstr>Правила стиля: не баг, а фича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Информация и информационные процессы</dc:title>
  <dc:creator>Dmitriy</dc:creator>
  <cp:lastModifiedBy>Dmitriy</cp:lastModifiedBy>
  <cp:revision>24</cp:revision>
  <dcterms:created xsi:type="dcterms:W3CDTF">2025-09-04T18:56:29Z</dcterms:created>
  <dcterms:modified xsi:type="dcterms:W3CDTF">2025-09-14T13:41:06Z</dcterms:modified>
</cp:coreProperties>
</file>