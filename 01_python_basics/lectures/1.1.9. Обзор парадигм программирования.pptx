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5" r:id="rId4"/>
    <p:sldId id="266" r:id="rId5"/>
    <p:sldId id="268" r:id="rId6"/>
    <p:sldId id="267" r:id="rId7"/>
    <p:sldId id="264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017B"/>
    <a:srgbClr val="036A90"/>
    <a:srgbClr val="0601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74D-00E2-4053-844B-0BA1E7F43998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5EA1-3743-4E2A-B765-A6D62A8FE1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8063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74D-00E2-4053-844B-0BA1E7F43998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5EA1-3743-4E2A-B765-A6D62A8FE1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50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74D-00E2-4053-844B-0BA1E7F43998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5EA1-3743-4E2A-B765-A6D62A8FE1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9554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74D-00E2-4053-844B-0BA1E7F43998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5EA1-3743-4E2A-B765-A6D62A8FE1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4649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74D-00E2-4053-844B-0BA1E7F43998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5EA1-3743-4E2A-B765-A6D62A8FE1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6983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74D-00E2-4053-844B-0BA1E7F43998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5EA1-3743-4E2A-B765-A6D62A8FE1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4461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74D-00E2-4053-844B-0BA1E7F43998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5EA1-3743-4E2A-B765-A6D62A8FE1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2026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74D-00E2-4053-844B-0BA1E7F43998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5EA1-3743-4E2A-B765-A6D62A8FE1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9803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74D-00E2-4053-844B-0BA1E7F43998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5EA1-3743-4E2A-B765-A6D62A8FE1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9091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74D-00E2-4053-844B-0BA1E7F43998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5EA1-3743-4E2A-B765-A6D62A8FE1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4208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74D-00E2-4053-844B-0BA1E7F43998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5EA1-3743-4E2A-B765-A6D62A8FE1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4593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46A74D-00E2-4053-844B-0BA1E7F43998}" type="datetimeFigureOut">
              <a:rPr lang="ru-RU" smtClean="0"/>
              <a:t>15.09.2025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CC5EA1-3743-4E2A-B765-A6D62A8FE1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5092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678954"/>
            <a:ext cx="9144000" cy="2387600"/>
          </a:xfrm>
        </p:spPr>
        <p:txBody>
          <a:bodyPr>
            <a:no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Golos Text" panose="020B0503020202020204" pitchFamily="34" charset="0"/>
                <a:ea typeface="Golos Text" panose="020B0503020202020204" pitchFamily="34" charset="0"/>
              </a:rPr>
              <a:t>Обзор парадигм программирования в </a:t>
            </a:r>
            <a:r>
              <a:rPr lang="ru-RU" b="1" dirty="0" err="1">
                <a:solidFill>
                  <a:schemeClr val="bg1"/>
                </a:solidFill>
                <a:latin typeface="Golos Text" panose="020B0503020202020204" pitchFamily="34" charset="0"/>
                <a:ea typeface="Golos Text" panose="020B0503020202020204" pitchFamily="34" charset="0"/>
              </a:rPr>
              <a:t>Python</a:t>
            </a:r>
            <a:endParaRPr lang="ru-RU" b="1" dirty="0">
              <a:solidFill>
                <a:schemeClr val="bg1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5529" y="241405"/>
            <a:ext cx="2684820" cy="980683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FB99A32-B210-4CD8-AD6C-EB89632A3F30}"/>
              </a:ext>
            </a:extLst>
          </p:cNvPr>
          <p:cNvSpPr/>
          <p:nvPr/>
        </p:nvSpPr>
        <p:spPr>
          <a:xfrm>
            <a:off x="2808515" y="4107921"/>
            <a:ext cx="6574970" cy="83099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400" dirty="0">
                <a:ln w="0"/>
                <a:solidFill>
                  <a:schemeClr val="bg1"/>
                </a:solidFill>
                <a:latin typeface="Golos Text" panose="020B0503020202020204" pitchFamily="34" charset="0"/>
                <a:ea typeface="Golos Text" panose="020B0503020202020204" pitchFamily="34" charset="0"/>
                <a:cs typeface="Arial" panose="020B0604020202020204" pitchFamily="34" charset="0"/>
              </a:rPr>
              <a:t>Императивный, ООП, Функциональный — один язык, много подходов</a:t>
            </a:r>
            <a:endParaRPr lang="en-US" sz="2400" dirty="0">
              <a:ln w="0"/>
              <a:solidFill>
                <a:schemeClr val="bg1"/>
              </a:solidFill>
              <a:latin typeface="Golos Text" panose="020B0503020202020204" pitchFamily="34" charset="0"/>
              <a:ea typeface="Golos Text" panose="020B0503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4815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Объект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0184" y="324239"/>
            <a:ext cx="2459208" cy="898274"/>
          </a:xfrm>
          <a:prstGeom prst="rect">
            <a:avLst/>
          </a:prstGeom>
        </p:spPr>
      </p:pic>
      <p:sp>
        <p:nvSpPr>
          <p:cNvPr id="11" name="Заголовок 1"/>
          <p:cNvSpPr txBox="1">
            <a:spLocks/>
          </p:cNvSpPr>
          <p:nvPr/>
        </p:nvSpPr>
        <p:spPr>
          <a:xfrm>
            <a:off x="890671" y="559731"/>
            <a:ext cx="7347737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800" b="1" dirty="0">
                <a:solidFill>
                  <a:srgbClr val="2A017B"/>
                </a:solidFill>
              </a:rPr>
              <a:t>Что такое парадигма программирования?</a:t>
            </a:r>
            <a:endParaRPr lang="ru-RU" sz="4800" dirty="0">
              <a:solidFill>
                <a:srgbClr val="2A017B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270901" y="2386149"/>
            <a:ext cx="397110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Парадигма</a:t>
            </a:r>
            <a:r>
              <a:rPr lang="ru-RU" dirty="0"/>
              <a:t> — это совокупность идей, концепций и принципов, которые определяют стиль написания программ и структурирования кода</a:t>
            </a:r>
            <a:r>
              <a:rPr lang="ru-RU" dirty="0" smtClean="0"/>
              <a:t>.</a:t>
            </a:r>
          </a:p>
          <a:p>
            <a:r>
              <a:rPr lang="ru-RU" dirty="0" smtClean="0"/>
              <a:t> </a:t>
            </a:r>
            <a:endParaRPr lang="ru-RU" sz="2000" dirty="0"/>
          </a:p>
        </p:txBody>
      </p:sp>
      <p:sp>
        <p:nvSpPr>
          <p:cNvPr id="7" name="Прямоугольник: скругленные углы 7">
            <a:extLst>
              <a:ext uri="{FF2B5EF4-FFF2-40B4-BE49-F238E27FC236}">
                <a16:creationId xmlns:a16="http://schemas.microsoft.com/office/drawing/2014/main" id="{1079268A-5E98-4DF3-8F65-D0E675B0C961}"/>
              </a:ext>
            </a:extLst>
          </p:cNvPr>
          <p:cNvSpPr/>
          <p:nvPr/>
        </p:nvSpPr>
        <p:spPr>
          <a:xfrm>
            <a:off x="7270901" y="3863477"/>
            <a:ext cx="4258491" cy="2132026"/>
          </a:xfrm>
          <a:prstGeom prst="roundRect">
            <a:avLst/>
          </a:prstGeom>
          <a:solidFill>
            <a:srgbClr val="036A9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000" b="1" dirty="0"/>
              <a:t>Ключевая </a:t>
            </a:r>
            <a:r>
              <a:rPr lang="ru-RU" sz="2000" b="1" dirty="0" smtClean="0"/>
              <a:t>мысль</a:t>
            </a:r>
          </a:p>
          <a:p>
            <a:r>
              <a:rPr lang="ru-RU" dirty="0" err="1"/>
              <a:t>Python</a:t>
            </a:r>
            <a:r>
              <a:rPr lang="ru-RU" dirty="0"/>
              <a:t> — </a:t>
            </a:r>
            <a:r>
              <a:rPr lang="ru-RU" b="1" dirty="0" err="1"/>
              <a:t>многопарадигменный</a:t>
            </a:r>
            <a:r>
              <a:rPr lang="ru-RU" b="1" dirty="0"/>
              <a:t> язык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Он </a:t>
            </a:r>
            <a:r>
              <a:rPr lang="ru-RU" dirty="0"/>
              <a:t>не заставляет использовать одну парадигму, а позволяет выбирать лучший инструмент для конкретной задачи.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671" y="2551610"/>
            <a:ext cx="5930916" cy="3310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624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Объект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0184" y="324239"/>
            <a:ext cx="2459208" cy="898274"/>
          </a:xfrm>
          <a:prstGeom prst="rect">
            <a:avLst/>
          </a:prstGeom>
        </p:spPr>
      </p:pic>
      <p:sp>
        <p:nvSpPr>
          <p:cNvPr id="11" name="Заголовок 1"/>
          <p:cNvSpPr txBox="1">
            <a:spLocks/>
          </p:cNvSpPr>
          <p:nvPr/>
        </p:nvSpPr>
        <p:spPr>
          <a:xfrm>
            <a:off x="890671" y="559732"/>
            <a:ext cx="5196620" cy="154774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800" b="1" dirty="0">
                <a:solidFill>
                  <a:srgbClr val="2A017B"/>
                </a:solidFill>
              </a:rPr>
              <a:t>Императивное программирование </a:t>
            </a:r>
            <a:endParaRPr lang="ru-RU" sz="4800" dirty="0">
              <a:solidFill>
                <a:srgbClr val="2A017B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88241" y="2647404"/>
            <a:ext cx="496388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Основная идея</a:t>
            </a:r>
            <a:r>
              <a:rPr lang="ru-RU" dirty="0"/>
              <a:t> </a:t>
            </a:r>
          </a:p>
          <a:p>
            <a:r>
              <a:rPr lang="ru-RU" dirty="0"/>
              <a:t>Программа — это последовательность команд (инструкций), которые изменяют состояние программы. Мы говорим компьютеру как именно делать шаг за шагом.</a:t>
            </a:r>
          </a:p>
          <a:p>
            <a:endParaRPr lang="en-US" dirty="0"/>
          </a:p>
          <a:p>
            <a:r>
              <a:rPr lang="ru-RU" dirty="0"/>
              <a:t>Что используем в </a:t>
            </a:r>
            <a:r>
              <a:rPr lang="ru-RU" dirty="0" err="1"/>
              <a:t>Python</a:t>
            </a:r>
            <a:r>
              <a:rPr lang="ru-RU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Присваивание переменных: </a:t>
            </a:r>
            <a:r>
              <a:rPr lang="ru-RU" i="1" dirty="0"/>
              <a:t>x = 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Операторы ветвления: </a:t>
            </a:r>
            <a:r>
              <a:rPr lang="ru-RU" i="1" dirty="0" err="1"/>
              <a:t>if</a:t>
            </a:r>
            <a:r>
              <a:rPr lang="ru-RU" i="1" dirty="0"/>
              <a:t>...</a:t>
            </a:r>
            <a:r>
              <a:rPr lang="ru-RU" i="1" dirty="0" err="1"/>
              <a:t>else</a:t>
            </a:r>
            <a:endParaRPr lang="ru-RU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Циклы: </a:t>
            </a:r>
            <a:r>
              <a:rPr lang="ru-RU" i="1" dirty="0" err="1"/>
              <a:t>for</a:t>
            </a:r>
            <a:r>
              <a:rPr lang="ru-RU" i="1" dirty="0"/>
              <a:t>, </a:t>
            </a:r>
            <a:r>
              <a:rPr lang="ru-RU" i="1" dirty="0" err="1"/>
              <a:t>while</a:t>
            </a:r>
            <a:endParaRPr lang="ru-RU" i="1" dirty="0"/>
          </a:p>
          <a:p>
            <a:endParaRPr lang="ru-RU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3"/>
          <a:srcRect r="1381"/>
          <a:stretch/>
        </p:blipFill>
        <p:spPr>
          <a:xfrm>
            <a:off x="1033557" y="2179670"/>
            <a:ext cx="4975357" cy="4144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082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Объект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0184" y="324239"/>
            <a:ext cx="2459208" cy="898274"/>
          </a:xfrm>
          <a:prstGeom prst="rect">
            <a:avLst/>
          </a:prstGeom>
        </p:spPr>
      </p:pic>
      <p:sp>
        <p:nvSpPr>
          <p:cNvPr id="11" name="Заголовок 1"/>
          <p:cNvSpPr txBox="1">
            <a:spLocks/>
          </p:cNvSpPr>
          <p:nvPr/>
        </p:nvSpPr>
        <p:spPr>
          <a:xfrm>
            <a:off x="890671" y="559732"/>
            <a:ext cx="7347737" cy="133771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800" b="1" dirty="0">
                <a:solidFill>
                  <a:srgbClr val="2A017B"/>
                </a:solidFill>
              </a:rPr>
              <a:t>Функциональное программирование </a:t>
            </a:r>
            <a:endParaRPr lang="ru-RU" sz="4800" dirty="0">
              <a:solidFill>
                <a:srgbClr val="2A017B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75863" y="2230103"/>
            <a:ext cx="443266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Основная </a:t>
            </a:r>
            <a:r>
              <a:rPr lang="ru-RU" b="1" dirty="0" smtClean="0"/>
              <a:t>идея</a:t>
            </a:r>
            <a:endParaRPr lang="en-US" b="1" dirty="0" smtClean="0"/>
          </a:p>
          <a:p>
            <a:r>
              <a:rPr lang="ru-RU" dirty="0" smtClean="0"/>
              <a:t>Программа </a:t>
            </a:r>
            <a:r>
              <a:rPr lang="ru-RU" dirty="0"/>
              <a:t>— это вычисление результатов </a:t>
            </a:r>
            <a:r>
              <a:rPr lang="ru-RU" b="1" dirty="0"/>
              <a:t>функций</a:t>
            </a:r>
            <a:r>
              <a:rPr lang="ru-RU" dirty="0"/>
              <a:t>, а не изменение состояний. Мы описываем </a:t>
            </a:r>
            <a:r>
              <a:rPr lang="ru-RU" b="1" dirty="0"/>
              <a:t>ЧТО</a:t>
            </a:r>
            <a:r>
              <a:rPr lang="ru-RU" dirty="0"/>
              <a:t> мы хотим получить, а не как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6" name="Прямоугольник: скругленные углы 7">
            <a:extLst>
              <a:ext uri="{FF2B5EF4-FFF2-40B4-BE49-F238E27FC236}">
                <a16:creationId xmlns:a16="http://schemas.microsoft.com/office/drawing/2014/main" id="{1079268A-5E98-4DF3-8F65-D0E675B0C961}"/>
              </a:ext>
            </a:extLst>
          </p:cNvPr>
          <p:cNvSpPr/>
          <p:nvPr/>
        </p:nvSpPr>
        <p:spPr>
          <a:xfrm>
            <a:off x="7175863" y="3863496"/>
            <a:ext cx="4214192" cy="1802786"/>
          </a:xfrm>
          <a:prstGeom prst="roundRect">
            <a:avLst/>
          </a:prstGeom>
          <a:solidFill>
            <a:srgbClr val="036A9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00" b="1" dirty="0" smtClean="0"/>
              <a:t>Важно!</a:t>
            </a:r>
            <a:r>
              <a:rPr lang="ru-RU" dirty="0" smtClean="0"/>
              <a:t> </a:t>
            </a:r>
          </a:p>
          <a:p>
            <a:r>
              <a:rPr lang="ru-RU" dirty="0" err="1" smtClean="0"/>
              <a:t>Python</a:t>
            </a:r>
            <a:r>
              <a:rPr lang="ru-RU" dirty="0" smtClean="0"/>
              <a:t> </a:t>
            </a:r>
            <a:r>
              <a:rPr lang="ru-RU" dirty="0"/>
              <a:t>не является чисто функциональным языком, но он предоставляет инструменты для использования этого стиля</a:t>
            </a:r>
            <a:r>
              <a:rPr lang="ru-RU" dirty="0" smtClean="0"/>
              <a:t>.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13" y="2325897"/>
            <a:ext cx="5949395" cy="3454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144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Объект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0184" y="324239"/>
            <a:ext cx="2459208" cy="898274"/>
          </a:xfrm>
          <a:prstGeom prst="rect">
            <a:avLst/>
          </a:prstGeom>
        </p:spPr>
      </p:pic>
      <p:sp>
        <p:nvSpPr>
          <p:cNvPr id="11" name="Заголовок 1"/>
          <p:cNvSpPr txBox="1">
            <a:spLocks/>
          </p:cNvSpPr>
          <p:nvPr/>
        </p:nvSpPr>
        <p:spPr>
          <a:xfrm>
            <a:off x="357051" y="553657"/>
            <a:ext cx="7347737" cy="133771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800" b="1" dirty="0" smtClean="0">
                <a:solidFill>
                  <a:srgbClr val="2A017B"/>
                </a:solidFill>
                <a:ea typeface="Golos Text" panose="020B0503020202020204" pitchFamily="34" charset="0"/>
              </a:rPr>
              <a:t>Объектно-ориентированное </a:t>
            </a:r>
            <a:r>
              <a:rPr lang="ru-RU" sz="4800" b="1" dirty="0">
                <a:solidFill>
                  <a:srgbClr val="2A017B"/>
                </a:solidFill>
                <a:ea typeface="Golos Text" panose="020B0503020202020204" pitchFamily="34" charset="0"/>
              </a:rPr>
              <a:t>программирование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4903" y="2116182"/>
            <a:ext cx="489421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Основная </a:t>
            </a:r>
            <a:r>
              <a:rPr lang="ru-RU" b="1" dirty="0" smtClean="0"/>
              <a:t>идея</a:t>
            </a:r>
            <a:endParaRPr lang="en-US" b="1" dirty="0" smtClean="0"/>
          </a:p>
          <a:p>
            <a:r>
              <a:rPr lang="ru-RU" dirty="0"/>
              <a:t>Программа — это набор взаимодействующих объектов. Каждый объект — экземпляр класса, который описывает его </a:t>
            </a:r>
            <a:r>
              <a:rPr lang="ru-RU" dirty="0" smtClean="0"/>
              <a:t>свойства </a:t>
            </a:r>
            <a:r>
              <a:rPr lang="ru-RU" dirty="0"/>
              <a:t>(атрибуты) и поведение (методы).</a:t>
            </a:r>
          </a:p>
          <a:p>
            <a:endParaRPr lang="ru-RU" dirty="0"/>
          </a:p>
          <a:p>
            <a:r>
              <a:rPr lang="ru-RU" dirty="0"/>
              <a:t>Почему это удобно?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Повторное использование кода: Вы можете использовать один класс для создания множества объектов.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Надёжность: Изменения в одном объекте не влияют на другие.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Лёгкость понимания: Код организован в виде объектов и их взаимодействий, что упрощает его чтение и поддержку.</a:t>
            </a:r>
          </a:p>
          <a:p>
            <a:endParaRPr lang="ru-RU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0" r="4218"/>
          <a:stretch/>
        </p:blipFill>
        <p:spPr>
          <a:xfrm>
            <a:off x="357051" y="2116182"/>
            <a:ext cx="6566264" cy="4219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660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Объект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0184" y="324239"/>
            <a:ext cx="2459208" cy="898274"/>
          </a:xfrm>
          <a:prstGeom prst="rect">
            <a:avLst/>
          </a:prstGeom>
        </p:spPr>
      </p:pic>
      <p:sp>
        <p:nvSpPr>
          <p:cNvPr id="11" name="Заголовок 1"/>
          <p:cNvSpPr txBox="1">
            <a:spLocks/>
          </p:cNvSpPr>
          <p:nvPr/>
        </p:nvSpPr>
        <p:spPr>
          <a:xfrm>
            <a:off x="615315" y="553657"/>
            <a:ext cx="7347737" cy="133771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800" b="1" dirty="0">
                <a:solidFill>
                  <a:srgbClr val="2A017B"/>
                </a:solidFill>
              </a:rPr>
              <a:t>Почему </a:t>
            </a:r>
            <a:r>
              <a:rPr lang="en-US" sz="4800" b="1" dirty="0">
                <a:solidFill>
                  <a:srgbClr val="2A017B"/>
                </a:solidFill>
              </a:rPr>
              <a:t>Python </a:t>
            </a:r>
            <a:r>
              <a:rPr lang="ru-RU" sz="4800" b="1" dirty="0" err="1">
                <a:solidFill>
                  <a:srgbClr val="2A017B"/>
                </a:solidFill>
              </a:rPr>
              <a:t>многопарадигменный</a:t>
            </a:r>
            <a:r>
              <a:rPr lang="ru-RU" sz="4800" b="1" dirty="0">
                <a:solidFill>
                  <a:srgbClr val="2A017B"/>
                </a:solidFill>
              </a:rPr>
              <a:t>?</a:t>
            </a:r>
            <a:endParaRPr lang="ru-RU" sz="4800" dirty="0">
              <a:solidFill>
                <a:srgbClr val="2A017B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29396" y="2386942"/>
            <a:ext cx="553814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Выбор инструмента под задачу: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Скрипт для автоматизации? — Императивный стиль.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Сложное приложение с сущностями (игра, CRM)? — ООП.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Обработка данных, математические вычисления? — Элементы ФП</a:t>
            </a:r>
            <a:r>
              <a:rPr lang="ru-RU" dirty="0" smtClean="0"/>
              <a:t>.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r>
              <a:rPr lang="ru-RU" b="1" dirty="0" smtClean="0"/>
              <a:t>Вывод</a:t>
            </a:r>
          </a:p>
          <a:p>
            <a:r>
              <a:rPr lang="ru-RU" dirty="0" smtClean="0"/>
              <a:t>Вы </a:t>
            </a:r>
            <a:r>
              <a:rPr lang="ru-RU" dirty="0"/>
              <a:t>не ограничены одним стилем. Вы можете комбинировать их в рамках одного проекта для достижения лучшего результата: читаемости, производительности и простоты поддержки.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851" y="2386942"/>
            <a:ext cx="4963007" cy="3717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117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0184" y="324239"/>
            <a:ext cx="2459208" cy="898274"/>
          </a:xfrm>
          <a:prstGeom prst="rect">
            <a:avLst/>
          </a:prstGeom>
        </p:spPr>
      </p:pic>
      <p:sp>
        <p:nvSpPr>
          <p:cNvPr id="5" name="Заголовок 1"/>
          <p:cNvSpPr txBox="1">
            <a:spLocks/>
          </p:cNvSpPr>
          <p:nvPr/>
        </p:nvSpPr>
        <p:spPr>
          <a:xfrm>
            <a:off x="1468755" y="621313"/>
            <a:ext cx="1847766" cy="73213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800" b="1" dirty="0" smtClean="0">
                <a:solidFill>
                  <a:srgbClr val="2A017B"/>
                </a:solidFill>
              </a:rPr>
              <a:t>Итоги</a:t>
            </a:r>
            <a:endParaRPr lang="ru-RU" sz="4800" dirty="0">
              <a:solidFill>
                <a:srgbClr val="2A017B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50744" y="1353447"/>
            <a:ext cx="1036543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400" b="1" dirty="0"/>
              <a:t>Императивная парадигма</a:t>
            </a:r>
            <a:r>
              <a:rPr lang="ru-RU" sz="2400" dirty="0"/>
              <a:t>: </a:t>
            </a:r>
            <a:r>
              <a:rPr lang="ru-RU" sz="2400" dirty="0" smtClean="0"/>
              <a:t>программа </a:t>
            </a:r>
            <a:r>
              <a:rPr lang="ru-RU" sz="2400" dirty="0"/>
              <a:t>как последовательность </a:t>
            </a:r>
            <a:r>
              <a:rPr lang="ru-RU" sz="2400" dirty="0" smtClean="0"/>
              <a:t>инструкций.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400" b="1" dirty="0" smtClean="0"/>
              <a:t>Объектно-ориентированная </a:t>
            </a:r>
            <a:r>
              <a:rPr lang="ru-RU" sz="2400" b="1" dirty="0"/>
              <a:t>парадигма</a:t>
            </a:r>
            <a:r>
              <a:rPr lang="ru-RU" sz="2400" dirty="0" smtClean="0"/>
              <a:t>: программа как взаимодействие объектов.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400" b="1" dirty="0" smtClean="0"/>
              <a:t>Функциональная </a:t>
            </a:r>
            <a:r>
              <a:rPr lang="ru-RU" sz="2400" b="1" dirty="0"/>
              <a:t>парадигма</a:t>
            </a:r>
            <a:r>
              <a:rPr lang="ru-RU" sz="2400" dirty="0" smtClean="0"/>
              <a:t>: Программа как поток преобразований данных.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400" dirty="0" err="1" smtClean="0"/>
              <a:t>Python</a:t>
            </a:r>
            <a:r>
              <a:rPr lang="ru-RU" sz="2400" dirty="0" smtClean="0"/>
              <a:t> поддерживает все эти парадигмы, позволяя разработчику выбирать наиболее подходящий и эффективный стиль для решения задачи.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892868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263</Words>
  <Application>Microsoft Office PowerPoint</Application>
  <PresentationFormat>Широкоэкранный</PresentationFormat>
  <Paragraphs>42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Golos Text</vt:lpstr>
      <vt:lpstr>Тема Office</vt:lpstr>
      <vt:lpstr>Обзор парадигм программирования в Python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Информация и информационные процессы</dc:title>
  <dc:creator>Dmitriy</dc:creator>
  <cp:lastModifiedBy>Dmitriy</cp:lastModifiedBy>
  <cp:revision>23</cp:revision>
  <dcterms:created xsi:type="dcterms:W3CDTF">2025-09-04T18:56:29Z</dcterms:created>
  <dcterms:modified xsi:type="dcterms:W3CDTF">2025-09-15T14:34:01Z</dcterms:modified>
</cp:coreProperties>
</file>